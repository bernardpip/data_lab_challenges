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Maritime</c:v>
                </c:pt>
                <c:pt idx="1">
                  <c:v>Kara</c:v>
                </c:pt>
                <c:pt idx="2">
                  <c:v>Plateaux</c:v>
                </c:pt>
                <c:pt idx="3">
                  <c:v>Centrale</c:v>
                </c:pt>
                <c:pt idx="4">
                  <c:v>Savanes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</c:v>
                </c:pt>
                <c:pt idx="1">
                  <c:v>37</c:v>
                </c:pt>
                <c:pt idx="2">
                  <c:v>37</c:v>
                </c:pt>
                <c:pt idx="3">
                  <c:v>20</c:v>
                </c:pt>
                <c:pt idx="4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Openings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Sheet1!$A$2:$A$10</c:f>
              <c:strCache>
                <c:ptCount val="9"/>
                <c:pt idx="0">
                  <c:v>1920s</c:v>
                </c:pt>
                <c:pt idx="1">
                  <c:v>1950s</c:v>
                </c:pt>
                <c:pt idx="2">
                  <c:v>1960s</c:v>
                </c:pt>
                <c:pt idx="3">
                  <c:v>1970s</c:v>
                </c:pt>
                <c:pt idx="4">
                  <c:v>1980s</c:v>
                </c:pt>
                <c:pt idx="5">
                  <c:v>1990s</c:v>
                </c:pt>
                <c:pt idx="6">
                  <c:v>2000s</c:v>
                </c:pt>
                <c:pt idx="7">
                  <c:v>2010s</c:v>
                </c:pt>
                <c:pt idx="8">
                  <c:v>2020s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13</c:v>
                </c:pt>
                <c:pt idx="4">
                  <c:v>7</c:v>
                </c:pt>
                <c:pt idx="5">
                  <c:v>27</c:v>
                </c:pt>
                <c:pt idx="6">
                  <c:v>60</c:v>
                </c:pt>
                <c:pt idx="7">
                  <c:v>92</c:v>
                </c:pt>
                <c:pt idx="8">
                  <c:v>21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 education enrolment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cat>
            <c:numRef>
              <c:f>Sheet1!$A$2:$A$15</c:f>
              <c:numCache>
                <c:formatCode>General</c:formatCode>
                <c:ptCount val="14"/>
                <c:pt idx="0">
                  <c:v>1998</c:v>
                </c:pt>
                <c:pt idx="1">
                  <c:v>2006</c:v>
                </c:pt>
                <c:pt idx="2">
                  <c:v>2007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</c:numCache>
            </c:num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159.3</c:v>
                </c:pt>
                <c:pt idx="2">
                  <c:v>178.7</c:v>
                </c:pt>
                <c:pt idx="3">
                  <c:v>285.9</c:v>
                </c:pt>
                <c:pt idx="4">
                  <c:v>310.3</c:v>
                </c:pt>
                <c:pt idx="5">
                  <c:v>343.5</c:v>
                </c:pt>
                <c:pt idx="6">
                  <c:v>347.6</c:v>
                </c:pt>
                <c:pt idx="7">
                  <c:v>337.5</c:v>
                </c:pt>
                <c:pt idx="8">
                  <c:v>345.9</c:v>
                </c:pt>
                <c:pt idx="9">
                  <c:v>386.2</c:v>
                </c:pt>
                <c:pt idx="10">
                  <c:v>392.4</c:v>
                </c:pt>
                <c:pt idx="11">
                  <c:v>410.4</c:v>
                </c:pt>
                <c:pt idx="12">
                  <c:v>417.5</c:v>
                </c:pt>
                <c:pt idx="13">
                  <c:v>472.1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 spending per student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cat>
            <c:numRef>
              <c:f>Sheet1!$A$2:$A$15</c:f>
              <c:numCache>
                <c:formatCode>General</c:formatCode>
                <c:ptCount val="14"/>
                <c:pt idx="0">
                  <c:v>1998</c:v>
                </c:pt>
                <c:pt idx="1">
                  <c:v>2006</c:v>
                </c:pt>
                <c:pt idx="2">
                  <c:v>2007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100.0</c:v>
                </c:pt>
                <c:pt idx="1">
                  <c:v>48.8</c:v>
                </c:pt>
                <c:pt idx="2">
                  <c:v>28.0</c:v>
                </c:pt>
                <c:pt idx="3">
                  <c:v>25.5</c:v>
                </c:pt>
                <c:pt idx="4">
                  <c:v>31.8</c:v>
                </c:pt>
                <c:pt idx="5">
                  <c:v>35.3</c:v>
                </c:pt>
                <c:pt idx="6">
                  <c:v>39.7</c:v>
                </c:pt>
                <c:pt idx="7">
                  <c:v>32.5</c:v>
                </c:pt>
                <c:pt idx="8">
                  <c:v>29.1</c:v>
                </c:pt>
                <c:pt idx="9">
                  <c:v>27.5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 education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92.2</c:v>
                </c:pt>
                <c:pt idx="1">
                  <c:v>94.0</c:v>
                </c:pt>
                <c:pt idx="2">
                  <c:v>92.3</c:v>
                </c:pt>
                <c:pt idx="3">
                  <c:v>99.0</c:v>
                </c:pt>
                <c:pt idx="4">
                  <c:v>95.8</c:v>
                </c:pt>
                <c:pt idx="5">
                  <c:v>84.4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 sector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86.7</c:v>
                </c:pt>
                <c:pt idx="1">
                  <c:v>87.8</c:v>
                </c:pt>
                <c:pt idx="2">
                  <c:v>103.7</c:v>
                </c:pt>
                <c:pt idx="3">
                  <c:v>101.0</c:v>
                </c:pt>
                <c:pt idx="4">
                  <c:v>96.6</c:v>
                </c:pt>
                <c:pt idx="5">
                  <c:v>90.2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 budget</c:v>
                </c:pt>
              </c:strCache>
            </c:strRef>
          </c:tx>
          <c:spPr>
            <a:ln w="28575">
              <a:solidFill>
                <a:srgbClr val="94A3B8"/>
              </a:solidFill>
            </a:ln>
          </c:spPr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72.8</c:v>
                </c:pt>
                <c:pt idx="1">
                  <c:v>67.7</c:v>
                </c:pt>
                <c:pt idx="2">
                  <c:v>85.4</c:v>
                </c:pt>
                <c:pt idx="3">
                  <c:v>91.1</c:v>
                </c:pt>
                <c:pt idx="4">
                  <c:v>72.3</c:v>
                </c:pt>
                <c:pt idx="5">
                  <c:v>68.9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006A4E"/>
                </a:solidFill>
                <a:latin typeface="Calibri"/>
              </a:rPr>
              <a:t>🇹🇬  REPUBLIC OF TOGO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0F172A"/>
                </a:solidFill>
                <a:latin typeface="Calibri"/>
              </a:rPr>
              <a:t>Skills–jobs alignment in Togo</a:t>
            </a:r>
          </a:p>
          <a:p>
            <a:pPr algn="l">
              <a:spcAft>
                <a:spcPts val="2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Measuring the alignment between training provision, public funding and entry into employment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9 open datasets  ·  256 geolocated technical institutions  ·  series 1971-2025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Data AI Lab  ·  Built by Kokou PIPI  ·  Source: opendata.gouv.tg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1 · Data, cleaning and method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What the corpus contains, what had to be corrected, and what it forbids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question</a:t>
            </a:r>
          </a:p>
          <a:p>
            <a:pPr algn="l">
              <a:spcAft>
                <a:spcPts val="1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Are training provision, the public funding behind it and graduate employment aligned?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material: 9 resources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Technical training — 3 resources, geolocated institution (2025)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Higher education institutions — city × type × status (2018)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Approved and executed budget — national (2013-2018)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Enrolment, spending per student, unemployment — national (1971-2022)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Key higher education indicators — headcount, gender balance, programmes (2014-2019)</a:t>
            </a:r>
          </a:p>
          <a:p>
            <a:pPr algn="l">
              <a:spcAft>
                <a:spcPts val="600"/>
              </a:spcAft>
            </a:pPr>
            <a:r>
              <a:rPr sz="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 decisive asymmetry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Only one source is granular and regional: the census of technical institutions. Everything else is national. That asymmetry bounds what this work can conclude.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cleaning applied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Half the columns of the institutions file were unusable as delivered.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Operating status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Multi-valued field: 12 combinations for 5 real states. Each institution reduced to its most advanced state.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Programme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 case duplicate and a typo (“profesionnelle”) counted as two separate programmes. Merged.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Non-responses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“Nsp”, “N/a”, “Neant” mixed in with genuine categories. Grouped as “Not reported” and KEPT, never deleted.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Year of establishment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Years mixed with free text in the same column. Converted, out-of-range values discarded.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Coordinates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Position stored as text. Extracted into latitude / longitude to make the map possible.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Totals in the higher education file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Aggregate rows contradicting the detail (14 stated against 65 counted). Discarded, totals recomputed.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41732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Three principles of rigour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No fabricated data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Gappy series left un-interpolated; non-responses kept as a category.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No unwarranted crossing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Unemployment exists only at national level: it enters no regional score.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External context kept separate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INSEED and Afrobarometer reference points are flagged and sourced, never mixed into the portal's charts.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What the 9th resource unlocked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Headcount, gender balance, scientific programmes and the student/teacher ratio appeared in none of the first eight resources. All are carried by the ninth: the data existed — it was the inventory that was incomplete.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2 · Finding 1 — provision is extremely concentrated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Distribution of technical training institutions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Concentration in Maritime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60.2 %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58.6 % in 2 prefectures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Institutions in Savanes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the country's least-served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Herfindahl index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0.411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against 0.20 if evenly distributed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417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Gini coefficient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0.483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inequality of the distribution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788920"/>
          <a:ext cx="55778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27889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Reading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The Maritime region concentrates 60.2 % of technical institutions; Savanes has only 8. Provision follows urban demography, not the administrative grid.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What the measure adds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The Herfindahl-Hirschman index is a concentration measure: it tells whether an activity is evenly spread or dominated by a few regions. For 5 regions, a perfectly equal split would give 0.20. We observe 0.411: concentration is therefore twice that of a country spreading its provision uniformly.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And in higher education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78 % of institutions are in Lomé and 92 % of the network is private.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3 · Finding 2 — concentration reproduced itself, decade after decade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Technical institution openings by decade (dated series, 1922-2021)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 recent stock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More than 80 % of the dated stock was created since 1990. The 2010s alone account for 92 openings.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imbalance reproduced itself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The Maritime region captures most openings in every decade. Savanes records none at all in the 2000s. Concentration is therefore not an old legacy in the process of fading: it was renewed throughout the expansion phase.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6A4E"/>
                </a:solidFill>
                <a:latin typeface="Calibri"/>
              </a:rPr>
              <a:t>A recent shift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Over 2020-2021, Maritime accounts for only 8 openings out of 21, against 58 out of 92 in the 2010s. Rebalancing has begun, but it remains fragile and unconsolidated.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4 · Finding 3 — the scissors effect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Access to higher education and public spending per student, indexed to 100 in 1998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Two opposing trajectories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Since 1998, access to higher education has multiplied by 4.7 while spending per student lost 73 % of its relative value.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One axis, no dual scale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Both series are indexed to 100 on the same year: the gap is measurable, not an artefact manufactured by a dual-axis chart.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Calibri"/>
              </a:rPr>
              <a:t>The gap, measured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When access rises by 1 %, spending per student falls by 0.86 %. That near one-for-one ratio corresponds to an overall budget envelope left almost unchanged: each additional student diluted the available means, with no proportional increase in the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5 · Analyses performed and results obtained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Five statistical analyses, what they set out to establish and what they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1 · Trajectory of access to higher education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Is access rising, and how fast?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A4E"/>
                </a:solidFill>
                <a:latin typeface="Calibri"/>
              </a:rPr>
              <a:t>+0.27 point per year over 1971-2020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 steady and pronounced rise, measured over 38 years. This is the most solid analysis in the work: the trend explains 88 % of the observed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2 · Trajectory of means per student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Does public effort per student keep pace with rising numbers?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-10.0 points per year over 1998-2017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Spending per student falls continuously across the whole period. The decline is established and not a statistical-noise effect, even though the series holds only 10 measurements over 20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47872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3 · Link between access and means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By how much do means per student fall as access widens?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Elasticity of -0.86 — near unitary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When access rises by 1 %, spending per student falls by 0.86 %. A value close to −1 corresponds to an unchanged overall envelope: massification was absorbed at near-constant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8988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4 · Degree of territorial concentration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Is provision spread fairly or dominated by one region?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Concentration index: 0.411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The Herfindahl-Hirschman index tells whether an activity is evenly spread or dominated by a few regions. For 5 regions, a perfectly equal split would be 0.20. We observe 0.411, twice as much: concentration is strong. The Gini coefficient (0.48) confirms it across the whole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004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5 · Dating the acceleration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When did massification really begin?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A4E"/>
                </a:solidFill>
                <a:latin typeface="Calibri"/>
              </a:rPr>
              <a:t>Pace multiplied by 6.7 after 2000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Comparing the periods before and after 2000, the pace of progress in access goes from 0.09 to 0.63 point per year. The acceleration is objectified, not an impression from reading a chart.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Access to higher education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6A4E"/>
                </a:solidFill>
                <a:latin typeface="Calibri"/>
              </a:rPr>
              <a:t>Established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38 years 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Means per student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6A4E"/>
                </a:solidFill>
                <a:latin typeface="Calibri"/>
              </a:rPr>
              <a:t>Established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10 measurements over 20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Access / means link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6A4E"/>
                </a:solidFill>
                <a:latin typeface="Calibri"/>
              </a:rPr>
              <a:t>Established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consistent with the two preceding analyses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Acceleration in 2000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6A4E"/>
                </a:solidFill>
                <a:latin typeface="Calibri"/>
              </a:rPr>
              <a:t>Established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the two periods differ clearly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2912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Effect of a funding increase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D03B3B"/>
                </a:solidFill>
                <a:latin typeface="Calibri"/>
              </a:rPr>
              <a:t>Inconclusive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only 5 comparable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 fifth analysis tested whether an abrupt funding increase degrades execution. With only 5 comparable years it is inconclusive: the result is kept and flagged as such, because an inconclusive test is still information — the link remains a management hypothesis, not an established fact.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6 · Finding 4 — the budget is not the obvious culprit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Execution rates compared: higher education, education, national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 quick reading would be wrong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Higher education executes on average 92.9 % of its envelope, against 76.4 % for the state budget. It therefore executes BETTER than the national average: it has no structural disbursement problem.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real warning sign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In 2018 the envelope jumps by 47 % and execution falls to its lowest level, leaving nearly 6 billion FCFA unspent. It is the abrupt increase that was not absorbed.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D03B3B"/>
                </a:solidFill>
                <a:latin typeface="Calibri"/>
              </a:rPr>
              <a:t>Not one franc to the private sector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State subsidy to private higher education institutions is nil across the six documented years, while the private sector carries 92 % of the network. The state has in effect subcontracted massification with nothing in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7 · Finding 5 — why reported unemployment is not enough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What an unemployment rate really measures in an informal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Graduate unemployment (2022)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7.1 %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World Bank / ILO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18-35 year-olds without work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46 %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and actively looking — Afrobarometer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Underemployment rate (2015)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24.9 %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up from 22.8 % in 2011 — INSEED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463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Share of informal employment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~87 %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INSEED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The apparent paradox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Unemployment of 7.1 % would suggest satisfactory outcomes. Three external reference points say otherwise, and the explanation is structural: in an economy nearly 90 % informal, not working is not an affordable option. The labour market therefore adjusts not through reported unemployment but through underemployment and informality.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Consequence for policy steering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The unemployment rate mostly measures who can afford to LOOK for work — not the quality of employment. A training policy must therefore track underemployment, job formality and the job/qualification match: those are the only variables it can actually act on.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No statistical test links access and unemployment on this data (p = 0.77, n = 5): with five common points, power is close to zero. The test concludes nothing — and that is precisely what should be retained.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8 · Recommendations — 26 levers, 5 axes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selection per axis; each lever starts from a quantified finding and points to the view establishing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6A4E"/>
                </a:solidFill>
                <a:latin typeface="Calibri"/>
              </a:rPr>
              <a:t>TERRITORY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Make new openings conditional on a prefecture-coverage criterion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Target Savanes: a full-scale public technical hub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Consolidate the 2020-2021 shift with a multi-year quantified target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Think in travel time (catchment) rather than counts per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5087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FUNDING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Spread funding increases over two financial years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Index spending per student to actual headcount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Settle the stance on the private sector: conditional subsidy or public provision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Publish execution rates by ministry as open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5087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B6834"/>
                </a:solidFill>
                <a:latin typeface="Calibri"/>
              </a:rPr>
              <a:t>QUALITY OF PROVISION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 minimum facilities baseline enforceable at accreditation renewal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Secure land tenure for institutions serving under-covered areas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Extend opening hours in saturated institutions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Require a national occupational framework in declarations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HIGHER EDUCATION NETWORK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University branches attached to existing technical hubs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At least one public higher education institution per region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Publish average tuition fees by type and by city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Open scientific programmes to women: 51.5 % of higher education, 15.6 % of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886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D03B3B"/>
                </a:solidFill>
                <a:latin typeface="Calibri"/>
              </a:rPr>
              <a:t>DATA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Re-publish the 201 already-collected fields of the technical census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 unique, durable institution identifier, shared and published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An employment-outcomes survey by institution, programme and sex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Align collection periods and publish reference 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9 · Conclusion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An answer to the question asked, and the limits of that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Alignment has not been achieved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Territorial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60 % of technical institutions in one region, 78 % of higher education in one city. Concentration reproduced itself in every decade.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Financial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The problem is not an inability to spend — higher education executes better than the state does — but the drop in spending per student, at a near-constant overall envelope.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Employment outcomes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No conclusion is possible. The only indicator is national, with no breakdown by programme or region, and it measures poorly what it claims to measure in an informal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What this work cannot establish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• The employment rate by technical training programme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• Unemployment by region, the only measure able to link local provision to local jobs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• What becomes of leavers, for lack of a common identifier across files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• Headcount and staffing in technical training: 201 of the 216 fields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   described in the questionnaire are not published</a:t>
            </a:r>
          </a:p>
          <a:p>
            <a:pPr algn="l">
              <a:spcAft>
                <a:spcPts val="800"/>
              </a:spcAft>
            </a:pPr>
            <a:r>
              <a:rPr sz="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6366F1"/>
                </a:solidFill>
                <a:latin typeface="Calibri"/>
              </a:rPr>
              <a:t>The first decision is an informational one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Without an institution identifier common to the reference registers, and without an employment-outcomes survey by programme, no skills–jobs policy can be either targeted or evaluated. Everything else follows from that — it is the most structuring recommendation of this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Skills &amp; Employment · Togo   |   Data AI Lab   |   Built by Kokou PIPI   |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