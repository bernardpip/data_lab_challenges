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183"/>
    <p:restoredTop sz="83096"/>
  </p:normalViewPr>
  <p:slideViewPr>
    <p:cSldViewPr snapToGrid="0" snapToObjects="1">
      <p:cViewPr varScale="1">
        <p:scale>
          <a:sx n="122" d="100"/>
          <a:sy n="122" d="100"/>
        </p:scale>
        <p:origin x="928"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64412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Bonjour. Je </a:t>
            </a:r>
            <a:r>
              <a:rPr dirty="0" err="1"/>
              <a:t>vais</a:t>
            </a:r>
            <a:r>
              <a:rPr dirty="0"/>
              <a:t> vous </a:t>
            </a:r>
            <a:r>
              <a:rPr dirty="0" err="1"/>
              <a:t>présenter</a:t>
            </a:r>
            <a:r>
              <a:rPr dirty="0"/>
              <a:t> non pas les </a:t>
            </a:r>
            <a:r>
              <a:rPr dirty="0" err="1"/>
              <a:t>résultats</a:t>
            </a:r>
            <a:r>
              <a:rPr dirty="0"/>
              <a:t> — </a:t>
            </a:r>
            <a:r>
              <a:rPr dirty="0" err="1"/>
              <a:t>ils</a:t>
            </a:r>
            <a:r>
              <a:rPr dirty="0"/>
              <a:t> </a:t>
            </a:r>
            <a:r>
              <a:rPr dirty="0" err="1"/>
              <a:t>sont</a:t>
            </a:r>
            <a:r>
              <a:rPr dirty="0"/>
              <a:t> dans le rapport de dix pages — </a:t>
            </a:r>
            <a:r>
              <a:rPr dirty="0" err="1"/>
              <a:t>mais</a:t>
            </a:r>
            <a:r>
              <a:rPr dirty="0"/>
              <a:t> la MÉTHODE qui les a </a:t>
            </a:r>
            <a:r>
              <a:rPr dirty="0" err="1"/>
              <a:t>produits</a:t>
            </a:r>
            <a:r>
              <a:rPr dirty="0"/>
              <a:t>.</a:t>
            </a:r>
          </a:p>
          <a:p>
            <a:endParaRPr lang="fr-FR" dirty="0"/>
          </a:p>
          <a:p>
            <a:r>
              <a:rPr dirty="0"/>
              <a:t>En </a:t>
            </a:r>
            <a:r>
              <a:rPr lang="fr-FR" dirty="0"/>
              <a:t>quelques</a:t>
            </a:r>
            <a:r>
              <a:rPr dirty="0"/>
              <a:t> minutes : </a:t>
            </a:r>
            <a:endParaRPr lang="fr-FR" dirty="0"/>
          </a:p>
          <a:p>
            <a:endParaRPr lang="fr-FR" dirty="0"/>
          </a:p>
          <a:p>
            <a:r>
              <a:rPr lang="fr-FR" dirty="0"/>
              <a:t>- </a:t>
            </a:r>
            <a:r>
              <a:rPr dirty="0" err="1"/>
              <a:t>ce</a:t>
            </a:r>
            <a:r>
              <a:rPr dirty="0"/>
              <a:t> qui </a:t>
            </a:r>
            <a:r>
              <a:rPr dirty="0" err="1"/>
              <a:t>était</a:t>
            </a:r>
            <a:r>
              <a:rPr dirty="0"/>
              <a:t> </a:t>
            </a:r>
            <a:r>
              <a:rPr dirty="0" err="1"/>
              <a:t>demandé</a:t>
            </a:r>
            <a:r>
              <a:rPr dirty="0"/>
              <a:t>, </a:t>
            </a:r>
            <a:endParaRPr lang="fr-FR" dirty="0"/>
          </a:p>
          <a:p>
            <a:r>
              <a:rPr lang="fr-FR" dirty="0"/>
              <a:t>- </a:t>
            </a:r>
            <a:r>
              <a:rPr dirty="0" err="1"/>
              <a:t>ce</a:t>
            </a:r>
            <a:r>
              <a:rPr dirty="0"/>
              <a:t> </a:t>
            </a:r>
            <a:r>
              <a:rPr dirty="0" err="1"/>
              <a:t>que</a:t>
            </a:r>
            <a:r>
              <a:rPr dirty="0"/>
              <a:t> </a:t>
            </a:r>
            <a:r>
              <a:rPr dirty="0" err="1"/>
              <a:t>j'ai</a:t>
            </a:r>
            <a:r>
              <a:rPr dirty="0"/>
              <a:t> </a:t>
            </a:r>
            <a:r>
              <a:rPr dirty="0" err="1"/>
              <a:t>posé</a:t>
            </a:r>
            <a:r>
              <a:rPr dirty="0"/>
              <a:t> </a:t>
            </a:r>
            <a:r>
              <a:rPr dirty="0" err="1"/>
              <a:t>comme</a:t>
            </a:r>
            <a:r>
              <a:rPr dirty="0"/>
              <a:t> </a:t>
            </a:r>
            <a:r>
              <a:rPr dirty="0" err="1"/>
              <a:t>règles</a:t>
            </a:r>
            <a:r>
              <a:rPr dirty="0"/>
              <a:t> avant de commencer, les </a:t>
            </a:r>
            <a:r>
              <a:rPr dirty="0" err="1"/>
              <a:t>outils</a:t>
            </a:r>
            <a:r>
              <a:rPr dirty="0"/>
              <a:t> </a:t>
            </a:r>
            <a:r>
              <a:rPr dirty="0" err="1"/>
              <a:t>statistiques</a:t>
            </a:r>
            <a:r>
              <a:rPr dirty="0"/>
              <a:t> </a:t>
            </a:r>
            <a:r>
              <a:rPr dirty="0" err="1"/>
              <a:t>employés</a:t>
            </a:r>
            <a:r>
              <a:rPr dirty="0"/>
              <a:t>, </a:t>
            </a:r>
            <a:endParaRPr lang="fr-FR" dirty="0"/>
          </a:p>
          <a:p>
            <a:r>
              <a:rPr lang="fr-FR" dirty="0"/>
              <a:t>- </a:t>
            </a:r>
            <a:r>
              <a:rPr dirty="0"/>
              <a:t>et </a:t>
            </a:r>
            <a:r>
              <a:rPr dirty="0" err="1"/>
              <a:t>ce</a:t>
            </a:r>
            <a:r>
              <a:rPr dirty="0"/>
              <a:t> </a:t>
            </a:r>
            <a:r>
              <a:rPr dirty="0" err="1"/>
              <a:t>que</a:t>
            </a:r>
            <a:r>
              <a:rPr dirty="0"/>
              <a:t> </a:t>
            </a:r>
            <a:r>
              <a:rPr dirty="0" err="1"/>
              <a:t>j'ai</a:t>
            </a:r>
            <a:r>
              <a:rPr dirty="0"/>
              <a:t> </a:t>
            </a:r>
            <a:r>
              <a:rPr dirty="0" err="1"/>
              <a:t>refusé</a:t>
            </a:r>
            <a:r>
              <a:rPr dirty="0"/>
              <a:t> de faire.</a:t>
            </a:r>
          </a:p>
          <a:p>
            <a:endParaRPr lang="fr-FR" dirty="0"/>
          </a:p>
          <a:p>
            <a:r>
              <a:rPr dirty="0"/>
              <a:t>Un mot sur </a:t>
            </a:r>
            <a:r>
              <a:rPr dirty="0" err="1"/>
              <a:t>l'esprit</a:t>
            </a:r>
            <a:r>
              <a:rPr dirty="0"/>
              <a:t> : tout </a:t>
            </a:r>
            <a:r>
              <a:rPr dirty="0" err="1"/>
              <a:t>ce</a:t>
            </a:r>
            <a:r>
              <a:rPr dirty="0"/>
              <a:t> </a:t>
            </a:r>
            <a:r>
              <a:rPr dirty="0" err="1"/>
              <a:t>que</a:t>
            </a:r>
            <a:r>
              <a:rPr dirty="0"/>
              <a:t> vous </a:t>
            </a:r>
            <a:r>
              <a:rPr dirty="0" err="1"/>
              <a:t>verrez</a:t>
            </a:r>
            <a:r>
              <a:rPr dirty="0"/>
              <a:t> est </a:t>
            </a:r>
            <a:r>
              <a:rPr dirty="0" err="1"/>
              <a:t>vérifiable</a:t>
            </a:r>
            <a:r>
              <a:rPr dirty="0"/>
              <a:t>. Le tableau de bord est </a:t>
            </a:r>
            <a:r>
              <a:rPr dirty="0" err="1"/>
              <a:t>en</a:t>
            </a:r>
            <a:r>
              <a:rPr dirty="0"/>
              <a:t> </a:t>
            </a:r>
            <a:r>
              <a:rPr dirty="0" err="1"/>
              <a:t>ligne</a:t>
            </a:r>
            <a:r>
              <a:rPr dirty="0"/>
              <a:t>, </a:t>
            </a:r>
            <a:r>
              <a:rPr dirty="0" err="1"/>
              <a:t>l'archive</a:t>
            </a:r>
            <a:r>
              <a:rPr dirty="0"/>
              <a:t> </a:t>
            </a:r>
            <a:r>
              <a:rPr dirty="0" err="1"/>
              <a:t>contient</a:t>
            </a:r>
            <a:r>
              <a:rPr dirty="0"/>
              <a:t> les données brutes, et </a:t>
            </a:r>
            <a:r>
              <a:rPr dirty="0" err="1"/>
              <a:t>chaque</a:t>
            </a:r>
            <a:r>
              <a:rPr dirty="0"/>
              <a:t> chiffre </a:t>
            </a:r>
            <a:r>
              <a:rPr dirty="0" err="1"/>
              <a:t>d'une</a:t>
            </a:r>
            <a:r>
              <a:rPr dirty="0"/>
              <a:t> </a:t>
            </a:r>
            <a:r>
              <a:rPr dirty="0" err="1"/>
              <a:t>planche</a:t>
            </a:r>
            <a:r>
              <a:rPr dirty="0"/>
              <a:t> </a:t>
            </a:r>
            <a:r>
              <a:rPr dirty="0" err="1"/>
              <a:t>vient</a:t>
            </a:r>
            <a:r>
              <a:rPr dirty="0"/>
              <a:t> du </a:t>
            </a:r>
            <a:r>
              <a:rPr dirty="0" err="1"/>
              <a:t>même</a:t>
            </a:r>
            <a:r>
              <a:rPr dirty="0"/>
              <a:t> code </a:t>
            </a:r>
            <a:r>
              <a:rPr dirty="0" err="1"/>
              <a:t>que</a:t>
            </a:r>
            <a:r>
              <a:rPr dirty="0"/>
              <a:t> </a:t>
            </a:r>
            <a:r>
              <a:rPr dirty="0" err="1"/>
              <a:t>l'écran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L'énoncé</a:t>
            </a:r>
            <a:r>
              <a:rPr dirty="0"/>
              <a:t> </a:t>
            </a:r>
            <a:r>
              <a:rPr dirty="0" err="1"/>
              <a:t>demandait</a:t>
            </a:r>
            <a:r>
              <a:rPr dirty="0"/>
              <a:t> </a:t>
            </a:r>
            <a:r>
              <a:rPr dirty="0" err="1"/>
              <a:t>si</a:t>
            </a:r>
            <a:r>
              <a:rPr dirty="0"/>
              <a:t> </a:t>
            </a:r>
            <a:r>
              <a:rPr dirty="0" err="1"/>
              <a:t>l'offre</a:t>
            </a:r>
            <a:r>
              <a:rPr dirty="0"/>
              <a:t> de formation est </a:t>
            </a:r>
            <a:r>
              <a:rPr dirty="0" err="1"/>
              <a:t>alignée</a:t>
            </a:r>
            <a:r>
              <a:rPr dirty="0"/>
              <a:t> sur les </a:t>
            </a:r>
            <a:r>
              <a:rPr dirty="0" err="1"/>
              <a:t>besoins</a:t>
            </a:r>
            <a:r>
              <a:rPr dirty="0"/>
              <a:t> de </a:t>
            </a:r>
            <a:r>
              <a:rPr dirty="0" err="1"/>
              <a:t>l'économie</a:t>
            </a:r>
            <a:r>
              <a:rPr dirty="0"/>
              <a:t>. </a:t>
            </a:r>
            <a:endParaRPr lang="fr-FR" dirty="0"/>
          </a:p>
          <a:p>
            <a:endParaRPr lang="fr-FR" dirty="0"/>
          </a:p>
          <a:p>
            <a:r>
              <a:rPr dirty="0" err="1"/>
              <a:t>C'est</a:t>
            </a:r>
            <a:r>
              <a:rPr dirty="0"/>
              <a:t> </a:t>
            </a:r>
            <a:r>
              <a:rPr dirty="0" err="1"/>
              <a:t>une</a:t>
            </a:r>
            <a:r>
              <a:rPr dirty="0"/>
              <a:t> question </a:t>
            </a:r>
            <a:r>
              <a:rPr dirty="0" err="1"/>
              <a:t>d'opinion</a:t>
            </a:r>
            <a:r>
              <a:rPr dirty="0"/>
              <a:t> : </a:t>
            </a:r>
            <a:r>
              <a:rPr dirty="0" err="1"/>
              <a:t>telle</a:t>
            </a:r>
            <a:r>
              <a:rPr dirty="0"/>
              <a:t> quelle, </a:t>
            </a:r>
            <a:r>
              <a:rPr dirty="0" err="1"/>
              <a:t>elle</a:t>
            </a:r>
            <a:r>
              <a:rPr dirty="0"/>
              <a:t> </a:t>
            </a:r>
            <a:r>
              <a:rPr dirty="0" err="1"/>
              <a:t>n'a</a:t>
            </a:r>
            <a:r>
              <a:rPr dirty="0"/>
              <a:t> pas de </a:t>
            </a:r>
            <a:r>
              <a:rPr dirty="0" err="1"/>
              <a:t>réponse</a:t>
            </a:r>
            <a:r>
              <a:rPr dirty="0"/>
              <a:t> </a:t>
            </a:r>
            <a:r>
              <a:rPr dirty="0" err="1"/>
              <a:t>chiffrée</a:t>
            </a:r>
            <a:r>
              <a:rPr dirty="0"/>
              <a:t>.</a:t>
            </a:r>
            <a:endParaRPr lang="fr-FR" dirty="0"/>
          </a:p>
          <a:p>
            <a:endParaRPr dirty="0"/>
          </a:p>
          <a:p>
            <a:r>
              <a:rPr dirty="0"/>
              <a:t>Mon premier travail a </a:t>
            </a:r>
            <a:r>
              <a:rPr dirty="0" err="1"/>
              <a:t>donc</a:t>
            </a:r>
            <a:r>
              <a:rPr dirty="0"/>
              <a:t> </a:t>
            </a:r>
            <a:r>
              <a:rPr dirty="0" err="1"/>
              <a:t>été</a:t>
            </a:r>
            <a:r>
              <a:rPr dirty="0"/>
              <a:t> de la </a:t>
            </a:r>
            <a:r>
              <a:rPr dirty="0" err="1"/>
              <a:t>reformuler</a:t>
            </a:r>
            <a:r>
              <a:rPr dirty="0"/>
              <a:t> </a:t>
            </a:r>
            <a:r>
              <a:rPr dirty="0" err="1"/>
              <a:t>en</a:t>
            </a:r>
            <a:r>
              <a:rPr dirty="0"/>
              <a:t> trois </a:t>
            </a:r>
            <a:r>
              <a:rPr dirty="0" err="1"/>
              <a:t>écarts</a:t>
            </a:r>
            <a:r>
              <a:rPr dirty="0"/>
              <a:t> qui, </a:t>
            </a:r>
            <a:r>
              <a:rPr dirty="0" err="1"/>
              <a:t>eux</a:t>
            </a:r>
            <a:r>
              <a:rPr dirty="0"/>
              <a:t>, se </a:t>
            </a:r>
            <a:r>
              <a:rPr dirty="0" err="1"/>
              <a:t>mesurent</a:t>
            </a:r>
            <a:r>
              <a:rPr dirty="0"/>
              <a:t> :</a:t>
            </a:r>
            <a:endParaRPr lang="fr-FR" dirty="0"/>
          </a:p>
          <a:p>
            <a:endParaRPr lang="fr-FR" dirty="0"/>
          </a:p>
          <a:p>
            <a:r>
              <a:rPr lang="fr-FR" dirty="0"/>
              <a:t>- </a:t>
            </a:r>
            <a:r>
              <a:rPr dirty="0"/>
              <a:t> </a:t>
            </a:r>
            <a:r>
              <a:rPr dirty="0" err="1"/>
              <a:t>l'écart</a:t>
            </a:r>
            <a:r>
              <a:rPr dirty="0"/>
              <a:t> entre </a:t>
            </a:r>
            <a:r>
              <a:rPr dirty="0" err="1"/>
              <a:t>territoires</a:t>
            </a:r>
            <a:r>
              <a:rPr dirty="0"/>
              <a:t>,</a:t>
            </a:r>
            <a:endParaRPr lang="fr-FR" dirty="0"/>
          </a:p>
          <a:p>
            <a:r>
              <a:rPr lang="fr-FR" dirty="0"/>
              <a:t>- </a:t>
            </a:r>
            <a:r>
              <a:rPr dirty="0"/>
              <a:t> </a:t>
            </a:r>
            <a:r>
              <a:rPr dirty="0" err="1"/>
              <a:t>l'écart</a:t>
            </a:r>
            <a:r>
              <a:rPr dirty="0"/>
              <a:t> entre </a:t>
            </a:r>
            <a:r>
              <a:rPr dirty="0" err="1"/>
              <a:t>l'accès</a:t>
            </a:r>
            <a:r>
              <a:rPr dirty="0"/>
              <a:t> aux études et les moyens </a:t>
            </a:r>
            <a:r>
              <a:rPr dirty="0" err="1"/>
              <a:t>qu'on</a:t>
            </a:r>
            <a:r>
              <a:rPr dirty="0"/>
              <a:t> y met, </a:t>
            </a:r>
            <a:endParaRPr lang="fr-FR" dirty="0"/>
          </a:p>
          <a:p>
            <a:r>
              <a:rPr lang="fr-FR" dirty="0"/>
              <a:t>- </a:t>
            </a:r>
            <a:r>
              <a:rPr dirty="0"/>
              <a:t>et </a:t>
            </a:r>
            <a:r>
              <a:rPr dirty="0" err="1"/>
              <a:t>l'écart</a:t>
            </a:r>
            <a:r>
              <a:rPr dirty="0"/>
              <a:t> entre </a:t>
            </a:r>
            <a:r>
              <a:rPr dirty="0" err="1"/>
              <a:t>ce</a:t>
            </a:r>
            <a:r>
              <a:rPr dirty="0"/>
              <a:t> </a:t>
            </a:r>
            <a:r>
              <a:rPr dirty="0" err="1"/>
              <a:t>qu'on</a:t>
            </a:r>
            <a:r>
              <a:rPr dirty="0"/>
              <a:t> </a:t>
            </a:r>
            <a:r>
              <a:rPr dirty="0" err="1"/>
              <a:t>forme</a:t>
            </a:r>
            <a:r>
              <a:rPr dirty="0"/>
              <a:t> et </a:t>
            </a:r>
            <a:r>
              <a:rPr dirty="0" err="1"/>
              <a:t>ce</a:t>
            </a:r>
            <a:r>
              <a:rPr dirty="0"/>
              <a:t> qui </a:t>
            </a:r>
            <a:r>
              <a:rPr dirty="0" err="1"/>
              <a:t>s'insère</a:t>
            </a:r>
            <a:r>
              <a:rPr dirty="0"/>
              <a:t>.</a:t>
            </a:r>
            <a:endParaRPr lang="fr-FR" dirty="0"/>
          </a:p>
          <a:p>
            <a:endParaRPr dirty="0"/>
          </a:p>
          <a:p>
            <a:r>
              <a:rPr dirty="0"/>
              <a:t>Point important : je </a:t>
            </a:r>
            <a:r>
              <a:rPr dirty="0" err="1"/>
              <a:t>n'ai</a:t>
            </a:r>
            <a:r>
              <a:rPr dirty="0"/>
              <a:t> pas </a:t>
            </a:r>
            <a:r>
              <a:rPr dirty="0" err="1"/>
              <a:t>fabriqué</a:t>
            </a:r>
            <a:r>
              <a:rPr dirty="0"/>
              <a:t> un « </a:t>
            </a:r>
            <a:r>
              <a:rPr dirty="0" err="1"/>
              <a:t>indice</a:t>
            </a:r>
            <a:r>
              <a:rPr dirty="0"/>
              <a:t> </a:t>
            </a:r>
            <a:r>
              <a:rPr dirty="0" err="1"/>
              <a:t>d'alignement</a:t>
            </a:r>
            <a:r>
              <a:rPr dirty="0"/>
              <a:t> » global.</a:t>
            </a:r>
            <a:endParaRPr lang="fr-FR" dirty="0"/>
          </a:p>
          <a:p>
            <a:endParaRPr lang="fr-FR" dirty="0"/>
          </a:p>
          <a:p>
            <a:r>
              <a:rPr dirty="0"/>
              <a:t> </a:t>
            </a:r>
            <a:r>
              <a:rPr dirty="0" err="1"/>
              <a:t>Additionner</a:t>
            </a:r>
            <a:r>
              <a:rPr dirty="0"/>
              <a:t> trois </a:t>
            </a:r>
            <a:r>
              <a:rPr dirty="0" err="1"/>
              <a:t>écarts</a:t>
            </a:r>
            <a:r>
              <a:rPr dirty="0"/>
              <a:t> de natures </a:t>
            </a:r>
            <a:r>
              <a:rPr dirty="0" err="1"/>
              <a:t>différentes</a:t>
            </a:r>
            <a:r>
              <a:rPr dirty="0"/>
              <a:t> </a:t>
            </a:r>
            <a:r>
              <a:rPr dirty="0" err="1"/>
              <a:t>donnerait</a:t>
            </a:r>
            <a:r>
              <a:rPr dirty="0"/>
              <a:t> un </a:t>
            </a:r>
            <a:r>
              <a:rPr dirty="0" err="1"/>
              <a:t>nombre</a:t>
            </a:r>
            <a:r>
              <a:rPr dirty="0"/>
              <a:t> qui a l'air savant et qui ne </a:t>
            </a:r>
            <a:r>
              <a:rPr dirty="0" err="1"/>
              <a:t>veut</a:t>
            </a:r>
            <a:r>
              <a:rPr dirty="0"/>
              <a:t> rien dire.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cahier des charges se </a:t>
            </a:r>
            <a:r>
              <a:rPr dirty="0" err="1"/>
              <a:t>décompose</a:t>
            </a:r>
            <a:r>
              <a:rPr dirty="0"/>
              <a:t> </a:t>
            </a:r>
            <a:r>
              <a:rPr dirty="0" err="1"/>
              <a:t>en</a:t>
            </a:r>
            <a:r>
              <a:rPr dirty="0"/>
              <a:t> quatorze </a:t>
            </a:r>
            <a:r>
              <a:rPr dirty="0" err="1"/>
              <a:t>indicateurs</a:t>
            </a:r>
            <a:r>
              <a:rPr dirty="0"/>
              <a:t> </a:t>
            </a:r>
            <a:r>
              <a:rPr dirty="0" err="1"/>
              <a:t>élémentaires</a:t>
            </a:r>
            <a:r>
              <a:rPr dirty="0"/>
              <a:t>. </a:t>
            </a:r>
            <a:r>
              <a:rPr dirty="0" err="1"/>
              <a:t>J'en</a:t>
            </a:r>
            <a:r>
              <a:rPr dirty="0"/>
              <a:t> ai </a:t>
            </a:r>
            <a:r>
              <a:rPr dirty="0" err="1"/>
              <a:t>honoré</a:t>
            </a:r>
            <a:r>
              <a:rPr dirty="0"/>
              <a:t> </a:t>
            </a:r>
            <a:r>
              <a:rPr dirty="0" err="1"/>
              <a:t>neuf</a:t>
            </a:r>
            <a:r>
              <a:rPr dirty="0"/>
              <a:t>, deux </a:t>
            </a:r>
            <a:r>
              <a:rPr dirty="0" err="1"/>
              <a:t>partiellement</a:t>
            </a:r>
            <a:r>
              <a:rPr dirty="0"/>
              <a:t>, et trois </a:t>
            </a:r>
            <a:r>
              <a:rPr dirty="0" err="1"/>
              <a:t>sont</a:t>
            </a:r>
            <a:r>
              <a:rPr dirty="0"/>
              <a:t> impossibles à </a:t>
            </a:r>
            <a:r>
              <a:rPr dirty="0" err="1"/>
              <a:t>partir</a:t>
            </a:r>
            <a:r>
              <a:rPr dirty="0"/>
              <a:t> du corpus.</a:t>
            </a:r>
            <a:endParaRPr lang="fr-FR" dirty="0"/>
          </a:p>
          <a:p>
            <a:endParaRPr dirty="0"/>
          </a:p>
          <a:p>
            <a:r>
              <a:rPr dirty="0" err="1"/>
              <a:t>Ces</a:t>
            </a:r>
            <a:r>
              <a:rPr dirty="0"/>
              <a:t> trois-</a:t>
            </a:r>
            <a:r>
              <a:rPr dirty="0" err="1"/>
              <a:t>là</a:t>
            </a:r>
            <a:r>
              <a:rPr dirty="0"/>
              <a:t> </a:t>
            </a:r>
            <a:r>
              <a:rPr dirty="0" err="1"/>
              <a:t>sont</a:t>
            </a:r>
            <a:r>
              <a:rPr dirty="0"/>
              <a:t> </a:t>
            </a:r>
            <a:r>
              <a:rPr dirty="0" err="1"/>
              <a:t>affichés</a:t>
            </a:r>
            <a:r>
              <a:rPr dirty="0"/>
              <a:t> dans le tableau de bord, avec </a:t>
            </a:r>
            <a:r>
              <a:rPr dirty="0" err="1"/>
              <a:t>leur</a:t>
            </a:r>
            <a:r>
              <a:rPr dirty="0"/>
              <a:t> cause. </a:t>
            </a:r>
            <a:r>
              <a:rPr dirty="0" err="1"/>
              <a:t>C'est</a:t>
            </a:r>
            <a:r>
              <a:rPr dirty="0"/>
              <a:t> un choix : un jury qui ne </a:t>
            </a:r>
            <a:r>
              <a:rPr dirty="0" err="1"/>
              <a:t>voit</a:t>
            </a:r>
            <a:r>
              <a:rPr dirty="0"/>
              <a:t> </a:t>
            </a:r>
            <a:r>
              <a:rPr dirty="0" err="1"/>
              <a:t>que</a:t>
            </a:r>
            <a:r>
              <a:rPr dirty="0"/>
              <a:t> </a:t>
            </a:r>
            <a:r>
              <a:rPr dirty="0" err="1"/>
              <a:t>ce</a:t>
            </a:r>
            <a:r>
              <a:rPr dirty="0"/>
              <a:t> qui a </a:t>
            </a:r>
            <a:r>
              <a:rPr dirty="0" err="1"/>
              <a:t>marché</a:t>
            </a:r>
            <a:r>
              <a:rPr dirty="0"/>
              <a:t> ne </a:t>
            </a:r>
            <a:r>
              <a:rPr dirty="0" err="1"/>
              <a:t>peut</a:t>
            </a:r>
            <a:r>
              <a:rPr dirty="0"/>
              <a:t> pas juger la couverture </a:t>
            </a:r>
            <a:r>
              <a:rPr dirty="0" err="1"/>
              <a:t>réelle</a:t>
            </a:r>
            <a:r>
              <a:rPr dirty="0"/>
              <a:t> du travail.</a:t>
            </a:r>
            <a:endParaRPr lang="fr-FR" dirty="0"/>
          </a:p>
          <a:p>
            <a:endParaRPr dirty="0"/>
          </a:p>
          <a:p>
            <a:r>
              <a:rPr dirty="0"/>
              <a:t>Les deux « </a:t>
            </a:r>
            <a:r>
              <a:rPr dirty="0" err="1"/>
              <a:t>partiels</a:t>
            </a:r>
            <a:r>
              <a:rPr dirty="0"/>
              <a:t> » </a:t>
            </a:r>
            <a:r>
              <a:rPr dirty="0" err="1"/>
              <a:t>sont</a:t>
            </a:r>
            <a:r>
              <a:rPr dirty="0"/>
              <a:t> des </a:t>
            </a:r>
            <a:r>
              <a:rPr dirty="0" err="1"/>
              <a:t>cas</a:t>
            </a:r>
            <a:r>
              <a:rPr dirty="0"/>
              <a:t> </a:t>
            </a:r>
            <a:r>
              <a:rPr dirty="0" err="1"/>
              <a:t>où</a:t>
            </a:r>
            <a:r>
              <a:rPr dirty="0"/>
              <a:t> la donnée </a:t>
            </a:r>
            <a:r>
              <a:rPr dirty="0" err="1"/>
              <a:t>existe</a:t>
            </a:r>
            <a:r>
              <a:rPr dirty="0"/>
              <a:t>, </a:t>
            </a:r>
            <a:r>
              <a:rPr dirty="0" err="1"/>
              <a:t>mais</a:t>
            </a:r>
            <a:r>
              <a:rPr dirty="0"/>
              <a:t> pas à la </a:t>
            </a:r>
            <a:r>
              <a:rPr dirty="0" err="1"/>
              <a:t>maille</a:t>
            </a:r>
            <a:r>
              <a:rPr dirty="0"/>
              <a:t> </a:t>
            </a:r>
            <a:r>
              <a:rPr dirty="0" err="1"/>
              <a:t>demandée</a:t>
            </a:r>
            <a:r>
              <a:rPr dirty="0"/>
              <a:t> — </a:t>
            </a:r>
            <a:r>
              <a:rPr dirty="0" err="1"/>
              <a:t>typiquement</a:t>
            </a:r>
            <a:r>
              <a:rPr dirty="0"/>
              <a:t> au </a:t>
            </a:r>
            <a:r>
              <a:rPr dirty="0" err="1"/>
              <a:t>niveau</a:t>
            </a:r>
            <a:r>
              <a:rPr dirty="0"/>
              <a:t> national </a:t>
            </a:r>
            <a:r>
              <a:rPr dirty="0" err="1"/>
              <a:t>quand</a:t>
            </a:r>
            <a:r>
              <a:rPr dirty="0"/>
              <a:t> on la </a:t>
            </a:r>
            <a:r>
              <a:rPr dirty="0" err="1"/>
              <a:t>voudrait</a:t>
            </a:r>
            <a:r>
              <a:rPr dirty="0"/>
              <a:t> par </a:t>
            </a:r>
            <a:r>
              <a:rPr dirty="0" err="1"/>
              <a:t>région</a:t>
            </a:r>
            <a:r>
              <a:rPr dirty="0"/>
              <a:t>.</a:t>
            </a:r>
          </a:p>
          <a:p>
            <a:r>
              <a:rPr dirty="0"/>
              <a:t>Un </a:t>
            </a:r>
            <a:r>
              <a:rPr dirty="0" err="1"/>
              <a:t>détail</a:t>
            </a:r>
            <a:r>
              <a:rPr dirty="0"/>
              <a:t> qui compte pour la suite : </a:t>
            </a:r>
            <a:r>
              <a:rPr dirty="0" err="1"/>
              <a:t>cet</a:t>
            </a:r>
            <a:r>
              <a:rPr dirty="0"/>
              <a:t> audit est </a:t>
            </a:r>
            <a:r>
              <a:rPr dirty="0" err="1"/>
              <a:t>recalculé</a:t>
            </a:r>
            <a:r>
              <a:rPr dirty="0"/>
              <a:t> à </a:t>
            </a:r>
            <a:r>
              <a:rPr dirty="0" err="1"/>
              <a:t>chaque</a:t>
            </a:r>
            <a:r>
              <a:rPr dirty="0"/>
              <a:t> </a:t>
            </a:r>
            <a:r>
              <a:rPr dirty="0" err="1"/>
              <a:t>exécution</a:t>
            </a:r>
            <a:r>
              <a:rPr dirty="0"/>
              <a:t>, il </a:t>
            </a:r>
            <a:r>
              <a:rPr dirty="0" err="1"/>
              <a:t>n'est</a:t>
            </a:r>
            <a:r>
              <a:rPr dirty="0"/>
              <a:t> pas </a:t>
            </a:r>
            <a:r>
              <a:rPr dirty="0" err="1"/>
              <a:t>écrit</a:t>
            </a:r>
            <a:r>
              <a:rPr dirty="0"/>
              <a:t> à la main.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Neuf </a:t>
            </a:r>
            <a:r>
              <a:rPr dirty="0" err="1"/>
              <a:t>ressources</a:t>
            </a:r>
            <a:r>
              <a:rPr dirty="0"/>
              <a:t>, </a:t>
            </a:r>
            <a:r>
              <a:rPr dirty="0" err="1"/>
              <a:t>dont</a:t>
            </a:r>
            <a:r>
              <a:rPr dirty="0"/>
              <a:t> </a:t>
            </a:r>
            <a:r>
              <a:rPr dirty="0" err="1"/>
              <a:t>huit</a:t>
            </a:r>
            <a:r>
              <a:rPr dirty="0"/>
              <a:t> </a:t>
            </a:r>
            <a:r>
              <a:rPr dirty="0" err="1"/>
              <a:t>réellement</a:t>
            </a:r>
            <a:r>
              <a:rPr dirty="0"/>
              <a:t> </a:t>
            </a:r>
            <a:r>
              <a:rPr dirty="0" err="1"/>
              <a:t>chargées</a:t>
            </a:r>
            <a:r>
              <a:rPr dirty="0"/>
              <a:t>. Et surtout : </a:t>
            </a:r>
            <a:r>
              <a:rPr dirty="0" err="1"/>
              <a:t>une</a:t>
            </a:r>
            <a:r>
              <a:rPr dirty="0"/>
              <a:t> </a:t>
            </a:r>
            <a:r>
              <a:rPr dirty="0" err="1"/>
              <a:t>seule</a:t>
            </a:r>
            <a:r>
              <a:rPr dirty="0"/>
              <a:t> descend sous le </a:t>
            </a:r>
            <a:r>
              <a:rPr dirty="0" err="1"/>
              <a:t>niveau</a:t>
            </a:r>
            <a:r>
              <a:rPr dirty="0"/>
              <a:t> national.</a:t>
            </a:r>
            <a:endParaRPr lang="fr-FR" dirty="0"/>
          </a:p>
          <a:p>
            <a:endParaRPr dirty="0"/>
          </a:p>
          <a:p>
            <a:r>
              <a:rPr dirty="0" err="1"/>
              <a:t>C'est</a:t>
            </a:r>
            <a:r>
              <a:rPr dirty="0"/>
              <a:t> </a:t>
            </a:r>
            <a:r>
              <a:rPr dirty="0" err="1"/>
              <a:t>l'asymétrie</a:t>
            </a:r>
            <a:r>
              <a:rPr dirty="0"/>
              <a:t> qui </a:t>
            </a:r>
            <a:r>
              <a:rPr dirty="0" err="1"/>
              <a:t>commande</a:t>
            </a:r>
            <a:r>
              <a:rPr dirty="0"/>
              <a:t> toute </a:t>
            </a:r>
            <a:r>
              <a:rPr dirty="0" err="1"/>
              <a:t>l'architecture</a:t>
            </a:r>
            <a:r>
              <a:rPr dirty="0"/>
              <a:t>. </a:t>
            </a:r>
            <a:endParaRPr lang="fr-FR" dirty="0"/>
          </a:p>
          <a:p>
            <a:endParaRPr lang="fr-FR" dirty="0"/>
          </a:p>
          <a:p>
            <a:r>
              <a:rPr dirty="0"/>
              <a:t>Sept </a:t>
            </a:r>
            <a:r>
              <a:rPr dirty="0" err="1"/>
              <a:t>séries</a:t>
            </a:r>
            <a:r>
              <a:rPr dirty="0"/>
              <a:t> ne </a:t>
            </a:r>
            <a:r>
              <a:rPr dirty="0" err="1"/>
              <a:t>donnent</a:t>
            </a:r>
            <a:r>
              <a:rPr dirty="0"/>
              <a:t> </a:t>
            </a:r>
            <a:r>
              <a:rPr dirty="0" err="1"/>
              <a:t>qu'un</a:t>
            </a:r>
            <a:r>
              <a:rPr dirty="0"/>
              <a:t> chiffre par </a:t>
            </a:r>
            <a:r>
              <a:rPr dirty="0" err="1"/>
              <a:t>année</a:t>
            </a:r>
            <a:r>
              <a:rPr dirty="0"/>
              <a:t> pour tout le pays ; </a:t>
            </a:r>
            <a:r>
              <a:rPr dirty="0" err="1"/>
              <a:t>une</a:t>
            </a:r>
            <a:r>
              <a:rPr dirty="0"/>
              <a:t> </a:t>
            </a:r>
            <a:r>
              <a:rPr dirty="0" err="1"/>
              <a:t>seule</a:t>
            </a:r>
            <a:r>
              <a:rPr dirty="0"/>
              <a:t> </a:t>
            </a:r>
            <a:r>
              <a:rPr dirty="0" err="1"/>
              <a:t>donne</a:t>
            </a:r>
            <a:r>
              <a:rPr dirty="0"/>
              <a:t> deux cent </a:t>
            </a:r>
            <a:r>
              <a:rPr dirty="0" err="1"/>
              <a:t>cinquante</a:t>
            </a:r>
            <a:r>
              <a:rPr dirty="0"/>
              <a:t>-six points </a:t>
            </a:r>
            <a:r>
              <a:rPr dirty="0" err="1"/>
              <a:t>géolocalisés</a:t>
            </a:r>
            <a:r>
              <a:rPr dirty="0"/>
              <a:t>.</a:t>
            </a:r>
          </a:p>
          <a:p>
            <a:r>
              <a:rPr dirty="0" err="1"/>
              <a:t>Conséquence</a:t>
            </a:r>
            <a:r>
              <a:rPr dirty="0"/>
              <a:t> </a:t>
            </a:r>
            <a:r>
              <a:rPr dirty="0" err="1"/>
              <a:t>directe</a:t>
            </a:r>
            <a:r>
              <a:rPr dirty="0"/>
              <a:t> : je me suis </a:t>
            </a:r>
            <a:r>
              <a:rPr dirty="0" err="1"/>
              <a:t>interdit</a:t>
            </a:r>
            <a:r>
              <a:rPr dirty="0"/>
              <a:t> tout score </a:t>
            </a:r>
            <a:r>
              <a:rPr dirty="0" err="1"/>
              <a:t>régional</a:t>
            </a:r>
            <a:r>
              <a:rPr dirty="0"/>
              <a:t> composite qui </a:t>
            </a:r>
            <a:r>
              <a:rPr dirty="0" err="1"/>
              <a:t>mélangerait</a:t>
            </a:r>
            <a:r>
              <a:rPr dirty="0"/>
              <a:t> les deux. Si </a:t>
            </a:r>
            <a:r>
              <a:rPr dirty="0" err="1"/>
              <a:t>j'injecte</a:t>
            </a:r>
            <a:r>
              <a:rPr dirty="0"/>
              <a:t> le </a:t>
            </a:r>
            <a:r>
              <a:rPr dirty="0" err="1"/>
              <a:t>chômage</a:t>
            </a:r>
            <a:r>
              <a:rPr dirty="0"/>
              <a:t> national dans un score par </a:t>
            </a:r>
            <a:r>
              <a:rPr dirty="0" err="1"/>
              <a:t>région</a:t>
            </a:r>
            <a:r>
              <a:rPr dirty="0"/>
              <a:t>, il </a:t>
            </a:r>
            <a:r>
              <a:rPr dirty="0" err="1"/>
              <a:t>vaut</a:t>
            </a:r>
            <a:r>
              <a:rPr dirty="0"/>
              <a:t> la </a:t>
            </a:r>
            <a:r>
              <a:rPr dirty="0" err="1"/>
              <a:t>même</a:t>
            </a:r>
            <a:r>
              <a:rPr dirty="0"/>
              <a:t> chose </a:t>
            </a:r>
            <a:r>
              <a:rPr dirty="0" err="1"/>
              <a:t>partout</a:t>
            </a:r>
            <a:r>
              <a:rPr dirty="0"/>
              <a:t> — le score a l'air riche, il ne </a:t>
            </a:r>
            <a:r>
              <a:rPr dirty="0" err="1"/>
              <a:t>mesure</a:t>
            </a:r>
            <a:r>
              <a:rPr dirty="0"/>
              <a:t> rien de plus.</a:t>
            </a:r>
          </a:p>
          <a:p>
            <a:r>
              <a:rPr dirty="0"/>
              <a:t>Les </a:t>
            </a:r>
            <a:r>
              <a:rPr dirty="0" err="1"/>
              <a:t>périodes</a:t>
            </a:r>
            <a:r>
              <a:rPr dirty="0"/>
              <a:t> </a:t>
            </a:r>
            <a:r>
              <a:rPr dirty="0" err="1"/>
              <a:t>aussi</a:t>
            </a:r>
            <a:r>
              <a:rPr dirty="0"/>
              <a:t> </a:t>
            </a:r>
            <a:r>
              <a:rPr dirty="0" err="1"/>
              <a:t>sont</a:t>
            </a:r>
            <a:r>
              <a:rPr dirty="0"/>
              <a:t> </a:t>
            </a:r>
            <a:r>
              <a:rPr dirty="0" err="1"/>
              <a:t>hétérogènes</a:t>
            </a:r>
            <a:r>
              <a:rPr dirty="0"/>
              <a:t> : 2018 pour le supérieur, 2025 pour le technique. </a:t>
            </a:r>
            <a:r>
              <a:rPr dirty="0" err="1"/>
              <a:t>Aucun</a:t>
            </a:r>
            <a:r>
              <a:rPr dirty="0"/>
              <a:t> </a:t>
            </a:r>
            <a:r>
              <a:rPr dirty="0" err="1"/>
              <a:t>croisement</a:t>
            </a:r>
            <a:r>
              <a:rPr dirty="0"/>
              <a:t> ne </a:t>
            </a:r>
            <a:r>
              <a:rPr dirty="0" err="1"/>
              <a:t>franchit</a:t>
            </a:r>
            <a:r>
              <a:rPr dirty="0"/>
              <a:t> </a:t>
            </a:r>
            <a:r>
              <a:rPr dirty="0" err="1"/>
              <a:t>cet</a:t>
            </a:r>
            <a:r>
              <a:rPr dirty="0"/>
              <a:t> </a:t>
            </a:r>
            <a:r>
              <a:rPr dirty="0" err="1"/>
              <a:t>écart</a:t>
            </a:r>
            <a:r>
              <a:rPr dirty="0"/>
              <a:t> sans le dire.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Voici</a:t>
            </a:r>
            <a:r>
              <a:rPr dirty="0"/>
              <a:t> les quatre </a:t>
            </a:r>
            <a:r>
              <a:rPr dirty="0" err="1"/>
              <a:t>règles</a:t>
            </a:r>
            <a:r>
              <a:rPr dirty="0"/>
              <a:t> </a:t>
            </a:r>
            <a:r>
              <a:rPr dirty="0" err="1"/>
              <a:t>que</a:t>
            </a:r>
            <a:r>
              <a:rPr dirty="0"/>
              <a:t> je me suis données avant </a:t>
            </a:r>
            <a:r>
              <a:rPr dirty="0" err="1"/>
              <a:t>d'ouvrir</a:t>
            </a:r>
            <a:r>
              <a:rPr dirty="0"/>
              <a:t> les </a:t>
            </a:r>
            <a:r>
              <a:rPr dirty="0" err="1"/>
              <a:t>fichiers</a:t>
            </a:r>
            <a:r>
              <a:rPr dirty="0"/>
              <a:t>. </a:t>
            </a:r>
            <a:r>
              <a:rPr dirty="0" err="1"/>
              <a:t>C'est</a:t>
            </a:r>
            <a:r>
              <a:rPr dirty="0"/>
              <a:t> important : </a:t>
            </a:r>
            <a:r>
              <a:rPr dirty="0" err="1"/>
              <a:t>posées</a:t>
            </a:r>
            <a:r>
              <a:rPr dirty="0"/>
              <a:t> après, </a:t>
            </a:r>
            <a:r>
              <a:rPr dirty="0" err="1"/>
              <a:t>elles</a:t>
            </a:r>
            <a:r>
              <a:rPr dirty="0"/>
              <a:t> </a:t>
            </a:r>
            <a:r>
              <a:rPr dirty="0" err="1"/>
              <a:t>auraient</a:t>
            </a:r>
            <a:r>
              <a:rPr dirty="0"/>
              <a:t> </a:t>
            </a:r>
            <a:r>
              <a:rPr dirty="0" err="1"/>
              <a:t>été</a:t>
            </a:r>
            <a:r>
              <a:rPr dirty="0"/>
              <a:t> </a:t>
            </a:r>
            <a:r>
              <a:rPr dirty="0" err="1"/>
              <a:t>choisies</a:t>
            </a:r>
            <a:r>
              <a:rPr dirty="0"/>
              <a:t> </a:t>
            </a:r>
            <a:r>
              <a:rPr dirty="0" err="1"/>
              <a:t>en</a:t>
            </a:r>
            <a:r>
              <a:rPr dirty="0"/>
              <a:t> </a:t>
            </a:r>
            <a:r>
              <a:rPr dirty="0" err="1"/>
              <a:t>fonction</a:t>
            </a:r>
            <a:r>
              <a:rPr dirty="0"/>
              <a:t> de </a:t>
            </a:r>
            <a:r>
              <a:rPr dirty="0" err="1"/>
              <a:t>ce</a:t>
            </a:r>
            <a:r>
              <a:rPr dirty="0"/>
              <a:t> qui </a:t>
            </a:r>
            <a:r>
              <a:rPr dirty="0" err="1"/>
              <a:t>m'arrangeait</a:t>
            </a:r>
            <a:r>
              <a:rPr dirty="0"/>
              <a:t>.</a:t>
            </a:r>
          </a:p>
          <a:p>
            <a:r>
              <a:rPr dirty="0"/>
              <a:t>Première </a:t>
            </a:r>
            <a:r>
              <a:rPr dirty="0" err="1"/>
              <a:t>règle</a:t>
            </a:r>
            <a:r>
              <a:rPr dirty="0"/>
              <a:t> : </a:t>
            </a:r>
            <a:r>
              <a:rPr dirty="0" err="1"/>
              <a:t>aucune</a:t>
            </a:r>
            <a:r>
              <a:rPr dirty="0"/>
              <a:t> donnée </a:t>
            </a:r>
            <a:r>
              <a:rPr dirty="0" err="1"/>
              <a:t>fabriquée</a:t>
            </a:r>
            <a:r>
              <a:rPr dirty="0"/>
              <a:t>. Pas </a:t>
            </a:r>
            <a:r>
              <a:rPr dirty="0" err="1"/>
              <a:t>d'interpolation</a:t>
            </a:r>
            <a:r>
              <a:rPr dirty="0"/>
              <a:t>, pas de </a:t>
            </a:r>
            <a:r>
              <a:rPr dirty="0" err="1"/>
              <a:t>moyenne</a:t>
            </a:r>
            <a:r>
              <a:rPr dirty="0"/>
              <a:t> de </a:t>
            </a:r>
            <a:r>
              <a:rPr dirty="0" err="1"/>
              <a:t>remplissage</a:t>
            </a:r>
            <a:r>
              <a:rPr dirty="0"/>
              <a:t>. Une </a:t>
            </a:r>
            <a:r>
              <a:rPr dirty="0" err="1"/>
              <a:t>série</a:t>
            </a:r>
            <a:r>
              <a:rPr dirty="0"/>
              <a:t> </a:t>
            </a:r>
            <a:r>
              <a:rPr dirty="0" err="1"/>
              <a:t>trouée</a:t>
            </a:r>
            <a:r>
              <a:rPr dirty="0"/>
              <a:t> </a:t>
            </a:r>
            <a:r>
              <a:rPr dirty="0" err="1"/>
              <a:t>reste</a:t>
            </a:r>
            <a:r>
              <a:rPr dirty="0"/>
              <a:t> </a:t>
            </a:r>
            <a:r>
              <a:rPr dirty="0" err="1"/>
              <a:t>trouée</a:t>
            </a:r>
            <a:r>
              <a:rPr dirty="0"/>
              <a:t>.</a:t>
            </a:r>
          </a:p>
          <a:p>
            <a:r>
              <a:rPr dirty="0"/>
              <a:t>Deuxième : </a:t>
            </a:r>
            <a:r>
              <a:rPr dirty="0" err="1"/>
              <a:t>aucun</a:t>
            </a:r>
            <a:r>
              <a:rPr dirty="0"/>
              <a:t> </a:t>
            </a:r>
            <a:r>
              <a:rPr dirty="0" err="1"/>
              <a:t>croisement</a:t>
            </a:r>
            <a:r>
              <a:rPr dirty="0"/>
              <a:t> </a:t>
            </a:r>
            <a:r>
              <a:rPr dirty="0" err="1"/>
              <a:t>que</a:t>
            </a:r>
            <a:r>
              <a:rPr dirty="0"/>
              <a:t> les données </a:t>
            </a:r>
            <a:r>
              <a:rPr dirty="0" err="1"/>
              <a:t>n'autorisent</a:t>
            </a:r>
            <a:r>
              <a:rPr dirty="0"/>
              <a:t> pas, et </a:t>
            </a:r>
            <a:r>
              <a:rPr dirty="0" err="1"/>
              <a:t>chaque</a:t>
            </a:r>
            <a:r>
              <a:rPr dirty="0"/>
              <a:t> </a:t>
            </a:r>
            <a:r>
              <a:rPr dirty="0" err="1"/>
              <a:t>croisement</a:t>
            </a:r>
            <a:r>
              <a:rPr dirty="0"/>
              <a:t> </a:t>
            </a:r>
            <a:r>
              <a:rPr dirty="0" err="1"/>
              <a:t>déclare</a:t>
            </a:r>
            <a:r>
              <a:rPr dirty="0"/>
              <a:t> son </a:t>
            </a:r>
            <a:r>
              <a:rPr dirty="0" err="1"/>
              <a:t>nombre</a:t>
            </a:r>
            <a:r>
              <a:rPr dirty="0"/>
              <a:t> </a:t>
            </a:r>
            <a:r>
              <a:rPr dirty="0" err="1"/>
              <a:t>d'observations</a:t>
            </a:r>
            <a:r>
              <a:rPr dirty="0"/>
              <a:t>.</a:t>
            </a:r>
          </a:p>
          <a:p>
            <a:r>
              <a:rPr dirty="0" err="1"/>
              <a:t>Troisième</a:t>
            </a:r>
            <a:r>
              <a:rPr dirty="0"/>
              <a:t>, la plus </a:t>
            </a:r>
            <a:r>
              <a:rPr dirty="0" err="1"/>
              <a:t>inconfortable</a:t>
            </a:r>
            <a:r>
              <a:rPr dirty="0"/>
              <a:t> : les </a:t>
            </a:r>
            <a:r>
              <a:rPr dirty="0" err="1"/>
              <a:t>résultats</a:t>
            </a:r>
            <a:r>
              <a:rPr dirty="0"/>
              <a:t> non </a:t>
            </a:r>
            <a:r>
              <a:rPr dirty="0" err="1"/>
              <a:t>significatifs</a:t>
            </a:r>
            <a:r>
              <a:rPr dirty="0"/>
              <a:t> </a:t>
            </a:r>
            <a:r>
              <a:rPr dirty="0" err="1"/>
              <a:t>sont</a:t>
            </a:r>
            <a:r>
              <a:rPr dirty="0"/>
              <a:t> </a:t>
            </a:r>
            <a:r>
              <a:rPr dirty="0" err="1"/>
              <a:t>affichés</a:t>
            </a:r>
            <a:r>
              <a:rPr dirty="0"/>
              <a:t> </a:t>
            </a:r>
            <a:r>
              <a:rPr dirty="0" err="1"/>
              <a:t>comme</a:t>
            </a:r>
            <a:r>
              <a:rPr dirty="0"/>
              <a:t> </a:t>
            </a:r>
            <a:r>
              <a:rPr dirty="0" err="1"/>
              <a:t>tels</a:t>
            </a:r>
            <a:r>
              <a:rPr dirty="0"/>
              <a:t>. Deux de </a:t>
            </a:r>
            <a:r>
              <a:rPr dirty="0" err="1"/>
              <a:t>mes</a:t>
            </a:r>
            <a:r>
              <a:rPr dirty="0"/>
              <a:t> cinq </a:t>
            </a:r>
            <a:r>
              <a:rPr dirty="0" err="1"/>
              <a:t>modèles</a:t>
            </a:r>
            <a:r>
              <a:rPr dirty="0"/>
              <a:t> ne </a:t>
            </a:r>
            <a:r>
              <a:rPr dirty="0" err="1"/>
              <a:t>concluent</a:t>
            </a:r>
            <a:r>
              <a:rPr dirty="0"/>
              <a:t> pas. </a:t>
            </a:r>
            <a:r>
              <a:rPr dirty="0" err="1"/>
              <a:t>Ils</a:t>
            </a:r>
            <a:r>
              <a:rPr dirty="0"/>
              <a:t> </a:t>
            </a:r>
            <a:r>
              <a:rPr dirty="0" err="1"/>
              <a:t>sont</a:t>
            </a:r>
            <a:r>
              <a:rPr dirty="0"/>
              <a:t> dans le tableau de bord, avec </a:t>
            </a:r>
            <a:r>
              <a:rPr dirty="0" err="1"/>
              <a:t>leur</a:t>
            </a:r>
            <a:r>
              <a:rPr dirty="0"/>
              <a:t> p-value.</a:t>
            </a:r>
          </a:p>
          <a:p>
            <a:r>
              <a:rPr dirty="0" err="1"/>
              <a:t>Quatrième</a:t>
            </a:r>
            <a:r>
              <a:rPr dirty="0"/>
              <a:t> : le </a:t>
            </a:r>
            <a:r>
              <a:rPr dirty="0" err="1"/>
              <a:t>contexte</a:t>
            </a:r>
            <a:r>
              <a:rPr dirty="0"/>
              <a:t> externe — les </a:t>
            </a:r>
            <a:r>
              <a:rPr dirty="0" err="1"/>
              <a:t>enquêtes</a:t>
            </a:r>
            <a:r>
              <a:rPr dirty="0"/>
              <a:t> </a:t>
            </a:r>
            <a:r>
              <a:rPr dirty="0" err="1"/>
              <a:t>nationales</a:t>
            </a:r>
            <a:r>
              <a:rPr dirty="0"/>
              <a:t> — est </a:t>
            </a:r>
            <a:r>
              <a:rPr dirty="0" err="1"/>
              <a:t>sourcé</a:t>
            </a:r>
            <a:r>
              <a:rPr dirty="0"/>
              <a:t> et </a:t>
            </a:r>
            <a:r>
              <a:rPr dirty="0" err="1"/>
              <a:t>séparé</a:t>
            </a:r>
            <a:r>
              <a:rPr dirty="0"/>
              <a:t>. Il </a:t>
            </a:r>
            <a:r>
              <a:rPr dirty="0" err="1"/>
              <a:t>éclaire</a:t>
            </a:r>
            <a:r>
              <a:rPr dirty="0"/>
              <a:t>, il ne se mélange pas.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Premier temps de la </a:t>
            </a:r>
            <a:r>
              <a:rPr dirty="0" err="1"/>
              <a:t>méthode</a:t>
            </a:r>
            <a:r>
              <a:rPr dirty="0"/>
              <a:t> : lire </a:t>
            </a:r>
            <a:r>
              <a:rPr dirty="0" err="1"/>
              <a:t>réellement</a:t>
            </a:r>
            <a:r>
              <a:rPr dirty="0"/>
              <a:t> les </a:t>
            </a:r>
            <a:r>
              <a:rPr dirty="0" err="1"/>
              <a:t>fichiers</a:t>
            </a:r>
            <a:r>
              <a:rPr dirty="0"/>
              <a:t>. Cela </a:t>
            </a:r>
            <a:r>
              <a:rPr dirty="0" err="1"/>
              <a:t>paraît</a:t>
            </a:r>
            <a:r>
              <a:rPr dirty="0"/>
              <a:t> </a:t>
            </a:r>
            <a:r>
              <a:rPr dirty="0" err="1"/>
              <a:t>évident</a:t>
            </a:r>
            <a:r>
              <a:rPr dirty="0"/>
              <a:t>, </a:t>
            </a:r>
            <a:r>
              <a:rPr dirty="0" err="1"/>
              <a:t>c'est</a:t>
            </a:r>
            <a:r>
              <a:rPr dirty="0"/>
              <a:t> </a:t>
            </a:r>
            <a:r>
              <a:rPr dirty="0" err="1"/>
              <a:t>pourtant</a:t>
            </a:r>
            <a:r>
              <a:rPr dirty="0"/>
              <a:t> </a:t>
            </a:r>
            <a:r>
              <a:rPr dirty="0" err="1"/>
              <a:t>l'étape</a:t>
            </a:r>
            <a:r>
              <a:rPr dirty="0"/>
              <a:t> </a:t>
            </a:r>
            <a:r>
              <a:rPr dirty="0" err="1"/>
              <a:t>qu'on</a:t>
            </a:r>
            <a:r>
              <a:rPr dirty="0"/>
              <a:t> </a:t>
            </a:r>
            <a:r>
              <a:rPr dirty="0" err="1"/>
              <a:t>saute</a:t>
            </a:r>
            <a:r>
              <a:rPr dirty="0"/>
              <a:t> le plus </a:t>
            </a:r>
            <a:r>
              <a:rPr dirty="0" err="1"/>
              <a:t>souvent</a:t>
            </a:r>
            <a:r>
              <a:rPr dirty="0"/>
              <a:t>.</a:t>
            </a:r>
          </a:p>
          <a:p>
            <a:endParaRPr lang="fr-FR" dirty="0"/>
          </a:p>
          <a:p>
            <a:r>
              <a:rPr dirty="0"/>
              <a:t>Le jeu des formations techniques est </a:t>
            </a:r>
            <a:r>
              <a:rPr dirty="0" err="1"/>
              <a:t>livré</a:t>
            </a:r>
            <a:r>
              <a:rPr dirty="0"/>
              <a:t> avec son </a:t>
            </a:r>
            <a:r>
              <a:rPr dirty="0" err="1"/>
              <a:t>dictionnaire</a:t>
            </a:r>
            <a:r>
              <a:rPr dirty="0"/>
              <a:t> de </a:t>
            </a:r>
            <a:r>
              <a:rPr dirty="0" err="1"/>
              <a:t>métadonnées</a:t>
            </a:r>
            <a:r>
              <a:rPr dirty="0"/>
              <a:t>. Le </a:t>
            </a:r>
            <a:r>
              <a:rPr dirty="0" err="1"/>
              <a:t>dictionnaire</a:t>
            </a:r>
            <a:r>
              <a:rPr dirty="0"/>
              <a:t> </a:t>
            </a:r>
            <a:r>
              <a:rPr dirty="0" err="1"/>
              <a:t>décrit</a:t>
            </a:r>
            <a:r>
              <a:rPr dirty="0"/>
              <a:t> deux cent seize champs ; le </a:t>
            </a:r>
            <a:r>
              <a:rPr dirty="0" err="1"/>
              <a:t>fichier</a:t>
            </a:r>
            <a:r>
              <a:rPr dirty="0"/>
              <a:t> </a:t>
            </a:r>
            <a:r>
              <a:rPr dirty="0" err="1"/>
              <a:t>diffusé</a:t>
            </a:r>
            <a:r>
              <a:rPr dirty="0"/>
              <a:t> </a:t>
            </a:r>
            <a:r>
              <a:rPr dirty="0" err="1"/>
              <a:t>en</a:t>
            </a:r>
            <a:r>
              <a:rPr dirty="0"/>
              <a:t> </a:t>
            </a:r>
            <a:r>
              <a:rPr dirty="0" err="1"/>
              <a:t>publie</a:t>
            </a:r>
            <a:r>
              <a:rPr dirty="0"/>
              <a:t> seize.</a:t>
            </a:r>
          </a:p>
          <a:p>
            <a:endParaRPr lang="fr-FR" dirty="0"/>
          </a:p>
          <a:p>
            <a:r>
              <a:rPr dirty="0"/>
              <a:t>Deux cent un champs </a:t>
            </a:r>
            <a:r>
              <a:rPr dirty="0" err="1"/>
              <a:t>ont</a:t>
            </a:r>
            <a:r>
              <a:rPr dirty="0"/>
              <a:t> </a:t>
            </a:r>
            <a:r>
              <a:rPr dirty="0" err="1"/>
              <a:t>donc</a:t>
            </a:r>
            <a:r>
              <a:rPr dirty="0"/>
              <a:t> </a:t>
            </a:r>
            <a:r>
              <a:rPr dirty="0" err="1"/>
              <a:t>été</a:t>
            </a:r>
            <a:r>
              <a:rPr dirty="0"/>
              <a:t> </a:t>
            </a:r>
            <a:r>
              <a:rPr dirty="0" err="1"/>
              <a:t>collectés</a:t>
            </a:r>
            <a:r>
              <a:rPr dirty="0"/>
              <a:t> et ne </a:t>
            </a:r>
            <a:r>
              <a:rPr dirty="0" err="1"/>
              <a:t>sont</a:t>
            </a:r>
            <a:r>
              <a:rPr dirty="0"/>
              <a:t> pas </a:t>
            </a:r>
            <a:r>
              <a:rPr dirty="0" err="1"/>
              <a:t>ouverts</a:t>
            </a:r>
            <a:r>
              <a:rPr dirty="0"/>
              <a:t> — </a:t>
            </a:r>
            <a:r>
              <a:rPr dirty="0" err="1"/>
              <a:t>dont</a:t>
            </a:r>
            <a:r>
              <a:rPr dirty="0"/>
              <a:t> le </a:t>
            </a:r>
            <a:r>
              <a:rPr dirty="0" err="1"/>
              <a:t>nombre</a:t>
            </a:r>
            <a:r>
              <a:rPr dirty="0"/>
              <a:t> </a:t>
            </a:r>
            <a:r>
              <a:rPr dirty="0" err="1"/>
              <a:t>d'élèves</a:t>
            </a:r>
            <a:r>
              <a:rPr dirty="0"/>
              <a:t> et le </a:t>
            </a:r>
            <a:r>
              <a:rPr dirty="0" err="1"/>
              <a:t>nombre</a:t>
            </a:r>
            <a:r>
              <a:rPr dirty="0"/>
              <a:t> </a:t>
            </a:r>
            <a:r>
              <a:rPr dirty="0" err="1"/>
              <a:t>d'enseignants</a:t>
            </a:r>
            <a:r>
              <a:rPr dirty="0"/>
              <a:t>. </a:t>
            </a:r>
            <a:r>
              <a:rPr dirty="0" err="1"/>
              <a:t>C'est</a:t>
            </a:r>
            <a:r>
              <a:rPr dirty="0"/>
              <a:t> le </a:t>
            </a:r>
            <a:r>
              <a:rPr dirty="0" err="1"/>
              <a:t>dictionnaire</a:t>
            </a:r>
            <a:r>
              <a:rPr dirty="0"/>
              <a:t> </a:t>
            </a:r>
            <a:r>
              <a:rPr dirty="0" err="1"/>
              <a:t>lui-même</a:t>
            </a:r>
            <a:r>
              <a:rPr dirty="0"/>
              <a:t> qui le </a:t>
            </a:r>
            <a:r>
              <a:rPr dirty="0" err="1"/>
              <a:t>prouve</a:t>
            </a:r>
            <a:r>
              <a:rPr dirty="0"/>
              <a:t>, et </a:t>
            </a:r>
            <a:r>
              <a:rPr dirty="0" err="1"/>
              <a:t>c'est</a:t>
            </a:r>
            <a:r>
              <a:rPr dirty="0"/>
              <a:t> pour </a:t>
            </a:r>
            <a:r>
              <a:rPr dirty="0" err="1"/>
              <a:t>ça</a:t>
            </a:r>
            <a:r>
              <a:rPr dirty="0"/>
              <a:t> </a:t>
            </a:r>
            <a:r>
              <a:rPr dirty="0" err="1"/>
              <a:t>qu'il</a:t>
            </a:r>
            <a:r>
              <a:rPr dirty="0"/>
              <a:t> faut </a:t>
            </a:r>
            <a:r>
              <a:rPr dirty="0" err="1"/>
              <a:t>l'ouvrir</a:t>
            </a:r>
            <a:r>
              <a:rPr dirty="0"/>
              <a:t>.</a:t>
            </a:r>
            <a:endParaRPr lang="fr-FR" dirty="0"/>
          </a:p>
          <a:p>
            <a:endParaRPr dirty="0"/>
          </a:p>
          <a:p>
            <a:r>
              <a:rPr dirty="0"/>
              <a:t>Deuxième point : le </a:t>
            </a:r>
            <a:r>
              <a:rPr dirty="0" err="1"/>
              <a:t>fichier</a:t>
            </a:r>
            <a:r>
              <a:rPr dirty="0"/>
              <a:t> du supérieur se </a:t>
            </a:r>
            <a:r>
              <a:rPr dirty="0" err="1"/>
              <a:t>contredit</a:t>
            </a:r>
            <a:r>
              <a:rPr dirty="0"/>
              <a:t>. Sa </a:t>
            </a:r>
            <a:r>
              <a:rPr dirty="0" err="1"/>
              <a:t>ligne</a:t>
            </a:r>
            <a:r>
              <a:rPr dirty="0"/>
              <a:t> de total </a:t>
            </a:r>
            <a:r>
              <a:rPr dirty="0" err="1"/>
              <a:t>dit</a:t>
            </a:r>
            <a:r>
              <a:rPr dirty="0"/>
              <a:t> quatorze </a:t>
            </a:r>
            <a:r>
              <a:rPr dirty="0" err="1"/>
              <a:t>établissements</a:t>
            </a:r>
            <a:r>
              <a:rPr dirty="0"/>
              <a:t> </a:t>
            </a:r>
            <a:r>
              <a:rPr dirty="0" err="1"/>
              <a:t>privés</a:t>
            </a:r>
            <a:r>
              <a:rPr dirty="0"/>
              <a:t>, le </a:t>
            </a:r>
            <a:r>
              <a:rPr dirty="0" err="1"/>
              <a:t>détail</a:t>
            </a:r>
            <a:r>
              <a:rPr dirty="0"/>
              <a:t> par </a:t>
            </a:r>
            <a:r>
              <a:rPr dirty="0" err="1"/>
              <a:t>ville</a:t>
            </a:r>
            <a:r>
              <a:rPr dirty="0"/>
              <a:t> </a:t>
            </a:r>
            <a:r>
              <a:rPr dirty="0" err="1"/>
              <a:t>en</a:t>
            </a:r>
            <a:r>
              <a:rPr dirty="0"/>
              <a:t> compte </a:t>
            </a:r>
            <a:r>
              <a:rPr dirty="0" err="1"/>
              <a:t>soixante</a:t>
            </a:r>
            <a:r>
              <a:rPr dirty="0"/>
              <a:t>-cinq. </a:t>
            </a:r>
            <a:r>
              <a:rPr dirty="0" err="1"/>
              <a:t>J'ai</a:t>
            </a:r>
            <a:r>
              <a:rPr dirty="0"/>
              <a:t> </a:t>
            </a:r>
            <a:r>
              <a:rPr dirty="0" err="1"/>
              <a:t>retenu</a:t>
            </a:r>
            <a:r>
              <a:rPr dirty="0"/>
              <a:t> le </a:t>
            </a:r>
            <a:r>
              <a:rPr dirty="0" err="1"/>
              <a:t>détail</a:t>
            </a:r>
            <a:r>
              <a:rPr dirty="0"/>
              <a:t>. </a:t>
            </a:r>
            <a:r>
              <a:rPr dirty="0" err="1"/>
              <a:t>C'est</a:t>
            </a:r>
            <a:r>
              <a:rPr dirty="0"/>
              <a:t> un choix, il est </a:t>
            </a:r>
            <a:r>
              <a:rPr dirty="0" err="1"/>
              <a:t>écrit</a:t>
            </a:r>
            <a:r>
              <a:rPr dirty="0"/>
              <a:t>, et je </a:t>
            </a:r>
            <a:r>
              <a:rPr dirty="0" err="1"/>
              <a:t>peux</a:t>
            </a:r>
            <a:r>
              <a:rPr dirty="0"/>
              <a:t> </a:t>
            </a:r>
            <a:r>
              <a:rPr dirty="0" err="1"/>
              <a:t>en</a:t>
            </a:r>
            <a:r>
              <a:rPr dirty="0"/>
              <a:t> </a:t>
            </a:r>
            <a:r>
              <a:rPr dirty="0" err="1"/>
              <a:t>discuter</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Deuxième temps : les </a:t>
            </a:r>
            <a:r>
              <a:rPr dirty="0" err="1"/>
              <a:t>outils</a:t>
            </a:r>
            <a:r>
              <a:rPr dirty="0"/>
              <a:t>. Il y </a:t>
            </a:r>
            <a:r>
              <a:rPr dirty="0" err="1"/>
              <a:t>en</a:t>
            </a:r>
            <a:r>
              <a:rPr dirty="0"/>
              <a:t> a sept, et chacun a </a:t>
            </a:r>
            <a:r>
              <a:rPr dirty="0" err="1"/>
              <a:t>été</a:t>
            </a:r>
            <a:r>
              <a:rPr dirty="0"/>
              <a:t> </a:t>
            </a:r>
            <a:r>
              <a:rPr dirty="0" err="1"/>
              <a:t>choisi</a:t>
            </a:r>
            <a:r>
              <a:rPr dirty="0"/>
              <a:t> pour </a:t>
            </a:r>
            <a:r>
              <a:rPr dirty="0" err="1"/>
              <a:t>ce</a:t>
            </a:r>
            <a:r>
              <a:rPr dirty="0"/>
              <a:t> </a:t>
            </a:r>
            <a:r>
              <a:rPr dirty="0" err="1"/>
              <a:t>qu'il</a:t>
            </a:r>
            <a:r>
              <a:rPr dirty="0"/>
              <a:t> </a:t>
            </a:r>
            <a:r>
              <a:rPr dirty="0" err="1"/>
              <a:t>peut</a:t>
            </a:r>
            <a:r>
              <a:rPr dirty="0"/>
              <a:t> </a:t>
            </a:r>
            <a:r>
              <a:rPr dirty="0" err="1"/>
              <a:t>établir</a:t>
            </a:r>
            <a:r>
              <a:rPr dirty="0"/>
              <a:t>.</a:t>
            </a:r>
          </a:p>
          <a:p>
            <a:r>
              <a:rPr dirty="0"/>
              <a:t>Les </a:t>
            </a:r>
            <a:r>
              <a:rPr dirty="0" err="1"/>
              <a:t>régressions</a:t>
            </a:r>
            <a:r>
              <a:rPr dirty="0"/>
              <a:t> ne </a:t>
            </a:r>
            <a:r>
              <a:rPr dirty="0" err="1"/>
              <a:t>sont</a:t>
            </a:r>
            <a:r>
              <a:rPr dirty="0"/>
              <a:t> jamais </a:t>
            </a:r>
            <a:r>
              <a:rPr dirty="0" err="1"/>
              <a:t>publiées</a:t>
            </a:r>
            <a:r>
              <a:rPr dirty="0"/>
              <a:t> avec la </a:t>
            </a:r>
            <a:r>
              <a:rPr dirty="0" err="1"/>
              <a:t>seule</a:t>
            </a:r>
            <a:r>
              <a:rPr dirty="0"/>
              <a:t> </a:t>
            </a:r>
            <a:r>
              <a:rPr dirty="0" err="1"/>
              <a:t>pente</a:t>
            </a:r>
            <a:r>
              <a:rPr dirty="0"/>
              <a:t> : </a:t>
            </a:r>
            <a:r>
              <a:rPr dirty="0" err="1"/>
              <a:t>toujours</a:t>
            </a:r>
            <a:r>
              <a:rPr dirty="0"/>
              <a:t> avec le R carré, la p-value et </a:t>
            </a:r>
            <a:r>
              <a:rPr dirty="0" err="1"/>
              <a:t>l'intervalle</a:t>
            </a:r>
            <a:r>
              <a:rPr dirty="0"/>
              <a:t> de </a:t>
            </a:r>
            <a:r>
              <a:rPr dirty="0" err="1"/>
              <a:t>confiance</a:t>
            </a:r>
            <a:r>
              <a:rPr dirty="0"/>
              <a:t>. </a:t>
            </a:r>
            <a:r>
              <a:rPr dirty="0" err="1"/>
              <a:t>C'est</a:t>
            </a:r>
            <a:r>
              <a:rPr dirty="0"/>
              <a:t> </a:t>
            </a:r>
            <a:r>
              <a:rPr dirty="0" err="1"/>
              <a:t>ce</a:t>
            </a:r>
            <a:r>
              <a:rPr dirty="0"/>
              <a:t> qui </a:t>
            </a:r>
            <a:r>
              <a:rPr dirty="0" err="1"/>
              <a:t>permet</a:t>
            </a:r>
            <a:r>
              <a:rPr dirty="0"/>
              <a:t> de dire « </a:t>
            </a:r>
            <a:r>
              <a:rPr dirty="0" err="1"/>
              <a:t>ce</a:t>
            </a:r>
            <a:r>
              <a:rPr dirty="0"/>
              <a:t> </a:t>
            </a:r>
            <a:r>
              <a:rPr dirty="0" err="1"/>
              <a:t>résultat</a:t>
            </a:r>
            <a:r>
              <a:rPr dirty="0"/>
              <a:t> ne </a:t>
            </a:r>
            <a:r>
              <a:rPr dirty="0" err="1"/>
              <a:t>conclut</a:t>
            </a:r>
            <a:r>
              <a:rPr dirty="0"/>
              <a:t> pas ».</a:t>
            </a:r>
          </a:p>
          <a:p>
            <a:r>
              <a:rPr dirty="0"/>
              <a:t>Je </a:t>
            </a:r>
            <a:r>
              <a:rPr dirty="0" err="1"/>
              <a:t>mesure</a:t>
            </a:r>
            <a:r>
              <a:rPr dirty="0"/>
              <a:t> la </a:t>
            </a:r>
            <a:r>
              <a:rPr dirty="0" err="1"/>
              <a:t>corrélation</a:t>
            </a:r>
            <a:r>
              <a:rPr dirty="0"/>
              <a:t> deux </a:t>
            </a:r>
            <a:r>
              <a:rPr dirty="0" err="1"/>
              <a:t>fois</a:t>
            </a:r>
            <a:r>
              <a:rPr dirty="0"/>
              <a:t>, </a:t>
            </a:r>
            <a:r>
              <a:rPr dirty="0" err="1"/>
              <a:t>en</a:t>
            </a:r>
            <a:r>
              <a:rPr dirty="0"/>
              <a:t> Pearson et </a:t>
            </a:r>
            <a:r>
              <a:rPr dirty="0" err="1"/>
              <a:t>en</a:t>
            </a:r>
            <a:r>
              <a:rPr dirty="0"/>
              <a:t> Spearman. Quand les deux </a:t>
            </a:r>
            <a:r>
              <a:rPr dirty="0" err="1"/>
              <a:t>s'écartent</a:t>
            </a:r>
            <a:r>
              <a:rPr dirty="0"/>
              <a:t>, </a:t>
            </a:r>
            <a:r>
              <a:rPr dirty="0" err="1"/>
              <a:t>c'est</a:t>
            </a:r>
            <a:r>
              <a:rPr dirty="0"/>
              <a:t> </a:t>
            </a:r>
            <a:r>
              <a:rPr dirty="0" err="1"/>
              <a:t>que</a:t>
            </a:r>
            <a:r>
              <a:rPr dirty="0"/>
              <a:t> la relation </a:t>
            </a:r>
            <a:r>
              <a:rPr dirty="0" err="1"/>
              <a:t>existe</a:t>
            </a:r>
            <a:r>
              <a:rPr dirty="0"/>
              <a:t> </a:t>
            </a:r>
            <a:r>
              <a:rPr dirty="0" err="1"/>
              <a:t>mais</a:t>
            </a:r>
            <a:r>
              <a:rPr dirty="0"/>
              <a:t> </a:t>
            </a:r>
            <a:r>
              <a:rPr dirty="0" err="1"/>
              <a:t>n'est</a:t>
            </a:r>
            <a:r>
              <a:rPr dirty="0"/>
              <a:t> pas </a:t>
            </a:r>
            <a:r>
              <a:rPr dirty="0" err="1"/>
              <a:t>linéaire</a:t>
            </a:r>
            <a:r>
              <a:rPr dirty="0"/>
              <a:t> — et </a:t>
            </a:r>
            <a:r>
              <a:rPr dirty="0" err="1"/>
              <a:t>cet</a:t>
            </a:r>
            <a:r>
              <a:rPr dirty="0"/>
              <a:t> </a:t>
            </a:r>
            <a:r>
              <a:rPr dirty="0" err="1"/>
              <a:t>écart</a:t>
            </a:r>
            <a:r>
              <a:rPr dirty="0"/>
              <a:t> est </a:t>
            </a:r>
            <a:r>
              <a:rPr dirty="0" err="1"/>
              <a:t>une</a:t>
            </a:r>
            <a:r>
              <a:rPr dirty="0"/>
              <a:t> information, pas un </a:t>
            </a:r>
            <a:r>
              <a:rPr dirty="0" err="1"/>
              <a:t>défaut</a:t>
            </a:r>
            <a:r>
              <a:rPr dirty="0"/>
              <a:t>.</a:t>
            </a:r>
          </a:p>
          <a:p>
            <a:r>
              <a:rPr dirty="0"/>
              <a:t>Pour la concentration </a:t>
            </a:r>
            <a:r>
              <a:rPr dirty="0" err="1"/>
              <a:t>territoriale</a:t>
            </a:r>
            <a:r>
              <a:rPr dirty="0"/>
              <a:t> </a:t>
            </a:r>
            <a:r>
              <a:rPr dirty="0" err="1"/>
              <a:t>j'utilise</a:t>
            </a:r>
            <a:r>
              <a:rPr dirty="0"/>
              <a:t> deux indices, Herfindahl et Gini, </a:t>
            </a:r>
            <a:r>
              <a:rPr dirty="0" err="1"/>
              <a:t>parce</a:t>
            </a:r>
            <a:r>
              <a:rPr dirty="0"/>
              <a:t> </a:t>
            </a:r>
            <a:r>
              <a:rPr dirty="0" err="1"/>
              <a:t>qu'ils</a:t>
            </a:r>
            <a:r>
              <a:rPr dirty="0"/>
              <a:t> ne </a:t>
            </a:r>
            <a:r>
              <a:rPr dirty="0" err="1"/>
              <a:t>disent</a:t>
            </a:r>
            <a:r>
              <a:rPr dirty="0"/>
              <a:t> pas la </a:t>
            </a:r>
            <a:r>
              <a:rPr dirty="0" err="1"/>
              <a:t>même</a:t>
            </a:r>
            <a:r>
              <a:rPr dirty="0"/>
              <a:t> chose : </a:t>
            </a:r>
            <a:r>
              <a:rPr dirty="0" err="1"/>
              <a:t>l'un</a:t>
            </a:r>
            <a:r>
              <a:rPr dirty="0"/>
              <a:t> est sensible aux gros, </a:t>
            </a:r>
            <a:r>
              <a:rPr dirty="0" err="1"/>
              <a:t>l'autre</a:t>
            </a:r>
            <a:r>
              <a:rPr dirty="0"/>
              <a:t> à toute la distribution.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Troisième</a:t>
            </a:r>
            <a:r>
              <a:rPr dirty="0"/>
              <a:t> temps : les </a:t>
            </a:r>
            <a:r>
              <a:rPr dirty="0" err="1"/>
              <a:t>croisements</a:t>
            </a:r>
            <a:r>
              <a:rPr dirty="0"/>
              <a:t>. Il y </a:t>
            </a:r>
            <a:r>
              <a:rPr dirty="0" err="1"/>
              <a:t>en</a:t>
            </a:r>
            <a:r>
              <a:rPr dirty="0"/>
              <a:t> a six, et </a:t>
            </a:r>
            <a:r>
              <a:rPr dirty="0" err="1"/>
              <a:t>j'ai</a:t>
            </a:r>
            <a:r>
              <a:rPr dirty="0"/>
              <a:t> </a:t>
            </a:r>
            <a:r>
              <a:rPr dirty="0" err="1"/>
              <a:t>emprunté</a:t>
            </a:r>
            <a:r>
              <a:rPr dirty="0"/>
              <a:t> au </a:t>
            </a:r>
            <a:r>
              <a:rPr dirty="0" err="1"/>
              <a:t>vocabulaire</a:t>
            </a:r>
            <a:r>
              <a:rPr dirty="0"/>
              <a:t> de la cuisine : chacun est </a:t>
            </a:r>
            <a:r>
              <a:rPr dirty="0" err="1"/>
              <a:t>une</a:t>
            </a:r>
            <a:r>
              <a:rPr dirty="0"/>
              <a:t> </a:t>
            </a:r>
            <a:r>
              <a:rPr dirty="0" err="1"/>
              <a:t>recette</a:t>
            </a:r>
            <a:r>
              <a:rPr dirty="0"/>
              <a:t> qui </a:t>
            </a:r>
            <a:r>
              <a:rPr dirty="0" err="1"/>
              <a:t>déclare</a:t>
            </a:r>
            <a:r>
              <a:rPr dirty="0"/>
              <a:t> </a:t>
            </a:r>
            <a:r>
              <a:rPr dirty="0" err="1"/>
              <a:t>ses</a:t>
            </a:r>
            <a:r>
              <a:rPr dirty="0"/>
              <a:t> </a:t>
            </a:r>
            <a:r>
              <a:rPr dirty="0" err="1"/>
              <a:t>ingrédients</a:t>
            </a:r>
            <a:r>
              <a:rPr dirty="0"/>
              <a:t>.</a:t>
            </a:r>
          </a:p>
          <a:p>
            <a:r>
              <a:rPr dirty="0" err="1"/>
              <a:t>Concrètement</a:t>
            </a:r>
            <a:r>
              <a:rPr dirty="0"/>
              <a:t>, </a:t>
            </a:r>
            <a:r>
              <a:rPr dirty="0" err="1"/>
              <a:t>quand</a:t>
            </a:r>
            <a:r>
              <a:rPr dirty="0"/>
              <a:t> vous </a:t>
            </a:r>
            <a:r>
              <a:rPr dirty="0" err="1"/>
              <a:t>ouvrez</a:t>
            </a:r>
            <a:r>
              <a:rPr dirty="0"/>
              <a:t> un </a:t>
            </a:r>
            <a:r>
              <a:rPr dirty="0" err="1"/>
              <a:t>croisement</a:t>
            </a:r>
            <a:r>
              <a:rPr dirty="0"/>
              <a:t> dans le tableau de bord, il vous </a:t>
            </a:r>
            <a:r>
              <a:rPr dirty="0" err="1"/>
              <a:t>dit</a:t>
            </a:r>
            <a:r>
              <a:rPr dirty="0"/>
              <a:t> : </a:t>
            </a:r>
            <a:r>
              <a:rPr dirty="0" err="1"/>
              <a:t>voici</a:t>
            </a:r>
            <a:r>
              <a:rPr dirty="0"/>
              <a:t> les deux </a:t>
            </a:r>
            <a:r>
              <a:rPr dirty="0" err="1"/>
              <a:t>fichiers</a:t>
            </a:r>
            <a:r>
              <a:rPr dirty="0"/>
              <a:t> </a:t>
            </a:r>
            <a:r>
              <a:rPr dirty="0" err="1"/>
              <a:t>utilisés</a:t>
            </a:r>
            <a:r>
              <a:rPr dirty="0"/>
              <a:t>, </a:t>
            </a:r>
            <a:r>
              <a:rPr dirty="0" err="1"/>
              <a:t>voici</a:t>
            </a:r>
            <a:r>
              <a:rPr dirty="0"/>
              <a:t> la </a:t>
            </a:r>
            <a:r>
              <a:rPr dirty="0" err="1"/>
              <a:t>clé</a:t>
            </a:r>
            <a:r>
              <a:rPr dirty="0"/>
              <a:t> de jointure — </a:t>
            </a:r>
            <a:r>
              <a:rPr dirty="0" err="1"/>
              <a:t>presque</a:t>
            </a:r>
            <a:r>
              <a:rPr dirty="0"/>
              <a:t> </a:t>
            </a:r>
            <a:r>
              <a:rPr dirty="0" err="1"/>
              <a:t>toujours</a:t>
            </a:r>
            <a:r>
              <a:rPr dirty="0"/>
              <a:t> </a:t>
            </a:r>
            <a:r>
              <a:rPr dirty="0" err="1"/>
              <a:t>l'année</a:t>
            </a:r>
            <a:r>
              <a:rPr dirty="0"/>
              <a:t> —, et </a:t>
            </a:r>
            <a:r>
              <a:rPr dirty="0" err="1"/>
              <a:t>voici</a:t>
            </a:r>
            <a:r>
              <a:rPr dirty="0"/>
              <a:t> le </a:t>
            </a:r>
            <a:r>
              <a:rPr dirty="0" err="1"/>
              <a:t>nombre</a:t>
            </a:r>
            <a:r>
              <a:rPr dirty="0"/>
              <a:t> </a:t>
            </a:r>
            <a:r>
              <a:rPr dirty="0" err="1"/>
              <a:t>d'observations</a:t>
            </a:r>
            <a:r>
              <a:rPr dirty="0"/>
              <a:t> qui </a:t>
            </a:r>
            <a:r>
              <a:rPr dirty="0" err="1"/>
              <a:t>survivent</a:t>
            </a:r>
            <a:r>
              <a:rPr dirty="0"/>
              <a:t> à </a:t>
            </a:r>
            <a:r>
              <a:rPr dirty="0" err="1"/>
              <a:t>cette</a:t>
            </a:r>
            <a:r>
              <a:rPr dirty="0"/>
              <a:t> jointure.</a:t>
            </a:r>
          </a:p>
          <a:p>
            <a:r>
              <a:rPr dirty="0" err="1"/>
              <a:t>Pourquoi</a:t>
            </a:r>
            <a:r>
              <a:rPr dirty="0"/>
              <a:t> </a:t>
            </a:r>
            <a:r>
              <a:rPr dirty="0" err="1"/>
              <a:t>c'est</a:t>
            </a:r>
            <a:r>
              <a:rPr dirty="0"/>
              <a:t> important : deux </a:t>
            </a:r>
            <a:r>
              <a:rPr dirty="0" err="1"/>
              <a:t>séries</a:t>
            </a:r>
            <a:r>
              <a:rPr dirty="0"/>
              <a:t> qui se </a:t>
            </a:r>
            <a:r>
              <a:rPr dirty="0" err="1"/>
              <a:t>recouvrent</a:t>
            </a:r>
            <a:r>
              <a:rPr dirty="0"/>
              <a:t> sur cinq </a:t>
            </a:r>
            <a:r>
              <a:rPr dirty="0" err="1"/>
              <a:t>ans</a:t>
            </a:r>
            <a:r>
              <a:rPr dirty="0"/>
              <a:t> ne </a:t>
            </a:r>
            <a:r>
              <a:rPr dirty="0" err="1"/>
              <a:t>permettent</a:t>
            </a:r>
            <a:r>
              <a:rPr dirty="0"/>
              <a:t> pas les </a:t>
            </a:r>
            <a:r>
              <a:rPr dirty="0" err="1"/>
              <a:t>mêmes</a:t>
            </a:r>
            <a:r>
              <a:rPr dirty="0"/>
              <a:t> affirmations </a:t>
            </a:r>
            <a:r>
              <a:rPr dirty="0" err="1"/>
              <a:t>que</a:t>
            </a:r>
            <a:r>
              <a:rPr dirty="0"/>
              <a:t> deux </a:t>
            </a:r>
            <a:r>
              <a:rPr dirty="0" err="1"/>
              <a:t>séries</a:t>
            </a:r>
            <a:r>
              <a:rPr dirty="0"/>
              <a:t> qui se </a:t>
            </a:r>
            <a:r>
              <a:rPr dirty="0" err="1"/>
              <a:t>recouvrent</a:t>
            </a:r>
            <a:r>
              <a:rPr dirty="0"/>
              <a:t> sur </a:t>
            </a:r>
            <a:r>
              <a:rPr dirty="0" err="1"/>
              <a:t>vingt</a:t>
            </a:r>
            <a:r>
              <a:rPr dirty="0"/>
              <a:t>. Le </a:t>
            </a:r>
            <a:r>
              <a:rPr dirty="0" err="1"/>
              <a:t>lecteur</a:t>
            </a:r>
            <a:r>
              <a:rPr dirty="0"/>
              <a:t> doit voir </a:t>
            </a:r>
            <a:r>
              <a:rPr dirty="0" err="1"/>
              <a:t>ce</a:t>
            </a:r>
            <a:r>
              <a:rPr dirty="0"/>
              <a:t> </a:t>
            </a:r>
            <a:r>
              <a:rPr dirty="0" err="1"/>
              <a:t>nombre</a:t>
            </a:r>
            <a:r>
              <a:rPr dirty="0"/>
              <a:t>.</a:t>
            </a:r>
          </a:p>
          <a:p>
            <a:r>
              <a:rPr dirty="0"/>
              <a:t>Le </a:t>
            </a:r>
            <a:r>
              <a:rPr dirty="0" err="1"/>
              <a:t>croisement</a:t>
            </a:r>
            <a:r>
              <a:rPr dirty="0"/>
              <a:t> le plus </a:t>
            </a:r>
            <a:r>
              <a:rPr dirty="0" err="1"/>
              <a:t>parlant</a:t>
            </a:r>
            <a:r>
              <a:rPr dirty="0"/>
              <a:t> est le premier : </a:t>
            </a:r>
            <a:r>
              <a:rPr dirty="0" err="1"/>
              <a:t>accès</a:t>
            </a:r>
            <a:r>
              <a:rPr dirty="0"/>
              <a:t> </a:t>
            </a:r>
            <a:r>
              <a:rPr dirty="0" err="1"/>
              <a:t>contre</a:t>
            </a:r>
            <a:r>
              <a:rPr dirty="0"/>
              <a:t> moyens. Je vous le montre sur la </a:t>
            </a:r>
            <a:r>
              <a:rPr dirty="0" err="1"/>
              <a:t>planche</a:t>
            </a:r>
            <a:r>
              <a:rPr dirty="0"/>
              <a:t> </a:t>
            </a:r>
            <a:r>
              <a:rPr dirty="0" err="1"/>
              <a:t>suivante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Voici</a:t>
            </a:r>
            <a:r>
              <a:rPr dirty="0"/>
              <a:t> trois </a:t>
            </a:r>
            <a:r>
              <a:rPr dirty="0" err="1"/>
              <a:t>résultats</a:t>
            </a:r>
            <a:r>
              <a:rPr dirty="0"/>
              <a:t>, et je les </a:t>
            </a:r>
            <a:r>
              <a:rPr dirty="0" err="1"/>
              <a:t>donne</a:t>
            </a:r>
            <a:r>
              <a:rPr dirty="0"/>
              <a:t> surtout pour </a:t>
            </a:r>
            <a:r>
              <a:rPr dirty="0" err="1"/>
              <a:t>montrer</a:t>
            </a:r>
            <a:r>
              <a:rPr dirty="0"/>
              <a:t> le lien avec les </a:t>
            </a:r>
            <a:r>
              <a:rPr dirty="0" err="1"/>
              <a:t>outils</a:t>
            </a:r>
            <a:r>
              <a:rPr dirty="0"/>
              <a:t>.</a:t>
            </a:r>
          </a:p>
          <a:p>
            <a:r>
              <a:rPr dirty="0" err="1"/>
              <a:t>Soixante</a:t>
            </a:r>
            <a:r>
              <a:rPr dirty="0"/>
              <a:t> pour cent des </a:t>
            </a:r>
            <a:r>
              <a:rPr dirty="0" err="1"/>
              <a:t>établissements</a:t>
            </a:r>
            <a:r>
              <a:rPr dirty="0"/>
              <a:t> techniques </a:t>
            </a:r>
            <a:r>
              <a:rPr dirty="0" err="1"/>
              <a:t>sont</a:t>
            </a:r>
            <a:r>
              <a:rPr dirty="0"/>
              <a:t> dans </a:t>
            </a:r>
            <a:r>
              <a:rPr dirty="0" err="1"/>
              <a:t>une</a:t>
            </a:r>
            <a:r>
              <a:rPr dirty="0"/>
              <a:t> </a:t>
            </a:r>
            <a:r>
              <a:rPr dirty="0" err="1"/>
              <a:t>seule</a:t>
            </a:r>
            <a:r>
              <a:rPr dirty="0"/>
              <a:t> </a:t>
            </a:r>
            <a:r>
              <a:rPr dirty="0" err="1"/>
              <a:t>région</a:t>
            </a:r>
            <a:r>
              <a:rPr dirty="0"/>
              <a:t>, la Maritime. Herfindahl à </a:t>
            </a:r>
            <a:r>
              <a:rPr dirty="0" err="1"/>
              <a:t>zéro</a:t>
            </a:r>
            <a:r>
              <a:rPr dirty="0"/>
              <a:t> virgule </a:t>
            </a:r>
            <a:r>
              <a:rPr dirty="0" err="1"/>
              <a:t>quarante</a:t>
            </a:r>
            <a:r>
              <a:rPr dirty="0"/>
              <a:t>-et-un, Gini à </a:t>
            </a:r>
            <a:r>
              <a:rPr dirty="0" err="1"/>
              <a:t>zéro</a:t>
            </a:r>
            <a:r>
              <a:rPr dirty="0"/>
              <a:t> virgule </a:t>
            </a:r>
            <a:r>
              <a:rPr dirty="0" err="1"/>
              <a:t>quarante-huit</a:t>
            </a:r>
            <a:r>
              <a:rPr dirty="0"/>
              <a:t> : la concentration est forte, et </a:t>
            </a:r>
            <a:r>
              <a:rPr dirty="0" err="1"/>
              <a:t>mesurée</a:t>
            </a:r>
            <a:r>
              <a:rPr dirty="0"/>
              <a:t>, pas </a:t>
            </a:r>
            <a:r>
              <a:rPr dirty="0" err="1"/>
              <a:t>ressentie</a:t>
            </a:r>
            <a:r>
              <a:rPr dirty="0"/>
              <a:t>.</a:t>
            </a:r>
          </a:p>
          <a:p>
            <a:r>
              <a:rPr dirty="0"/>
              <a:t>Le deuxième est le plus important. </a:t>
            </a:r>
            <a:r>
              <a:rPr dirty="0" err="1"/>
              <a:t>Depuis</a:t>
            </a:r>
            <a:r>
              <a:rPr dirty="0"/>
              <a:t> 1998, </a:t>
            </a:r>
            <a:r>
              <a:rPr dirty="0" err="1"/>
              <a:t>l'accès</a:t>
            </a:r>
            <a:r>
              <a:rPr dirty="0"/>
              <a:t> au supérieur a </a:t>
            </a:r>
            <a:r>
              <a:rPr dirty="0" err="1"/>
              <a:t>été</a:t>
            </a:r>
            <a:r>
              <a:rPr dirty="0"/>
              <a:t> </a:t>
            </a:r>
            <a:r>
              <a:rPr dirty="0" err="1"/>
              <a:t>multiplié</a:t>
            </a:r>
            <a:r>
              <a:rPr dirty="0"/>
              <a:t> par quatre virgule sept, et la </a:t>
            </a:r>
            <a:r>
              <a:rPr dirty="0" err="1"/>
              <a:t>dépense</a:t>
            </a:r>
            <a:r>
              <a:rPr dirty="0"/>
              <a:t> publique par </a:t>
            </a:r>
            <a:r>
              <a:rPr dirty="0" err="1"/>
              <a:t>étudiant</a:t>
            </a:r>
            <a:r>
              <a:rPr dirty="0"/>
              <a:t> </a:t>
            </a:r>
            <a:r>
              <a:rPr dirty="0" err="1"/>
              <a:t>divisée</a:t>
            </a:r>
            <a:r>
              <a:rPr dirty="0"/>
              <a:t> par trois virgule six. </a:t>
            </a:r>
            <a:r>
              <a:rPr dirty="0" err="1"/>
              <a:t>C'est</a:t>
            </a:r>
            <a:r>
              <a:rPr dirty="0"/>
              <a:t> </a:t>
            </a:r>
            <a:r>
              <a:rPr dirty="0" err="1"/>
              <a:t>ce</a:t>
            </a:r>
            <a:r>
              <a:rPr dirty="0"/>
              <a:t> </a:t>
            </a:r>
            <a:r>
              <a:rPr dirty="0" err="1"/>
              <a:t>que</a:t>
            </a:r>
            <a:r>
              <a:rPr dirty="0"/>
              <a:t> </a:t>
            </a:r>
            <a:r>
              <a:rPr dirty="0" err="1"/>
              <a:t>j'appelle</a:t>
            </a:r>
            <a:r>
              <a:rPr dirty="0"/>
              <a:t> </a:t>
            </a:r>
            <a:r>
              <a:rPr dirty="0" err="1"/>
              <a:t>l'effet</a:t>
            </a:r>
            <a:r>
              <a:rPr dirty="0"/>
              <a:t> ciseaux.</a:t>
            </a:r>
          </a:p>
          <a:p>
            <a:r>
              <a:rPr dirty="0" err="1"/>
              <a:t>L'élasticité</a:t>
            </a:r>
            <a:r>
              <a:rPr dirty="0"/>
              <a:t> </a:t>
            </a:r>
            <a:r>
              <a:rPr dirty="0" err="1"/>
              <a:t>vaut</a:t>
            </a:r>
            <a:r>
              <a:rPr dirty="0"/>
              <a:t> </a:t>
            </a:r>
            <a:r>
              <a:rPr dirty="0" err="1"/>
              <a:t>moins</a:t>
            </a:r>
            <a:r>
              <a:rPr dirty="0"/>
              <a:t> </a:t>
            </a:r>
            <a:r>
              <a:rPr dirty="0" err="1"/>
              <a:t>zéro</a:t>
            </a:r>
            <a:r>
              <a:rPr dirty="0"/>
              <a:t> virgule quatre-</a:t>
            </a:r>
            <a:r>
              <a:rPr dirty="0" err="1"/>
              <a:t>vingt</a:t>
            </a:r>
            <a:r>
              <a:rPr dirty="0"/>
              <a:t>-six : </a:t>
            </a:r>
            <a:r>
              <a:rPr dirty="0" err="1"/>
              <a:t>quand</a:t>
            </a:r>
            <a:r>
              <a:rPr dirty="0"/>
              <a:t> </a:t>
            </a:r>
            <a:r>
              <a:rPr dirty="0" err="1"/>
              <a:t>l'accès</a:t>
            </a:r>
            <a:r>
              <a:rPr dirty="0"/>
              <a:t> </a:t>
            </a:r>
            <a:r>
              <a:rPr dirty="0" err="1"/>
              <a:t>augmente</a:t>
            </a:r>
            <a:r>
              <a:rPr dirty="0"/>
              <a:t> d'un pour cent, la </a:t>
            </a:r>
            <a:r>
              <a:rPr dirty="0" err="1"/>
              <a:t>dépense</a:t>
            </a:r>
            <a:r>
              <a:rPr dirty="0"/>
              <a:t> par </a:t>
            </a:r>
            <a:r>
              <a:rPr dirty="0" err="1"/>
              <a:t>étudiant</a:t>
            </a:r>
            <a:r>
              <a:rPr dirty="0"/>
              <a:t> </a:t>
            </a:r>
            <a:r>
              <a:rPr dirty="0" err="1"/>
              <a:t>recule</a:t>
            </a:r>
            <a:r>
              <a:rPr dirty="0"/>
              <a:t> de </a:t>
            </a:r>
            <a:r>
              <a:rPr dirty="0" err="1"/>
              <a:t>presque</a:t>
            </a:r>
            <a:r>
              <a:rPr dirty="0"/>
              <a:t> un pour cent. R carré de </a:t>
            </a:r>
            <a:r>
              <a:rPr dirty="0" err="1"/>
              <a:t>zéro</a:t>
            </a:r>
            <a:r>
              <a:rPr dirty="0"/>
              <a:t> virgule quatre-</a:t>
            </a:r>
            <a:r>
              <a:rPr dirty="0" err="1"/>
              <a:t>vingt</a:t>
            </a:r>
            <a:r>
              <a:rPr dirty="0"/>
              <a:t>-trois, p-value sous un pour </a:t>
            </a:r>
            <a:r>
              <a:rPr dirty="0" err="1"/>
              <a:t>mille</a:t>
            </a:r>
            <a:r>
              <a:rPr dirty="0"/>
              <a:t>.</a:t>
            </a:r>
          </a:p>
          <a:p>
            <a:r>
              <a:rPr dirty="0"/>
              <a:t>Et à droite, le </a:t>
            </a:r>
            <a:r>
              <a:rPr dirty="0" err="1"/>
              <a:t>contre-exemple</a:t>
            </a:r>
            <a:r>
              <a:rPr dirty="0"/>
              <a:t> </a:t>
            </a:r>
            <a:r>
              <a:rPr dirty="0" err="1"/>
              <a:t>que</a:t>
            </a:r>
            <a:r>
              <a:rPr dirty="0"/>
              <a:t> je </a:t>
            </a:r>
            <a:r>
              <a:rPr dirty="0" err="1"/>
              <a:t>tiens</a:t>
            </a:r>
            <a:r>
              <a:rPr dirty="0"/>
              <a:t> à </a:t>
            </a:r>
            <a:r>
              <a:rPr dirty="0" err="1"/>
              <a:t>montrer</a:t>
            </a:r>
            <a:r>
              <a:rPr dirty="0"/>
              <a:t> : le lien entre taille de </a:t>
            </a:r>
            <a:r>
              <a:rPr dirty="0" err="1"/>
              <a:t>l'enveloppe</a:t>
            </a:r>
            <a:r>
              <a:rPr dirty="0"/>
              <a:t> et </a:t>
            </a:r>
            <a:r>
              <a:rPr dirty="0" err="1"/>
              <a:t>taux</a:t>
            </a:r>
            <a:r>
              <a:rPr dirty="0"/>
              <a:t> </a:t>
            </a:r>
            <a:r>
              <a:rPr dirty="0" err="1"/>
              <a:t>d'exécution</a:t>
            </a:r>
            <a:r>
              <a:rPr dirty="0"/>
              <a:t>. La </a:t>
            </a:r>
            <a:r>
              <a:rPr dirty="0" err="1"/>
              <a:t>pente</a:t>
            </a:r>
            <a:r>
              <a:rPr dirty="0"/>
              <a:t> </a:t>
            </a:r>
            <a:r>
              <a:rPr dirty="0" err="1"/>
              <a:t>va</a:t>
            </a:r>
            <a:r>
              <a:rPr dirty="0"/>
              <a:t> dans le </a:t>
            </a:r>
            <a:r>
              <a:rPr dirty="0" err="1"/>
              <a:t>sens</a:t>
            </a:r>
            <a:r>
              <a:rPr dirty="0"/>
              <a:t> </a:t>
            </a:r>
            <a:r>
              <a:rPr dirty="0" err="1"/>
              <a:t>attendu</a:t>
            </a:r>
            <a:r>
              <a:rPr dirty="0"/>
              <a:t>, </a:t>
            </a:r>
            <a:r>
              <a:rPr dirty="0" err="1"/>
              <a:t>mais</a:t>
            </a:r>
            <a:r>
              <a:rPr dirty="0"/>
              <a:t> </a:t>
            </a:r>
            <a:r>
              <a:rPr dirty="0" err="1"/>
              <a:t>l'intervalle</a:t>
            </a:r>
            <a:r>
              <a:rPr dirty="0"/>
              <a:t> de </a:t>
            </a:r>
            <a:r>
              <a:rPr dirty="0" err="1"/>
              <a:t>confiance</a:t>
            </a:r>
            <a:r>
              <a:rPr dirty="0"/>
              <a:t> traverse </a:t>
            </a:r>
            <a:r>
              <a:rPr dirty="0" err="1"/>
              <a:t>zéro</a:t>
            </a:r>
            <a:r>
              <a:rPr dirty="0"/>
              <a:t>. Six </a:t>
            </a:r>
            <a:r>
              <a:rPr dirty="0" err="1"/>
              <a:t>années</a:t>
            </a:r>
            <a:r>
              <a:rPr dirty="0"/>
              <a:t>, </a:t>
            </a:r>
            <a:r>
              <a:rPr dirty="0" err="1"/>
              <a:t>c'est</a:t>
            </a:r>
            <a:r>
              <a:rPr dirty="0"/>
              <a:t> trop peu. Je </a:t>
            </a:r>
            <a:r>
              <a:rPr dirty="0" err="1"/>
              <a:t>publie</a:t>
            </a:r>
            <a:r>
              <a:rPr dirty="0"/>
              <a:t> le </a:t>
            </a:r>
            <a:r>
              <a:rPr dirty="0" err="1"/>
              <a:t>résultat</a:t>
            </a:r>
            <a:r>
              <a:rPr dirty="0"/>
              <a:t> </a:t>
            </a:r>
            <a:r>
              <a:rPr dirty="0" err="1"/>
              <a:t>en</a:t>
            </a:r>
            <a:r>
              <a:rPr dirty="0"/>
              <a:t> </a:t>
            </a:r>
            <a:r>
              <a:rPr dirty="0" err="1"/>
              <a:t>disant</a:t>
            </a:r>
            <a:r>
              <a:rPr dirty="0"/>
              <a:t> </a:t>
            </a:r>
            <a:r>
              <a:rPr dirty="0" err="1"/>
              <a:t>qu'il</a:t>
            </a:r>
            <a:r>
              <a:rPr dirty="0"/>
              <a:t> ne </a:t>
            </a:r>
            <a:r>
              <a:rPr dirty="0" err="1"/>
              <a:t>conclut</a:t>
            </a:r>
            <a:r>
              <a:rPr dirty="0"/>
              <a:t> pas.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Cette </a:t>
            </a:r>
            <a:r>
              <a:rPr dirty="0" err="1"/>
              <a:t>planche</a:t>
            </a:r>
            <a:r>
              <a:rPr dirty="0"/>
              <a:t> est </a:t>
            </a:r>
            <a:r>
              <a:rPr dirty="0" err="1"/>
              <a:t>celle</a:t>
            </a:r>
            <a:r>
              <a:rPr dirty="0"/>
              <a:t> à </a:t>
            </a:r>
            <a:r>
              <a:rPr dirty="0" err="1"/>
              <a:t>laquelle</a:t>
            </a:r>
            <a:r>
              <a:rPr dirty="0"/>
              <a:t> je </a:t>
            </a:r>
            <a:r>
              <a:rPr dirty="0" err="1"/>
              <a:t>tiens</a:t>
            </a:r>
            <a:r>
              <a:rPr dirty="0"/>
              <a:t> le plus.</a:t>
            </a:r>
          </a:p>
          <a:p>
            <a:r>
              <a:rPr dirty="0"/>
              <a:t>Il y a trois </a:t>
            </a:r>
            <a:r>
              <a:rPr dirty="0" err="1"/>
              <a:t>manques</a:t>
            </a:r>
            <a:r>
              <a:rPr dirty="0"/>
              <a:t> dans </a:t>
            </a:r>
            <a:r>
              <a:rPr dirty="0" err="1"/>
              <a:t>ce</a:t>
            </a:r>
            <a:r>
              <a:rPr dirty="0"/>
              <a:t> travail, et </a:t>
            </a:r>
            <a:r>
              <a:rPr dirty="0" err="1"/>
              <a:t>ils</a:t>
            </a:r>
            <a:r>
              <a:rPr dirty="0"/>
              <a:t> </a:t>
            </a:r>
            <a:r>
              <a:rPr dirty="0" err="1"/>
              <a:t>ont</a:t>
            </a:r>
            <a:r>
              <a:rPr dirty="0"/>
              <a:t> trois causes </a:t>
            </a:r>
            <a:r>
              <a:rPr dirty="0" err="1"/>
              <a:t>différentes</a:t>
            </a:r>
            <a:r>
              <a:rPr dirty="0"/>
              <a:t>. Les </a:t>
            </a:r>
            <a:r>
              <a:rPr dirty="0" err="1"/>
              <a:t>confondre</a:t>
            </a:r>
            <a:r>
              <a:rPr dirty="0"/>
              <a:t> </a:t>
            </a:r>
            <a:r>
              <a:rPr dirty="0" err="1"/>
              <a:t>mènerait</a:t>
            </a:r>
            <a:r>
              <a:rPr dirty="0"/>
              <a:t> à des </a:t>
            </a:r>
            <a:r>
              <a:rPr dirty="0" err="1"/>
              <a:t>recommandations</a:t>
            </a:r>
            <a:r>
              <a:rPr dirty="0"/>
              <a:t> </a:t>
            </a:r>
            <a:r>
              <a:rPr dirty="0" err="1"/>
              <a:t>fausses</a:t>
            </a:r>
            <a:r>
              <a:rPr dirty="0"/>
              <a:t>.</a:t>
            </a:r>
          </a:p>
          <a:p>
            <a:r>
              <a:rPr dirty="0"/>
              <a:t>Le premier : la donnée est </a:t>
            </a:r>
            <a:r>
              <a:rPr dirty="0" err="1"/>
              <a:t>collectée</a:t>
            </a:r>
            <a:r>
              <a:rPr dirty="0"/>
              <a:t> </a:t>
            </a:r>
            <a:r>
              <a:rPr dirty="0" err="1"/>
              <a:t>mais</a:t>
            </a:r>
            <a:r>
              <a:rPr dirty="0"/>
              <a:t> pas </a:t>
            </a:r>
            <a:r>
              <a:rPr dirty="0" err="1"/>
              <a:t>publiée</a:t>
            </a:r>
            <a:r>
              <a:rPr dirty="0"/>
              <a:t>. Deux cent un champs. Le </a:t>
            </a:r>
            <a:r>
              <a:rPr dirty="0" err="1"/>
              <a:t>remède</a:t>
            </a:r>
            <a:r>
              <a:rPr dirty="0"/>
              <a:t> </a:t>
            </a:r>
            <a:r>
              <a:rPr dirty="0" err="1"/>
              <a:t>coûte</a:t>
            </a:r>
            <a:r>
              <a:rPr dirty="0"/>
              <a:t> un export, pas </a:t>
            </a:r>
            <a:r>
              <a:rPr dirty="0" err="1"/>
              <a:t>une</a:t>
            </a:r>
            <a:r>
              <a:rPr dirty="0"/>
              <a:t> </a:t>
            </a:r>
            <a:r>
              <a:rPr dirty="0" err="1"/>
              <a:t>enquête</a:t>
            </a:r>
            <a:r>
              <a:rPr dirty="0"/>
              <a:t>.</a:t>
            </a:r>
          </a:p>
          <a:p>
            <a:r>
              <a:rPr dirty="0"/>
              <a:t>Le deuxième : la donnée </a:t>
            </a:r>
            <a:r>
              <a:rPr dirty="0" err="1"/>
              <a:t>n'existe</a:t>
            </a:r>
            <a:r>
              <a:rPr dirty="0"/>
              <a:t> pas à la </a:t>
            </a:r>
            <a:r>
              <a:rPr dirty="0" err="1"/>
              <a:t>maille</a:t>
            </a:r>
            <a:r>
              <a:rPr dirty="0"/>
              <a:t> utile. Le </a:t>
            </a:r>
            <a:r>
              <a:rPr dirty="0" err="1"/>
              <a:t>chômage</a:t>
            </a:r>
            <a:r>
              <a:rPr dirty="0"/>
              <a:t> des </a:t>
            </a:r>
            <a:r>
              <a:rPr dirty="0" err="1"/>
              <a:t>diplômés</a:t>
            </a:r>
            <a:r>
              <a:rPr dirty="0"/>
              <a:t> </a:t>
            </a:r>
            <a:r>
              <a:rPr dirty="0" err="1"/>
              <a:t>n'est</a:t>
            </a:r>
            <a:r>
              <a:rPr dirty="0"/>
              <a:t> </a:t>
            </a:r>
            <a:r>
              <a:rPr dirty="0" err="1"/>
              <a:t>publié</a:t>
            </a:r>
            <a:r>
              <a:rPr dirty="0"/>
              <a:t> </a:t>
            </a:r>
            <a:r>
              <a:rPr dirty="0" err="1"/>
              <a:t>qu'au</a:t>
            </a:r>
            <a:r>
              <a:rPr dirty="0"/>
              <a:t> </a:t>
            </a:r>
            <a:r>
              <a:rPr dirty="0" err="1"/>
              <a:t>niveau</a:t>
            </a:r>
            <a:r>
              <a:rPr dirty="0"/>
              <a:t> national. </a:t>
            </a:r>
            <a:r>
              <a:rPr dirty="0" err="1"/>
              <a:t>Là</a:t>
            </a:r>
            <a:r>
              <a:rPr dirty="0"/>
              <a:t>, il faut </a:t>
            </a:r>
            <a:r>
              <a:rPr dirty="0" err="1"/>
              <a:t>une</a:t>
            </a:r>
            <a:r>
              <a:rPr dirty="0"/>
              <a:t> </a:t>
            </a:r>
            <a:r>
              <a:rPr dirty="0" err="1"/>
              <a:t>vraie</a:t>
            </a:r>
            <a:r>
              <a:rPr dirty="0"/>
              <a:t> </a:t>
            </a:r>
            <a:r>
              <a:rPr dirty="0" err="1"/>
              <a:t>enquête</a:t>
            </a:r>
            <a:r>
              <a:rPr dirty="0"/>
              <a:t> </a:t>
            </a:r>
            <a:r>
              <a:rPr dirty="0" err="1"/>
              <a:t>d'insertion</a:t>
            </a:r>
            <a:r>
              <a:rPr dirty="0"/>
              <a:t>.</a:t>
            </a:r>
          </a:p>
          <a:p>
            <a:r>
              <a:rPr dirty="0"/>
              <a:t>Le </a:t>
            </a:r>
            <a:r>
              <a:rPr dirty="0" err="1"/>
              <a:t>troisième</a:t>
            </a:r>
            <a:r>
              <a:rPr dirty="0"/>
              <a:t> : il </a:t>
            </a:r>
            <a:r>
              <a:rPr dirty="0" err="1"/>
              <a:t>n'existe</a:t>
            </a:r>
            <a:r>
              <a:rPr dirty="0"/>
              <a:t> </a:t>
            </a:r>
            <a:r>
              <a:rPr dirty="0" err="1"/>
              <a:t>aucune</a:t>
            </a:r>
            <a:r>
              <a:rPr dirty="0"/>
              <a:t> nomenclature des métiers </a:t>
            </a:r>
            <a:r>
              <a:rPr dirty="0" err="1"/>
              <a:t>ni</a:t>
            </a:r>
            <a:r>
              <a:rPr dirty="0"/>
              <a:t> des disciplines. Sans </a:t>
            </a:r>
            <a:r>
              <a:rPr dirty="0" err="1"/>
              <a:t>référentiel</a:t>
            </a:r>
            <a:r>
              <a:rPr dirty="0"/>
              <a:t>, la question « quelle part de </a:t>
            </a:r>
            <a:r>
              <a:rPr dirty="0" err="1"/>
              <a:t>filières</a:t>
            </a:r>
            <a:r>
              <a:rPr dirty="0"/>
              <a:t> </a:t>
            </a:r>
            <a:r>
              <a:rPr dirty="0" err="1"/>
              <a:t>scientifiques</a:t>
            </a:r>
            <a:r>
              <a:rPr dirty="0"/>
              <a:t> » </a:t>
            </a:r>
            <a:r>
              <a:rPr dirty="0" err="1"/>
              <a:t>n'a</a:t>
            </a:r>
            <a:r>
              <a:rPr dirty="0"/>
              <a:t> pas de </a:t>
            </a:r>
            <a:r>
              <a:rPr dirty="0" err="1"/>
              <a:t>dénominateur</a:t>
            </a:r>
            <a:r>
              <a:rPr dirty="0"/>
              <a:t>.</a:t>
            </a:r>
          </a:p>
          <a:p>
            <a:r>
              <a:rPr dirty="0"/>
              <a:t>Et la phrase du bas est ma </a:t>
            </a:r>
            <a:r>
              <a:rPr dirty="0" err="1"/>
              <a:t>règle</a:t>
            </a:r>
            <a:r>
              <a:rPr dirty="0"/>
              <a:t> : un </a:t>
            </a:r>
            <a:r>
              <a:rPr dirty="0" err="1"/>
              <a:t>indicateur</a:t>
            </a:r>
            <a:r>
              <a:rPr dirty="0"/>
              <a:t> absent est absent DU CORPUS, jamais inexistant. Je </a:t>
            </a:r>
            <a:r>
              <a:rPr dirty="0" err="1"/>
              <a:t>n'ai</a:t>
            </a:r>
            <a:r>
              <a:rPr dirty="0"/>
              <a:t> pas le droit de dire </a:t>
            </a:r>
            <a:r>
              <a:rPr dirty="0" err="1"/>
              <a:t>que</a:t>
            </a:r>
            <a:r>
              <a:rPr dirty="0"/>
              <a:t> le Togo ne </a:t>
            </a:r>
            <a:r>
              <a:rPr dirty="0" err="1"/>
              <a:t>sait</a:t>
            </a:r>
            <a:r>
              <a:rPr dirty="0"/>
              <a:t> pas ; je </a:t>
            </a:r>
            <a:r>
              <a:rPr dirty="0" err="1"/>
              <a:t>peux</a:t>
            </a:r>
            <a:r>
              <a:rPr dirty="0"/>
              <a:t> dire </a:t>
            </a:r>
            <a:r>
              <a:rPr dirty="0" err="1"/>
              <a:t>que</a:t>
            </a:r>
            <a:r>
              <a:rPr dirty="0"/>
              <a:t> le </a:t>
            </a:r>
            <a:r>
              <a:rPr dirty="0" err="1"/>
              <a:t>portail</a:t>
            </a:r>
            <a:r>
              <a:rPr dirty="0"/>
              <a:t> ne </a:t>
            </a:r>
            <a:r>
              <a:rPr dirty="0" err="1"/>
              <a:t>publie</a:t>
            </a:r>
            <a:r>
              <a:rPr dirty="0"/>
              <a:t> pas.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 mot sur la </a:t>
            </a:r>
            <a:r>
              <a:rPr dirty="0" err="1"/>
              <a:t>vérifiabilité</a:t>
            </a:r>
            <a:r>
              <a:rPr dirty="0"/>
              <a:t>, </a:t>
            </a:r>
            <a:r>
              <a:rPr dirty="0" err="1"/>
              <a:t>parce</a:t>
            </a:r>
            <a:r>
              <a:rPr dirty="0"/>
              <a:t> </a:t>
            </a:r>
            <a:r>
              <a:rPr dirty="0" err="1"/>
              <a:t>qu'une</a:t>
            </a:r>
            <a:r>
              <a:rPr dirty="0"/>
              <a:t> </a:t>
            </a:r>
            <a:r>
              <a:rPr dirty="0" err="1"/>
              <a:t>méthode</a:t>
            </a:r>
            <a:r>
              <a:rPr dirty="0"/>
              <a:t> </a:t>
            </a:r>
            <a:r>
              <a:rPr dirty="0" err="1"/>
              <a:t>qu'on</a:t>
            </a:r>
            <a:r>
              <a:rPr dirty="0"/>
              <a:t> ne </a:t>
            </a:r>
            <a:r>
              <a:rPr dirty="0" err="1"/>
              <a:t>peut</a:t>
            </a:r>
            <a:r>
              <a:rPr dirty="0"/>
              <a:t> pas </a:t>
            </a:r>
            <a:r>
              <a:rPr dirty="0" err="1"/>
              <a:t>rejouer</a:t>
            </a:r>
            <a:r>
              <a:rPr dirty="0"/>
              <a:t> </a:t>
            </a:r>
            <a:r>
              <a:rPr dirty="0" err="1"/>
              <a:t>n'est</a:t>
            </a:r>
            <a:r>
              <a:rPr dirty="0"/>
              <a:t> pas </a:t>
            </a:r>
            <a:r>
              <a:rPr dirty="0" err="1"/>
              <a:t>une</a:t>
            </a:r>
            <a:r>
              <a:rPr dirty="0"/>
              <a:t> </a:t>
            </a:r>
            <a:r>
              <a:rPr dirty="0" err="1"/>
              <a:t>méthode</a:t>
            </a:r>
            <a:r>
              <a:rPr dirty="0"/>
              <a:t>.</a:t>
            </a:r>
          </a:p>
          <a:p>
            <a:r>
              <a:rPr dirty="0" err="1"/>
              <a:t>Aucun</a:t>
            </a:r>
            <a:r>
              <a:rPr dirty="0"/>
              <a:t> chiffre </a:t>
            </a:r>
            <a:r>
              <a:rPr dirty="0" err="1"/>
              <a:t>n'est</a:t>
            </a:r>
            <a:r>
              <a:rPr dirty="0"/>
              <a:t> </a:t>
            </a:r>
            <a:r>
              <a:rPr dirty="0" err="1"/>
              <a:t>écrit</a:t>
            </a:r>
            <a:r>
              <a:rPr dirty="0"/>
              <a:t> </a:t>
            </a:r>
            <a:r>
              <a:rPr dirty="0" err="1"/>
              <a:t>en</a:t>
            </a:r>
            <a:r>
              <a:rPr dirty="0"/>
              <a:t> dur dans un </a:t>
            </a:r>
            <a:r>
              <a:rPr dirty="0" err="1"/>
              <a:t>commentaire</a:t>
            </a:r>
            <a:r>
              <a:rPr dirty="0"/>
              <a:t>. Quand vous </a:t>
            </a:r>
            <a:r>
              <a:rPr dirty="0" err="1"/>
              <a:t>filtrez</a:t>
            </a:r>
            <a:r>
              <a:rPr dirty="0"/>
              <a:t> sur les </a:t>
            </a:r>
            <a:r>
              <a:rPr dirty="0" err="1"/>
              <a:t>Savanes</a:t>
            </a:r>
            <a:r>
              <a:rPr dirty="0"/>
              <a:t>, les phrases sous les </a:t>
            </a:r>
            <a:r>
              <a:rPr dirty="0" err="1"/>
              <a:t>graphes</a:t>
            </a:r>
            <a:r>
              <a:rPr dirty="0"/>
              <a:t> se </a:t>
            </a:r>
            <a:r>
              <a:rPr dirty="0" err="1"/>
              <a:t>réécrivent</a:t>
            </a:r>
            <a:r>
              <a:rPr dirty="0"/>
              <a:t> — </a:t>
            </a:r>
            <a:r>
              <a:rPr dirty="0" err="1"/>
              <a:t>elles</a:t>
            </a:r>
            <a:r>
              <a:rPr dirty="0"/>
              <a:t> </a:t>
            </a:r>
            <a:r>
              <a:rPr dirty="0" err="1"/>
              <a:t>sont</a:t>
            </a:r>
            <a:r>
              <a:rPr dirty="0"/>
              <a:t> </a:t>
            </a:r>
            <a:r>
              <a:rPr dirty="0" err="1"/>
              <a:t>calculées</a:t>
            </a:r>
            <a:r>
              <a:rPr dirty="0"/>
              <a:t>, pas </a:t>
            </a:r>
            <a:r>
              <a:rPr dirty="0" err="1"/>
              <a:t>rédigées</a:t>
            </a:r>
            <a:r>
              <a:rPr dirty="0"/>
              <a:t>.</a:t>
            </a:r>
          </a:p>
          <a:p>
            <a:r>
              <a:rPr dirty="0"/>
              <a:t>Le rapport PowerPoint est </a:t>
            </a:r>
            <a:r>
              <a:rPr dirty="0" err="1"/>
              <a:t>produit</a:t>
            </a:r>
            <a:r>
              <a:rPr dirty="0"/>
              <a:t> par les </a:t>
            </a:r>
            <a:r>
              <a:rPr dirty="0" err="1"/>
              <a:t>mêmes</a:t>
            </a:r>
            <a:r>
              <a:rPr dirty="0"/>
              <a:t> </a:t>
            </a:r>
            <a:r>
              <a:rPr dirty="0" err="1"/>
              <a:t>fonctions</a:t>
            </a:r>
            <a:r>
              <a:rPr dirty="0"/>
              <a:t> </a:t>
            </a:r>
            <a:r>
              <a:rPr dirty="0" err="1"/>
              <a:t>que</a:t>
            </a:r>
            <a:r>
              <a:rPr dirty="0"/>
              <a:t> </a:t>
            </a:r>
            <a:r>
              <a:rPr dirty="0" err="1"/>
              <a:t>l'écran</a:t>
            </a:r>
            <a:r>
              <a:rPr dirty="0"/>
              <a:t>, </a:t>
            </a:r>
            <a:r>
              <a:rPr dirty="0" err="1"/>
              <a:t>en</a:t>
            </a:r>
            <a:r>
              <a:rPr dirty="0"/>
              <a:t> </a:t>
            </a:r>
            <a:r>
              <a:rPr dirty="0" err="1"/>
              <a:t>une</a:t>
            </a:r>
            <a:r>
              <a:rPr dirty="0"/>
              <a:t> </a:t>
            </a:r>
            <a:r>
              <a:rPr dirty="0" err="1"/>
              <a:t>seule</a:t>
            </a:r>
            <a:r>
              <a:rPr dirty="0"/>
              <a:t> </a:t>
            </a:r>
            <a:r>
              <a:rPr dirty="0" err="1"/>
              <a:t>collecte</a:t>
            </a:r>
            <a:r>
              <a:rPr dirty="0"/>
              <a:t> de chiffres. Il ne </a:t>
            </a:r>
            <a:r>
              <a:rPr dirty="0" err="1"/>
              <a:t>peut</a:t>
            </a:r>
            <a:r>
              <a:rPr dirty="0"/>
              <a:t> pas </a:t>
            </a:r>
            <a:r>
              <a:rPr dirty="0" err="1"/>
              <a:t>diverger</a:t>
            </a:r>
            <a:r>
              <a:rPr dirty="0"/>
              <a:t>.</a:t>
            </a:r>
          </a:p>
          <a:p>
            <a:r>
              <a:rPr dirty="0" err="1"/>
              <a:t>L'archive</a:t>
            </a:r>
            <a:r>
              <a:rPr dirty="0"/>
              <a:t> </a:t>
            </a:r>
            <a:r>
              <a:rPr dirty="0" err="1"/>
              <a:t>contient</a:t>
            </a:r>
            <a:r>
              <a:rPr dirty="0"/>
              <a:t> les </a:t>
            </a:r>
            <a:r>
              <a:rPr dirty="0" err="1"/>
              <a:t>fichiers</a:t>
            </a:r>
            <a:r>
              <a:rPr dirty="0"/>
              <a:t> du </a:t>
            </a:r>
            <a:r>
              <a:rPr dirty="0" err="1"/>
              <a:t>portail</a:t>
            </a:r>
            <a:r>
              <a:rPr dirty="0"/>
              <a:t> non </a:t>
            </a:r>
            <a:r>
              <a:rPr dirty="0" err="1"/>
              <a:t>modifiés</a:t>
            </a:r>
            <a:r>
              <a:rPr dirty="0"/>
              <a:t>, et un script de diagnostic qui </a:t>
            </a:r>
            <a:r>
              <a:rPr dirty="0" err="1"/>
              <a:t>vérifie</a:t>
            </a:r>
            <a:r>
              <a:rPr dirty="0"/>
              <a:t> </a:t>
            </a:r>
            <a:r>
              <a:rPr dirty="0" err="1"/>
              <a:t>l'installation</a:t>
            </a:r>
            <a:r>
              <a:rPr dirty="0"/>
              <a:t> avant de lancer quoi </a:t>
            </a:r>
            <a:r>
              <a:rPr dirty="0" err="1"/>
              <a:t>que</a:t>
            </a:r>
            <a:r>
              <a:rPr dirty="0"/>
              <a:t> </a:t>
            </a:r>
            <a:r>
              <a:rPr dirty="0" err="1"/>
              <a:t>ce</a:t>
            </a:r>
            <a:r>
              <a:rPr dirty="0"/>
              <a:t> soit.</a:t>
            </a:r>
          </a:p>
          <a:p>
            <a:r>
              <a:rPr dirty="0"/>
              <a:t>Et surtout : le tableau de bord est </a:t>
            </a:r>
            <a:r>
              <a:rPr dirty="0" err="1"/>
              <a:t>en</a:t>
            </a:r>
            <a:r>
              <a:rPr dirty="0"/>
              <a:t> </a:t>
            </a:r>
            <a:r>
              <a:rPr dirty="0" err="1"/>
              <a:t>ligne</a:t>
            </a:r>
            <a:r>
              <a:rPr dirty="0"/>
              <a:t>. Vous </a:t>
            </a:r>
            <a:r>
              <a:rPr dirty="0" err="1"/>
              <a:t>n'avez</a:t>
            </a:r>
            <a:r>
              <a:rPr dirty="0"/>
              <a:t> rien à installer pour le </a:t>
            </a:r>
            <a:r>
              <a:rPr dirty="0" err="1"/>
              <a:t>contredire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Les </a:t>
            </a:r>
            <a:r>
              <a:rPr dirty="0" err="1"/>
              <a:t>recommandations</a:t>
            </a:r>
            <a:r>
              <a:rPr dirty="0"/>
              <a:t>, </a:t>
            </a:r>
            <a:r>
              <a:rPr dirty="0" err="1"/>
              <a:t>maintenant</a:t>
            </a:r>
            <a:r>
              <a:rPr dirty="0"/>
              <a:t>. Il y </a:t>
            </a:r>
            <a:r>
              <a:rPr dirty="0" err="1"/>
              <a:t>en</a:t>
            </a:r>
            <a:r>
              <a:rPr dirty="0"/>
              <a:t> a </a:t>
            </a:r>
            <a:r>
              <a:rPr dirty="0" err="1"/>
              <a:t>vingt</a:t>
            </a:r>
            <a:r>
              <a:rPr dirty="0"/>
              <a:t>-six, </a:t>
            </a:r>
            <a:r>
              <a:rPr dirty="0" err="1"/>
              <a:t>réparties</a:t>
            </a:r>
            <a:r>
              <a:rPr dirty="0"/>
              <a:t> </a:t>
            </a:r>
            <a:r>
              <a:rPr dirty="0" err="1"/>
              <a:t>en</a:t>
            </a:r>
            <a:r>
              <a:rPr dirty="0"/>
              <a:t> cinq axes.</a:t>
            </a:r>
          </a:p>
          <a:p>
            <a:r>
              <a:rPr dirty="0"/>
              <a:t>Ma </a:t>
            </a:r>
            <a:r>
              <a:rPr dirty="0" err="1"/>
              <a:t>règle</a:t>
            </a:r>
            <a:r>
              <a:rPr dirty="0"/>
              <a:t> de </a:t>
            </a:r>
            <a:r>
              <a:rPr dirty="0" err="1"/>
              <a:t>rédaction</a:t>
            </a:r>
            <a:r>
              <a:rPr dirty="0"/>
              <a:t> : un levier commence par le chiffre qui le motive, et </a:t>
            </a:r>
            <a:r>
              <a:rPr dirty="0" err="1"/>
              <a:t>renvoie</a:t>
            </a:r>
            <a:r>
              <a:rPr dirty="0"/>
              <a:t> à </a:t>
            </a:r>
            <a:r>
              <a:rPr dirty="0" err="1"/>
              <a:t>l'onglet</a:t>
            </a:r>
            <a:r>
              <a:rPr dirty="0"/>
              <a:t> </a:t>
            </a:r>
            <a:r>
              <a:rPr dirty="0" err="1"/>
              <a:t>où</a:t>
            </a:r>
            <a:r>
              <a:rPr dirty="0"/>
              <a:t> </a:t>
            </a:r>
            <a:r>
              <a:rPr dirty="0" err="1"/>
              <a:t>ce</a:t>
            </a:r>
            <a:r>
              <a:rPr dirty="0"/>
              <a:t> chiffre se </a:t>
            </a:r>
            <a:r>
              <a:rPr dirty="0" err="1"/>
              <a:t>vérifie</a:t>
            </a:r>
            <a:r>
              <a:rPr dirty="0"/>
              <a:t>. Si je ne </a:t>
            </a:r>
            <a:r>
              <a:rPr dirty="0" err="1"/>
              <a:t>peux</a:t>
            </a:r>
            <a:r>
              <a:rPr dirty="0"/>
              <a:t> pas faire </a:t>
            </a:r>
            <a:r>
              <a:rPr dirty="0" err="1"/>
              <a:t>ça</a:t>
            </a:r>
            <a:r>
              <a:rPr dirty="0"/>
              <a:t>, </a:t>
            </a:r>
            <a:r>
              <a:rPr dirty="0" err="1"/>
              <a:t>ce</a:t>
            </a:r>
            <a:r>
              <a:rPr dirty="0"/>
              <a:t> </a:t>
            </a:r>
            <a:r>
              <a:rPr dirty="0" err="1"/>
              <a:t>n'est</a:t>
            </a:r>
            <a:r>
              <a:rPr dirty="0"/>
              <a:t> pas un levier, </a:t>
            </a:r>
            <a:r>
              <a:rPr dirty="0" err="1"/>
              <a:t>c'est</a:t>
            </a:r>
            <a:r>
              <a:rPr dirty="0"/>
              <a:t> un </a:t>
            </a:r>
            <a:r>
              <a:rPr dirty="0" err="1"/>
              <a:t>vœu</a:t>
            </a:r>
            <a:r>
              <a:rPr dirty="0"/>
              <a:t>.</a:t>
            </a:r>
          </a:p>
          <a:p>
            <a:r>
              <a:rPr dirty="0"/>
              <a:t>Et je </a:t>
            </a:r>
            <a:r>
              <a:rPr dirty="0" err="1"/>
              <a:t>veux</a:t>
            </a:r>
            <a:r>
              <a:rPr dirty="0"/>
              <a:t> insister sur la première </a:t>
            </a:r>
            <a:r>
              <a:rPr dirty="0" err="1"/>
              <a:t>recommandation</a:t>
            </a:r>
            <a:r>
              <a:rPr dirty="0"/>
              <a:t>, </a:t>
            </a:r>
            <a:r>
              <a:rPr dirty="0" err="1"/>
              <a:t>parce</a:t>
            </a:r>
            <a:r>
              <a:rPr dirty="0"/>
              <a:t> </a:t>
            </a:r>
            <a:r>
              <a:rPr dirty="0" err="1"/>
              <a:t>qu'elle</a:t>
            </a:r>
            <a:r>
              <a:rPr dirty="0"/>
              <a:t> </a:t>
            </a:r>
            <a:r>
              <a:rPr dirty="0" err="1"/>
              <a:t>surprend</a:t>
            </a:r>
            <a:r>
              <a:rPr dirty="0"/>
              <a:t> : </a:t>
            </a:r>
            <a:r>
              <a:rPr dirty="0" err="1"/>
              <a:t>elle</a:t>
            </a:r>
            <a:r>
              <a:rPr dirty="0"/>
              <a:t> ne </a:t>
            </a:r>
            <a:r>
              <a:rPr dirty="0" err="1"/>
              <a:t>demande</a:t>
            </a:r>
            <a:r>
              <a:rPr dirty="0"/>
              <a:t> pas un franc. Elle </a:t>
            </a:r>
            <a:r>
              <a:rPr dirty="0" err="1"/>
              <a:t>demande</a:t>
            </a:r>
            <a:r>
              <a:rPr dirty="0"/>
              <a:t> de </a:t>
            </a:r>
            <a:r>
              <a:rPr dirty="0" err="1"/>
              <a:t>publier</a:t>
            </a:r>
            <a:r>
              <a:rPr dirty="0"/>
              <a:t> les deux cent un champs déjà </a:t>
            </a:r>
            <a:r>
              <a:rPr dirty="0" err="1"/>
              <a:t>collectés</a:t>
            </a:r>
            <a:r>
              <a:rPr dirty="0"/>
              <a:t>.</a:t>
            </a:r>
          </a:p>
          <a:p>
            <a:r>
              <a:rPr dirty="0"/>
              <a:t>Tant </a:t>
            </a:r>
            <a:r>
              <a:rPr dirty="0" err="1"/>
              <a:t>qu'ils</a:t>
            </a:r>
            <a:r>
              <a:rPr dirty="0"/>
              <a:t> ne le </a:t>
            </a:r>
            <a:r>
              <a:rPr dirty="0" err="1"/>
              <a:t>sont</a:t>
            </a:r>
            <a:r>
              <a:rPr dirty="0"/>
              <a:t> pas, </a:t>
            </a:r>
            <a:r>
              <a:rPr dirty="0" err="1"/>
              <a:t>personne</a:t>
            </a:r>
            <a:r>
              <a:rPr dirty="0"/>
              <a:t> — </a:t>
            </a:r>
            <a:r>
              <a:rPr dirty="0" err="1"/>
              <a:t>ni</a:t>
            </a:r>
            <a:r>
              <a:rPr dirty="0"/>
              <a:t> le </a:t>
            </a:r>
            <a:r>
              <a:rPr dirty="0" err="1"/>
              <a:t>ministère</a:t>
            </a:r>
            <a:r>
              <a:rPr dirty="0"/>
              <a:t>, </a:t>
            </a:r>
            <a:r>
              <a:rPr dirty="0" err="1"/>
              <a:t>ni</a:t>
            </a:r>
            <a:r>
              <a:rPr dirty="0"/>
              <a:t> un </a:t>
            </a:r>
            <a:r>
              <a:rPr dirty="0" err="1"/>
              <a:t>chercheur</a:t>
            </a:r>
            <a:r>
              <a:rPr dirty="0"/>
              <a:t>, </a:t>
            </a:r>
            <a:r>
              <a:rPr dirty="0" err="1"/>
              <a:t>ni</a:t>
            </a:r>
            <a:r>
              <a:rPr dirty="0"/>
              <a:t> moi — ne </a:t>
            </a:r>
            <a:r>
              <a:rPr dirty="0" err="1"/>
              <a:t>peut</a:t>
            </a:r>
            <a:r>
              <a:rPr dirty="0"/>
              <a:t> </a:t>
            </a:r>
            <a:r>
              <a:rPr dirty="0" err="1"/>
              <a:t>calculer</a:t>
            </a:r>
            <a:r>
              <a:rPr dirty="0"/>
              <a:t> un </a:t>
            </a:r>
            <a:r>
              <a:rPr dirty="0" err="1"/>
              <a:t>taux</a:t>
            </a:r>
            <a:r>
              <a:rPr dirty="0"/>
              <a:t> </a:t>
            </a:r>
            <a:r>
              <a:rPr dirty="0" err="1"/>
              <a:t>d'encadrement</a:t>
            </a:r>
            <a:r>
              <a:rPr dirty="0"/>
              <a:t> par </a:t>
            </a:r>
            <a:r>
              <a:rPr dirty="0" err="1"/>
              <a:t>établissement</a:t>
            </a:r>
            <a:r>
              <a:rPr dirty="0"/>
              <a:t>. On </a:t>
            </a:r>
            <a:r>
              <a:rPr dirty="0" err="1"/>
              <a:t>pilote</a:t>
            </a:r>
            <a:r>
              <a:rPr dirty="0"/>
              <a:t> à </a:t>
            </a:r>
            <a:r>
              <a:rPr dirty="0" err="1"/>
              <a:t>l'aveugle</a:t>
            </a:r>
            <a:r>
              <a:rPr dirty="0"/>
              <a:t> sur </a:t>
            </a:r>
            <a:r>
              <a:rPr dirty="0" err="1"/>
              <a:t>une</a:t>
            </a:r>
            <a:r>
              <a:rPr dirty="0"/>
              <a:t> donnée qui </a:t>
            </a:r>
            <a:r>
              <a:rPr dirty="0" err="1"/>
              <a:t>existe</a:t>
            </a:r>
            <a:r>
              <a:rPr dirty="0"/>
              <a:t> déjà.</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 point qui </a:t>
            </a:r>
            <a:r>
              <a:rPr dirty="0" err="1"/>
              <a:t>dépasse</a:t>
            </a:r>
            <a:r>
              <a:rPr dirty="0"/>
              <a:t> </a:t>
            </a:r>
            <a:r>
              <a:rPr dirty="0" err="1"/>
              <a:t>ce</a:t>
            </a:r>
            <a:r>
              <a:rPr dirty="0"/>
              <a:t> </a:t>
            </a:r>
            <a:r>
              <a:rPr dirty="0" err="1"/>
              <a:t>défi</a:t>
            </a:r>
            <a:r>
              <a:rPr dirty="0"/>
              <a:t> : </a:t>
            </a:r>
            <a:r>
              <a:rPr dirty="0" err="1"/>
              <a:t>ce</a:t>
            </a:r>
            <a:r>
              <a:rPr dirty="0"/>
              <a:t> qui a </a:t>
            </a:r>
            <a:r>
              <a:rPr dirty="0" err="1"/>
              <a:t>été</a:t>
            </a:r>
            <a:r>
              <a:rPr dirty="0"/>
              <a:t> </a:t>
            </a:r>
            <a:r>
              <a:rPr dirty="0" err="1"/>
              <a:t>construit</a:t>
            </a:r>
            <a:r>
              <a:rPr dirty="0"/>
              <a:t> </a:t>
            </a:r>
            <a:r>
              <a:rPr dirty="0" err="1"/>
              <a:t>ici</a:t>
            </a:r>
            <a:r>
              <a:rPr dirty="0"/>
              <a:t> est </a:t>
            </a:r>
            <a:r>
              <a:rPr dirty="0" err="1"/>
              <a:t>réutilisable</a:t>
            </a:r>
            <a:r>
              <a:rPr dirty="0"/>
              <a:t>.</a:t>
            </a:r>
          </a:p>
          <a:p>
            <a:r>
              <a:rPr dirty="0"/>
              <a:t>La coquille, la </a:t>
            </a:r>
            <a:r>
              <a:rPr dirty="0" err="1"/>
              <a:t>charte</a:t>
            </a:r>
            <a:r>
              <a:rPr dirty="0"/>
              <a:t> </a:t>
            </a:r>
            <a:r>
              <a:rPr dirty="0" err="1"/>
              <a:t>graphique</a:t>
            </a:r>
            <a:r>
              <a:rPr dirty="0"/>
              <a:t>, les </a:t>
            </a:r>
            <a:r>
              <a:rPr dirty="0" err="1"/>
              <a:t>formes</a:t>
            </a:r>
            <a:r>
              <a:rPr dirty="0"/>
              <a:t> de </a:t>
            </a:r>
            <a:r>
              <a:rPr dirty="0" err="1"/>
              <a:t>graphes</a:t>
            </a:r>
            <a:r>
              <a:rPr dirty="0"/>
              <a:t>, les cartes, le </a:t>
            </a:r>
            <a:r>
              <a:rPr dirty="0" err="1"/>
              <a:t>bilinguisme</a:t>
            </a:r>
            <a:r>
              <a:rPr dirty="0"/>
              <a:t> et la </a:t>
            </a:r>
            <a:r>
              <a:rPr dirty="0" err="1"/>
              <a:t>boîte</a:t>
            </a:r>
            <a:r>
              <a:rPr dirty="0"/>
              <a:t> à </a:t>
            </a:r>
            <a:r>
              <a:rPr dirty="0" err="1"/>
              <a:t>outils</a:t>
            </a:r>
            <a:r>
              <a:rPr dirty="0"/>
              <a:t> </a:t>
            </a:r>
            <a:r>
              <a:rPr dirty="0" err="1"/>
              <a:t>économétrique</a:t>
            </a:r>
            <a:r>
              <a:rPr dirty="0"/>
              <a:t> </a:t>
            </a:r>
            <a:r>
              <a:rPr dirty="0" err="1"/>
              <a:t>vivent</a:t>
            </a:r>
            <a:r>
              <a:rPr dirty="0"/>
              <a:t> dans un socle </a:t>
            </a:r>
            <a:r>
              <a:rPr dirty="0" err="1"/>
              <a:t>partagé</a:t>
            </a:r>
            <a:r>
              <a:rPr dirty="0"/>
              <a:t>. Un nouveau </a:t>
            </a:r>
            <a:r>
              <a:rPr dirty="0" err="1"/>
              <a:t>défi</a:t>
            </a:r>
            <a:r>
              <a:rPr dirty="0"/>
              <a:t> </a:t>
            </a:r>
            <a:r>
              <a:rPr dirty="0" err="1"/>
              <a:t>n'écrit</a:t>
            </a:r>
            <a:r>
              <a:rPr dirty="0"/>
              <a:t> </a:t>
            </a:r>
            <a:r>
              <a:rPr dirty="0" err="1"/>
              <a:t>que</a:t>
            </a:r>
            <a:r>
              <a:rPr dirty="0"/>
              <a:t> </a:t>
            </a:r>
            <a:r>
              <a:rPr dirty="0" err="1"/>
              <a:t>ses</a:t>
            </a:r>
            <a:r>
              <a:rPr dirty="0"/>
              <a:t> analyses.</a:t>
            </a:r>
          </a:p>
          <a:p>
            <a:r>
              <a:rPr dirty="0"/>
              <a:t>Ce </a:t>
            </a:r>
            <a:r>
              <a:rPr dirty="0" err="1"/>
              <a:t>n'est</a:t>
            </a:r>
            <a:r>
              <a:rPr dirty="0"/>
              <a:t> pas </a:t>
            </a:r>
            <a:r>
              <a:rPr dirty="0" err="1"/>
              <a:t>une</a:t>
            </a:r>
            <a:r>
              <a:rPr dirty="0"/>
              <a:t> </a:t>
            </a:r>
            <a:r>
              <a:rPr dirty="0" err="1"/>
              <a:t>promesse</a:t>
            </a:r>
            <a:r>
              <a:rPr dirty="0"/>
              <a:t> : le </a:t>
            </a:r>
            <a:r>
              <a:rPr dirty="0" err="1"/>
              <a:t>défi</a:t>
            </a:r>
            <a:r>
              <a:rPr dirty="0"/>
              <a:t> Environnement, sur </a:t>
            </a:r>
            <a:r>
              <a:rPr dirty="0" err="1"/>
              <a:t>l'eau</a:t>
            </a:r>
            <a:r>
              <a:rPr dirty="0"/>
              <a:t> et </a:t>
            </a:r>
            <a:r>
              <a:rPr dirty="0" err="1"/>
              <a:t>l'hydraulique</a:t>
            </a:r>
            <a:r>
              <a:rPr dirty="0"/>
              <a:t>, a </a:t>
            </a:r>
            <a:r>
              <a:rPr dirty="0" err="1"/>
              <a:t>été</a:t>
            </a:r>
            <a:r>
              <a:rPr dirty="0"/>
              <a:t> </a:t>
            </a:r>
            <a:r>
              <a:rPr dirty="0" err="1"/>
              <a:t>construit</a:t>
            </a:r>
            <a:r>
              <a:rPr dirty="0"/>
              <a:t> sur </a:t>
            </a:r>
            <a:r>
              <a:rPr dirty="0" err="1"/>
              <a:t>ce</a:t>
            </a:r>
            <a:r>
              <a:rPr dirty="0"/>
              <a:t> </a:t>
            </a:r>
            <a:r>
              <a:rPr dirty="0" err="1"/>
              <a:t>même</a:t>
            </a:r>
            <a:r>
              <a:rPr dirty="0"/>
              <a:t> socle, avec </a:t>
            </a:r>
            <a:r>
              <a:rPr dirty="0" err="1"/>
              <a:t>ses</a:t>
            </a:r>
            <a:r>
              <a:rPr dirty="0"/>
              <a:t> </a:t>
            </a:r>
            <a:r>
              <a:rPr dirty="0" err="1"/>
              <a:t>propres</a:t>
            </a:r>
            <a:r>
              <a:rPr dirty="0"/>
              <a:t> données et </a:t>
            </a:r>
            <a:r>
              <a:rPr dirty="0" err="1"/>
              <a:t>ses</a:t>
            </a:r>
            <a:r>
              <a:rPr dirty="0"/>
              <a:t> </a:t>
            </a:r>
            <a:r>
              <a:rPr dirty="0" err="1"/>
              <a:t>propres</a:t>
            </a:r>
            <a:r>
              <a:rPr dirty="0"/>
              <a:t> analyses.</a:t>
            </a:r>
          </a:p>
          <a:p>
            <a:r>
              <a:rPr dirty="0"/>
              <a:t>Et les </a:t>
            </a:r>
            <a:r>
              <a:rPr dirty="0" err="1"/>
              <a:t>règles</a:t>
            </a:r>
            <a:r>
              <a:rPr dirty="0"/>
              <a:t> de rigueur </a:t>
            </a:r>
            <a:r>
              <a:rPr dirty="0" err="1"/>
              <a:t>voyagent</a:t>
            </a:r>
            <a:r>
              <a:rPr dirty="0"/>
              <a:t> avec le socle. </a:t>
            </a:r>
            <a:r>
              <a:rPr dirty="0" err="1"/>
              <a:t>C'est</a:t>
            </a:r>
            <a:r>
              <a:rPr dirty="0"/>
              <a:t> le point important : </a:t>
            </a:r>
            <a:r>
              <a:rPr dirty="0" err="1"/>
              <a:t>ce</a:t>
            </a:r>
            <a:r>
              <a:rPr dirty="0"/>
              <a:t> </a:t>
            </a:r>
            <a:r>
              <a:rPr dirty="0" err="1"/>
              <a:t>n'est</a:t>
            </a:r>
            <a:r>
              <a:rPr dirty="0"/>
              <a:t> pas un </a:t>
            </a:r>
            <a:r>
              <a:rPr dirty="0" err="1"/>
              <a:t>gabarit</a:t>
            </a:r>
            <a:r>
              <a:rPr dirty="0"/>
              <a:t> </a:t>
            </a:r>
            <a:r>
              <a:rPr dirty="0" err="1"/>
              <a:t>graphique</a:t>
            </a:r>
            <a:r>
              <a:rPr dirty="0"/>
              <a:t>, </a:t>
            </a:r>
            <a:r>
              <a:rPr dirty="0" err="1"/>
              <a:t>c'est</a:t>
            </a:r>
            <a:r>
              <a:rPr dirty="0"/>
              <a:t> </a:t>
            </a:r>
            <a:r>
              <a:rPr dirty="0" err="1"/>
              <a:t>une</a:t>
            </a:r>
            <a:r>
              <a:rPr dirty="0"/>
              <a:t> </a:t>
            </a:r>
            <a:r>
              <a:rPr dirty="0" err="1"/>
              <a:t>méthode</a:t>
            </a:r>
            <a:r>
              <a:rPr dirty="0"/>
              <a:t> </a:t>
            </a:r>
            <a:r>
              <a:rPr dirty="0" err="1"/>
              <a:t>outillée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Pour </a:t>
            </a:r>
            <a:r>
              <a:rPr dirty="0" err="1"/>
              <a:t>conclure</a:t>
            </a:r>
            <a:r>
              <a:rPr dirty="0"/>
              <a:t>.</a:t>
            </a:r>
          </a:p>
          <a:p>
            <a:r>
              <a:rPr dirty="0" err="1"/>
              <a:t>L'alignement</a:t>
            </a:r>
            <a:r>
              <a:rPr dirty="0"/>
              <a:t> </a:t>
            </a:r>
            <a:r>
              <a:rPr dirty="0" err="1"/>
              <a:t>n'est</a:t>
            </a:r>
            <a:r>
              <a:rPr dirty="0"/>
              <a:t> pas </a:t>
            </a:r>
            <a:r>
              <a:rPr dirty="0" err="1"/>
              <a:t>réalisé</a:t>
            </a:r>
            <a:r>
              <a:rPr dirty="0"/>
              <a:t>, et je </a:t>
            </a:r>
            <a:r>
              <a:rPr dirty="0" err="1"/>
              <a:t>peux</a:t>
            </a:r>
            <a:r>
              <a:rPr dirty="0"/>
              <a:t> le dire sur deux des trois </a:t>
            </a:r>
            <a:r>
              <a:rPr dirty="0" err="1"/>
              <a:t>écarts</a:t>
            </a:r>
            <a:r>
              <a:rPr dirty="0"/>
              <a:t> : le </a:t>
            </a:r>
            <a:r>
              <a:rPr dirty="0" err="1"/>
              <a:t>territoire</a:t>
            </a:r>
            <a:r>
              <a:rPr dirty="0"/>
              <a:t> et les moyens. Le </a:t>
            </a:r>
            <a:r>
              <a:rPr dirty="0" err="1"/>
              <a:t>troisième</a:t>
            </a:r>
            <a:r>
              <a:rPr dirty="0"/>
              <a:t>, </a:t>
            </a:r>
            <a:r>
              <a:rPr dirty="0" err="1"/>
              <a:t>l'insertion</a:t>
            </a:r>
            <a:r>
              <a:rPr dirty="0"/>
              <a:t>, je ne </a:t>
            </a:r>
            <a:r>
              <a:rPr dirty="0" err="1"/>
              <a:t>peux</a:t>
            </a:r>
            <a:r>
              <a:rPr dirty="0"/>
              <a:t> pas le </a:t>
            </a:r>
            <a:r>
              <a:rPr dirty="0" err="1"/>
              <a:t>mesurer</a:t>
            </a:r>
            <a:r>
              <a:rPr dirty="0"/>
              <a:t> — et </a:t>
            </a:r>
            <a:r>
              <a:rPr dirty="0" err="1"/>
              <a:t>c'est</a:t>
            </a:r>
            <a:r>
              <a:rPr dirty="0"/>
              <a:t> un </a:t>
            </a:r>
            <a:r>
              <a:rPr dirty="0" err="1"/>
              <a:t>résultat</a:t>
            </a:r>
            <a:r>
              <a:rPr dirty="0"/>
              <a:t>, pas un </a:t>
            </a:r>
            <a:r>
              <a:rPr dirty="0" err="1"/>
              <a:t>échec</a:t>
            </a:r>
            <a:r>
              <a:rPr dirty="0"/>
              <a:t>.</a:t>
            </a:r>
          </a:p>
          <a:p>
            <a:r>
              <a:rPr dirty="0"/>
              <a:t>Ce </a:t>
            </a:r>
            <a:r>
              <a:rPr dirty="0" err="1"/>
              <a:t>qu'il</a:t>
            </a:r>
            <a:r>
              <a:rPr dirty="0"/>
              <a:t> </a:t>
            </a:r>
            <a:r>
              <a:rPr dirty="0" err="1"/>
              <a:t>faudrait</a:t>
            </a:r>
            <a:r>
              <a:rPr dirty="0"/>
              <a:t> pour </a:t>
            </a:r>
            <a:r>
              <a:rPr dirty="0" err="1"/>
              <a:t>aller</a:t>
            </a:r>
            <a:r>
              <a:rPr dirty="0"/>
              <a:t> plus loin </a:t>
            </a:r>
            <a:r>
              <a:rPr dirty="0" err="1"/>
              <a:t>tient</a:t>
            </a:r>
            <a:r>
              <a:rPr dirty="0"/>
              <a:t> </a:t>
            </a:r>
            <a:r>
              <a:rPr dirty="0" err="1"/>
              <a:t>en</a:t>
            </a:r>
            <a:r>
              <a:rPr dirty="0"/>
              <a:t> trois </a:t>
            </a:r>
            <a:r>
              <a:rPr dirty="0" err="1"/>
              <a:t>gestes</a:t>
            </a:r>
            <a:r>
              <a:rPr dirty="0"/>
              <a:t>, dans </a:t>
            </a:r>
            <a:r>
              <a:rPr dirty="0" err="1"/>
              <a:t>cet</a:t>
            </a:r>
            <a:r>
              <a:rPr dirty="0"/>
              <a:t> </a:t>
            </a:r>
            <a:r>
              <a:rPr dirty="0" err="1"/>
              <a:t>ordre</a:t>
            </a:r>
            <a:r>
              <a:rPr dirty="0"/>
              <a:t> : </a:t>
            </a:r>
            <a:r>
              <a:rPr dirty="0" err="1"/>
              <a:t>publier</a:t>
            </a:r>
            <a:r>
              <a:rPr dirty="0"/>
              <a:t> </a:t>
            </a:r>
            <a:r>
              <a:rPr dirty="0" err="1"/>
              <a:t>ce</a:t>
            </a:r>
            <a:r>
              <a:rPr dirty="0"/>
              <a:t> qui est déjà </a:t>
            </a:r>
            <a:r>
              <a:rPr dirty="0" err="1"/>
              <a:t>collecté</a:t>
            </a:r>
            <a:r>
              <a:rPr dirty="0"/>
              <a:t>, lancer </a:t>
            </a:r>
            <a:r>
              <a:rPr dirty="0" err="1"/>
              <a:t>une</a:t>
            </a:r>
            <a:r>
              <a:rPr dirty="0"/>
              <a:t> </a:t>
            </a:r>
            <a:r>
              <a:rPr dirty="0" err="1"/>
              <a:t>enquête</a:t>
            </a:r>
            <a:r>
              <a:rPr dirty="0"/>
              <a:t> </a:t>
            </a:r>
            <a:r>
              <a:rPr dirty="0" err="1"/>
              <a:t>d'insertion</a:t>
            </a:r>
            <a:r>
              <a:rPr dirty="0"/>
              <a:t>, </a:t>
            </a:r>
            <a:r>
              <a:rPr dirty="0" err="1"/>
              <a:t>établir</a:t>
            </a:r>
            <a:r>
              <a:rPr dirty="0"/>
              <a:t> un </a:t>
            </a:r>
            <a:r>
              <a:rPr dirty="0" err="1"/>
              <a:t>référentiel</a:t>
            </a:r>
            <a:r>
              <a:rPr dirty="0"/>
              <a:t> des métiers.</a:t>
            </a:r>
          </a:p>
          <a:p>
            <a:r>
              <a:rPr dirty="0" err="1"/>
              <a:t>Aucun</a:t>
            </a:r>
            <a:r>
              <a:rPr dirty="0"/>
              <a:t> des trois </a:t>
            </a:r>
            <a:r>
              <a:rPr dirty="0" err="1"/>
              <a:t>n'est</a:t>
            </a:r>
            <a:r>
              <a:rPr dirty="0"/>
              <a:t> un travail de </a:t>
            </a:r>
            <a:r>
              <a:rPr dirty="0" err="1"/>
              <a:t>statisticien</a:t>
            </a:r>
            <a:r>
              <a:rPr dirty="0"/>
              <a:t>. Ce </a:t>
            </a:r>
            <a:r>
              <a:rPr dirty="0" err="1"/>
              <a:t>sont</a:t>
            </a:r>
            <a:r>
              <a:rPr dirty="0"/>
              <a:t> des </a:t>
            </a:r>
            <a:r>
              <a:rPr dirty="0" err="1"/>
              <a:t>décisions</a:t>
            </a:r>
            <a:r>
              <a:rPr dirty="0"/>
              <a:t> </a:t>
            </a:r>
            <a:r>
              <a:rPr dirty="0" err="1"/>
              <a:t>administratives</a:t>
            </a:r>
            <a:r>
              <a:rPr dirty="0"/>
              <a:t> — et </a:t>
            </a:r>
            <a:r>
              <a:rPr dirty="0" err="1"/>
              <a:t>c'est</a:t>
            </a:r>
            <a:r>
              <a:rPr dirty="0"/>
              <a:t> </a:t>
            </a:r>
            <a:r>
              <a:rPr dirty="0" err="1"/>
              <a:t>précisément</a:t>
            </a:r>
            <a:r>
              <a:rPr dirty="0"/>
              <a:t> pour </a:t>
            </a:r>
            <a:r>
              <a:rPr dirty="0" err="1"/>
              <a:t>ça</a:t>
            </a:r>
            <a:r>
              <a:rPr dirty="0"/>
              <a:t> </a:t>
            </a:r>
            <a:r>
              <a:rPr dirty="0" err="1"/>
              <a:t>qu'un</a:t>
            </a:r>
            <a:r>
              <a:rPr dirty="0"/>
              <a:t> tableau de bord </a:t>
            </a:r>
            <a:r>
              <a:rPr dirty="0" err="1"/>
              <a:t>sert</a:t>
            </a:r>
            <a:r>
              <a:rPr dirty="0"/>
              <a:t> à quelque chose : il montre </a:t>
            </a:r>
            <a:r>
              <a:rPr dirty="0" err="1"/>
              <a:t>où</a:t>
            </a:r>
            <a:r>
              <a:rPr dirty="0"/>
              <a:t> la </a:t>
            </a:r>
            <a:r>
              <a:rPr dirty="0" err="1"/>
              <a:t>décision</a:t>
            </a:r>
            <a:r>
              <a:rPr dirty="0"/>
              <a:t> manque.</a:t>
            </a:r>
          </a:p>
          <a:p>
            <a:r>
              <a:rPr dirty="0"/>
              <a:t>Je </a:t>
            </a:r>
            <a:r>
              <a:rPr dirty="0" err="1"/>
              <a:t>termine</a:t>
            </a:r>
            <a:r>
              <a:rPr dirty="0"/>
              <a:t> </a:t>
            </a:r>
            <a:r>
              <a:rPr dirty="0" err="1"/>
              <a:t>là</a:t>
            </a:r>
            <a:r>
              <a:rPr dirty="0"/>
              <a:t>-dessus : un tableau de bord </a:t>
            </a:r>
            <a:r>
              <a:rPr dirty="0" err="1"/>
              <a:t>honnête</a:t>
            </a:r>
            <a:r>
              <a:rPr dirty="0"/>
              <a:t> montre </a:t>
            </a:r>
            <a:r>
              <a:rPr dirty="0" err="1"/>
              <a:t>d'abord</a:t>
            </a:r>
            <a:r>
              <a:rPr dirty="0"/>
              <a:t> </a:t>
            </a:r>
            <a:r>
              <a:rPr dirty="0" err="1"/>
              <a:t>ce</a:t>
            </a:r>
            <a:r>
              <a:rPr dirty="0"/>
              <a:t> </a:t>
            </a:r>
            <a:r>
              <a:rPr dirty="0" err="1"/>
              <a:t>qu'il</a:t>
            </a:r>
            <a:r>
              <a:rPr dirty="0"/>
              <a:t> ne </a:t>
            </a:r>
            <a:r>
              <a:rPr dirty="0" err="1"/>
              <a:t>peut</a:t>
            </a:r>
            <a:r>
              <a:rPr dirty="0"/>
              <a:t> pas </a:t>
            </a:r>
            <a:r>
              <a:rPr dirty="0" err="1"/>
              <a:t>montrer</a:t>
            </a:r>
            <a:r>
              <a:rPr dirty="0"/>
              <a:t>. Merci. Je </a:t>
            </a:r>
            <a:r>
              <a:rPr dirty="0" err="1"/>
              <a:t>réponds</a:t>
            </a:r>
            <a:r>
              <a:rPr dirty="0"/>
              <a:t> à </a:t>
            </a:r>
            <a:r>
              <a:rPr dirty="0" err="1"/>
              <a:t>vos</a:t>
            </a:r>
            <a:r>
              <a:rPr dirty="0"/>
              <a:t>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1920240"/>
            <a:ext cx="10515600" cy="2926080"/>
          </a:xfrm>
          <a:prstGeom prst="rect">
            <a:avLst/>
          </a:prstGeom>
          <a:noFill/>
        </p:spPr>
        <p:txBody>
          <a:bodyPr wrap="square">
            <a:spAutoFit/>
          </a:bodyPr>
          <a:lstStyle/>
          <a:p>
            <a:pPr algn="l">
              <a:spcAft>
                <a:spcPts val="1000"/>
              </a:spcAft>
            </a:pPr>
            <a:r>
              <a:rPr sz="4000" b="1">
                <a:solidFill>
                  <a:srgbClr val="0F172A"/>
                </a:solidFill>
                <a:latin typeface="Calibri"/>
              </a:rPr>
              <a:t>Adéquation formation-emploi au Togo</a:t>
            </a:r>
          </a:p>
          <a:p>
            <a:pPr algn="l">
              <a:spcAft>
                <a:spcPts val="2400"/>
              </a:spcAft>
            </a:pPr>
            <a:r>
              <a:rPr sz="1600" b="0">
                <a:solidFill>
                  <a:srgbClr val="475569"/>
                </a:solidFill>
                <a:latin typeface="Calibri"/>
              </a:rPr>
              <a:t>Comment ce tableau de bord a été construit — énoncé, postulats, méthodes</a:t>
            </a:r>
          </a:p>
          <a:p>
            <a:pPr algn="l">
              <a:spcAft>
                <a:spcPts val="2600"/>
              </a:spcAft>
            </a:pPr>
            <a:r>
              <a:rPr sz="1300" b="0">
                <a:solidFill>
                  <a:srgbClr val="0F172A"/>
                </a:solidFill>
                <a:latin typeface="Calibri"/>
              </a:rPr>
              <a:t>256 établissements techniques · 9 ressources ouvertes · 14 indicateurs du cahier des charges passés en revue</a:t>
            </a:r>
          </a:p>
          <a:p>
            <a:pPr algn="l">
              <a:spcAft>
                <a:spcPts val="600"/>
              </a:spcAft>
            </a:pPr>
            <a:r>
              <a:rPr sz="1200" b="0">
                <a:solidFill>
                  <a:srgbClr val="94A3B8"/>
                </a:solidFill>
                <a:latin typeface="Calibri"/>
              </a:rPr>
              <a:t>Kokou PIPI · Data AI Lab · Data Challenge Éducation, défi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2 · L'énoncé</a:t>
            </a:r>
          </a:p>
          <a:p>
            <a:pPr algn="l">
              <a:spcAft>
                <a:spcPts val="0"/>
              </a:spcAft>
            </a:pPr>
            <a:r>
              <a:rPr sz="1300" b="0">
                <a:solidFill>
                  <a:srgbClr val="94A3B8"/>
                </a:solidFill>
                <a:latin typeface="Calibri"/>
              </a:rPr>
              <a:t>Ce que le défi demandait, et ce que j'en ai fait une question mesurable</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a:endParaRPr/>
          </a:p>
        </p:txBody>
      </p:sp>
      <p:sp>
        <p:nvSpPr>
          <p:cNvPr id="4" name="TextBox 3"/>
          <p:cNvSpPr txBox="1"/>
          <p:nvPr/>
        </p:nvSpPr>
        <p:spPr>
          <a:xfrm>
            <a:off x="640080" y="1737360"/>
            <a:ext cx="5486400" cy="4023360"/>
          </a:xfrm>
          <a:prstGeom prst="rect">
            <a:avLst/>
          </a:prstGeom>
          <a:noFill/>
        </p:spPr>
        <p:txBody>
          <a:bodyPr wrap="square">
            <a:spAutoFit/>
          </a:bodyPr>
          <a:lstStyle/>
          <a:p>
            <a:pPr>
              <a:spcAft>
                <a:spcPts val="1000"/>
              </a:spcAft>
            </a:pPr>
            <a:r>
              <a:rPr sz="1300" b="1">
                <a:solidFill>
                  <a:srgbClr val="0F172A"/>
                </a:solidFill>
                <a:latin typeface="Calibri"/>
              </a:rPr>
              <a:t>·  La question posée</a:t>
            </a:r>
            <a:r>
              <a:rPr sz="1300">
                <a:solidFill>
                  <a:srgbClr val="475569"/>
                </a:solidFill>
                <a:latin typeface="Calibri"/>
              </a:rPr>
              <a:t>   « L'offre de formation est-elle alignée sur les besoins de l'économie togolaise ? »</a:t>
            </a:r>
          </a:p>
          <a:p>
            <a:pPr>
              <a:spcAft>
                <a:spcPts val="1000"/>
              </a:spcAft>
            </a:pPr>
            <a:r>
              <a:rPr sz="1300" b="1">
                <a:solidFill>
                  <a:srgbClr val="0F172A"/>
                </a:solidFill>
                <a:latin typeface="Calibri"/>
              </a:rPr>
              <a:t>·  Six objectifs</a:t>
            </a:r>
            <a:r>
              <a:rPr sz="1300">
                <a:solidFill>
                  <a:srgbClr val="475569"/>
                </a:solidFill>
                <a:latin typeface="Calibri"/>
              </a:rPr>
              <a:t>   cartographier l'offre, mesurer l'accès, suivre les moyens publics, décrire l'insertion, croiser, recommander</a:t>
            </a:r>
          </a:p>
          <a:p>
            <a:pPr>
              <a:spcAft>
                <a:spcPts val="1000"/>
              </a:spcAft>
            </a:pPr>
            <a:r>
              <a:rPr sz="1300" b="1">
                <a:solidFill>
                  <a:srgbClr val="0F172A"/>
                </a:solidFill>
                <a:latin typeface="Calibri"/>
              </a:rPr>
              <a:t>·  Un corpus imposé</a:t>
            </a:r>
            <a:r>
              <a:rPr sz="1300">
                <a:solidFill>
                  <a:srgbClr val="475569"/>
                </a:solidFill>
                <a:latin typeface="Calibri"/>
              </a:rPr>
              <a:t>   les ressources ouvertes du portail national, et elles seules</a:t>
            </a:r>
          </a:p>
        </p:txBody>
      </p:sp>
      <p:sp>
        <p:nvSpPr>
          <p:cNvPr id="5" name="TextBox 4"/>
          <p:cNvSpPr txBox="1"/>
          <p:nvPr/>
        </p:nvSpPr>
        <p:spPr>
          <a:xfrm>
            <a:off x="6492240" y="1828800"/>
            <a:ext cx="5029200" cy="2286000"/>
          </a:xfrm>
          <a:prstGeom prst="rect">
            <a:avLst/>
          </a:prstGeom>
          <a:noFill/>
        </p:spPr>
        <p:txBody>
          <a:bodyPr wrap="square">
            <a:spAutoFit/>
          </a:bodyPr>
          <a:lstStyle/>
          <a:p>
            <a:pPr algn="l">
              <a:spcAft>
                <a:spcPts val="200"/>
              </a:spcAft>
            </a:pPr>
            <a:r>
              <a:rPr sz="1200" b="1">
                <a:solidFill>
                  <a:srgbClr val="6366F1"/>
                </a:solidFill>
                <a:latin typeface="Calibri"/>
              </a:rPr>
              <a:t>La reformulation</a:t>
            </a:r>
          </a:p>
          <a:p>
            <a:pPr algn="l">
              <a:spcAft>
                <a:spcPts val="500"/>
              </a:spcAft>
            </a:pPr>
            <a:r>
              <a:rPr sz="1000" b="0">
                <a:solidFill>
                  <a:srgbClr val="94A3B8"/>
                </a:solidFill>
                <a:latin typeface="Calibri"/>
              </a:rPr>
              <a:t>Une question d'opinion peut-elle se mesurer ?</a:t>
            </a:r>
          </a:p>
          <a:p>
            <a:pPr algn="l">
              <a:spcAft>
                <a:spcPts val="400"/>
              </a:spcAft>
            </a:pPr>
            <a:r>
              <a:rPr sz="1300" b="1">
                <a:solidFill>
                  <a:srgbClr val="0F172A"/>
                </a:solidFill>
                <a:latin typeface="Calibri"/>
              </a:rPr>
              <a:t>Oui, en trois écarts</a:t>
            </a:r>
          </a:p>
          <a:p>
            <a:pPr algn="l">
              <a:spcAft>
                <a:spcPts val="0"/>
              </a:spcAft>
            </a:pPr>
            <a:r>
              <a:rPr sz="950" b="0">
                <a:solidFill>
                  <a:srgbClr val="475569"/>
                </a:solidFill>
                <a:latin typeface="Calibri"/>
              </a:rPr>
              <a:t>« Alignement » ne se mesure pas directement. Je l'ai éclaté en trois écarts observables : entre les territoires, entre l'accès et les moyens, entre la formation et l'insertion. Chacun se calcule ; leur somme ne se calcule pas, et je ne l'ai pas inventée.</a:t>
            </a:r>
          </a:p>
        </p:txBody>
      </p:sp>
      <p:sp>
        <p:nvSpPr>
          <p:cNvPr id="6" name="TextBox 5"/>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3 · Les attendus</a:t>
            </a:r>
          </a:p>
          <a:p>
            <a:pPr algn="l">
              <a:spcAft>
                <a:spcPts val="0"/>
              </a:spcAft>
            </a:pPr>
            <a:r>
              <a:rPr sz="1300" b="0">
                <a:solidFill>
                  <a:srgbClr val="94A3B8"/>
                </a:solidFill>
                <a:latin typeface="Calibri"/>
              </a:rPr>
              <a:t>Quatorze indicateurs, quatre livrables — et un verdict public pour chacun</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a:endParaRPr/>
          </a:p>
        </p:txBody>
      </p:sp>
      <p:sp>
        <p:nvSpPr>
          <p:cNvPr id="4" name="TextBox 3"/>
          <p:cNvSpPr txBox="1"/>
          <p:nvPr/>
        </p:nvSpPr>
        <p:spPr>
          <a:xfrm>
            <a:off x="640080" y="1737360"/>
            <a:ext cx="3566160" cy="1371600"/>
          </a:xfrm>
          <a:prstGeom prst="rect">
            <a:avLst/>
          </a:prstGeom>
          <a:noFill/>
        </p:spPr>
        <p:txBody>
          <a:bodyPr wrap="square">
            <a:spAutoFit/>
          </a:bodyPr>
          <a:lstStyle/>
          <a:p>
            <a:pPr algn="l">
              <a:spcAft>
                <a:spcPts val="200"/>
              </a:spcAft>
            </a:pPr>
            <a:r>
              <a:rPr sz="1100" b="0">
                <a:solidFill>
                  <a:srgbClr val="94A3B8"/>
                </a:solidFill>
                <a:latin typeface="Calibri"/>
              </a:rPr>
              <a:t>Indicateurs honorés</a:t>
            </a:r>
          </a:p>
          <a:p>
            <a:pPr algn="l">
              <a:spcAft>
                <a:spcPts val="200"/>
              </a:spcAft>
            </a:pPr>
            <a:r>
              <a:rPr sz="3200" b="1">
                <a:solidFill>
                  <a:srgbClr val="6366F1"/>
                </a:solidFill>
                <a:latin typeface="Calibri"/>
              </a:rPr>
              <a:t>9</a:t>
            </a:r>
          </a:p>
          <a:p>
            <a:pPr algn="l">
              <a:spcAft>
                <a:spcPts val="0"/>
              </a:spcAft>
            </a:pPr>
            <a:r>
              <a:rPr sz="1000" b="0">
                <a:solidFill>
                  <a:srgbClr val="475569"/>
                </a:solidFill>
                <a:latin typeface="Calibri"/>
              </a:rPr>
              <a:t>calculés et affichés</a:t>
            </a:r>
          </a:p>
        </p:txBody>
      </p:sp>
      <p:sp>
        <p:nvSpPr>
          <p:cNvPr id="5" name="TextBox 4"/>
          <p:cNvSpPr txBox="1"/>
          <p:nvPr/>
        </p:nvSpPr>
        <p:spPr>
          <a:xfrm>
            <a:off x="4434840" y="1737360"/>
            <a:ext cx="3566160" cy="1371600"/>
          </a:xfrm>
          <a:prstGeom prst="rect">
            <a:avLst/>
          </a:prstGeom>
          <a:noFill/>
        </p:spPr>
        <p:txBody>
          <a:bodyPr wrap="square">
            <a:spAutoFit/>
          </a:bodyPr>
          <a:lstStyle/>
          <a:p>
            <a:pPr algn="l">
              <a:spcAft>
                <a:spcPts val="200"/>
              </a:spcAft>
            </a:pPr>
            <a:r>
              <a:rPr sz="1100" b="0">
                <a:solidFill>
                  <a:srgbClr val="94A3B8"/>
                </a:solidFill>
                <a:latin typeface="Calibri"/>
              </a:rPr>
              <a:t>Partiellement</a:t>
            </a:r>
          </a:p>
          <a:p>
            <a:pPr algn="l">
              <a:spcAft>
                <a:spcPts val="200"/>
              </a:spcAft>
            </a:pPr>
            <a:r>
              <a:rPr sz="3200" b="1">
                <a:solidFill>
                  <a:srgbClr val="6366F1"/>
                </a:solidFill>
                <a:latin typeface="Calibri"/>
              </a:rPr>
              <a:t>2</a:t>
            </a:r>
          </a:p>
          <a:p>
            <a:pPr algn="l">
              <a:spcAft>
                <a:spcPts val="0"/>
              </a:spcAft>
            </a:pPr>
            <a:r>
              <a:rPr sz="1000" b="0">
                <a:solidFill>
                  <a:srgbClr val="475569"/>
                </a:solidFill>
                <a:latin typeface="Calibri"/>
              </a:rPr>
              <a:t>la donnée existe, mais pas à la maille demandée</a:t>
            </a:r>
          </a:p>
        </p:txBody>
      </p:sp>
      <p:sp>
        <p:nvSpPr>
          <p:cNvPr id="6" name="TextBox 5"/>
          <p:cNvSpPr txBox="1"/>
          <p:nvPr/>
        </p:nvSpPr>
        <p:spPr>
          <a:xfrm>
            <a:off x="8229600" y="1737360"/>
            <a:ext cx="3566160" cy="1371600"/>
          </a:xfrm>
          <a:prstGeom prst="rect">
            <a:avLst/>
          </a:prstGeom>
          <a:noFill/>
        </p:spPr>
        <p:txBody>
          <a:bodyPr wrap="square">
            <a:spAutoFit/>
          </a:bodyPr>
          <a:lstStyle/>
          <a:p>
            <a:pPr algn="l">
              <a:spcAft>
                <a:spcPts val="200"/>
              </a:spcAft>
            </a:pPr>
            <a:r>
              <a:rPr sz="1100" b="0">
                <a:solidFill>
                  <a:srgbClr val="94A3B8"/>
                </a:solidFill>
                <a:latin typeface="Calibri"/>
              </a:rPr>
              <a:t>Impossibles</a:t>
            </a:r>
          </a:p>
          <a:p>
            <a:pPr algn="l">
              <a:spcAft>
                <a:spcPts val="200"/>
              </a:spcAft>
            </a:pPr>
            <a:r>
              <a:rPr sz="3200" b="1">
                <a:solidFill>
                  <a:srgbClr val="D03B3B"/>
                </a:solidFill>
                <a:latin typeface="Calibri"/>
              </a:rPr>
              <a:t>3</a:t>
            </a:r>
          </a:p>
          <a:p>
            <a:pPr algn="l">
              <a:spcAft>
                <a:spcPts val="0"/>
              </a:spcAft>
            </a:pPr>
            <a:r>
              <a:rPr sz="1000" b="0">
                <a:solidFill>
                  <a:srgbClr val="475569"/>
                </a:solidFill>
                <a:latin typeface="Calibri"/>
              </a:rPr>
              <a:t>et la planche dit POURQUOI</a:t>
            </a:r>
          </a:p>
        </p:txBody>
      </p:sp>
      <p:sp>
        <p:nvSpPr>
          <p:cNvPr id="7" name="TextBox 6"/>
          <p:cNvSpPr txBox="1"/>
          <p:nvPr/>
        </p:nvSpPr>
        <p:spPr>
          <a:xfrm>
            <a:off x="640080" y="3474720"/>
            <a:ext cx="10881360" cy="2286000"/>
          </a:xfrm>
          <a:prstGeom prst="rect">
            <a:avLst/>
          </a:prstGeom>
          <a:noFill/>
        </p:spPr>
        <p:txBody>
          <a:bodyPr wrap="square">
            <a:spAutoFit/>
          </a:bodyPr>
          <a:lstStyle/>
          <a:p>
            <a:pPr>
              <a:spcAft>
                <a:spcPts val="1000"/>
              </a:spcAft>
            </a:pPr>
            <a:r>
              <a:rPr sz="1300" b="1">
                <a:solidFill>
                  <a:srgbClr val="0F172A"/>
                </a:solidFill>
                <a:latin typeface="Calibri"/>
              </a:rPr>
              <a:t>·  Les quatre livrables</a:t>
            </a:r>
            <a:r>
              <a:rPr sz="1300">
                <a:solidFill>
                  <a:srgbClr val="475569"/>
                </a:solidFill>
                <a:latin typeface="Calibri"/>
              </a:rPr>
              <a:t>   un tableau de bord bilingue, un rapport de dix pages, l'archive du code et des données, un diagnostic d'installation</a:t>
            </a:r>
          </a:p>
          <a:p>
            <a:pPr>
              <a:spcAft>
                <a:spcPts val="1000"/>
              </a:spcAft>
            </a:pPr>
            <a:r>
              <a:rPr sz="1300" b="1">
                <a:solidFill>
                  <a:srgbClr val="0F172A"/>
                </a:solidFill>
                <a:latin typeface="Calibri"/>
              </a:rPr>
              <a:t>·  Le principe</a:t>
            </a:r>
            <a:r>
              <a:rPr sz="1300">
                <a:solidFill>
                  <a:srgbClr val="475569"/>
                </a:solidFill>
                <a:latin typeface="Calibri"/>
              </a:rPr>
              <a:t>   un indicateur impossible reste AFFICHÉ, avec sa cause — le masquer donnerait l'illusion d'un travail complet</a:t>
            </a:r>
          </a:p>
        </p:txBody>
      </p:sp>
      <p:sp>
        <p:nvSpPr>
          <p:cNvPr id="8" name="TextBox 7"/>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4 · Le matériau</a:t>
            </a:r>
          </a:p>
          <a:p>
            <a:pPr algn="l">
              <a:spcAft>
                <a:spcPts val="0"/>
              </a:spcAft>
            </a:pPr>
            <a:r>
              <a:rPr sz="1300" b="0">
                <a:solidFill>
                  <a:srgbClr val="94A3B8"/>
                </a:solidFill>
                <a:latin typeface="Calibri"/>
              </a:rPr>
              <a:t>Neuf ressources — et une asymétrie qui commande tout le reste</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a:endParaRPr/>
          </a:p>
        </p:txBody>
      </p:sp>
      <p:sp>
        <p:nvSpPr>
          <p:cNvPr id="4" name="TextBox 3"/>
          <p:cNvSpPr txBox="1"/>
          <p:nvPr/>
        </p:nvSpPr>
        <p:spPr>
          <a:xfrm>
            <a:off x="640080" y="1737360"/>
            <a:ext cx="5669280" cy="4023360"/>
          </a:xfrm>
          <a:prstGeom prst="rect">
            <a:avLst/>
          </a:prstGeom>
          <a:noFill/>
        </p:spPr>
        <p:txBody>
          <a:bodyPr wrap="square">
            <a:spAutoFit/>
          </a:bodyPr>
          <a:lstStyle/>
          <a:p>
            <a:pPr>
              <a:spcAft>
                <a:spcPts val="1000"/>
              </a:spcAft>
            </a:pPr>
            <a:r>
              <a:rPr sz="1300" b="1">
                <a:solidFill>
                  <a:srgbClr val="0F172A"/>
                </a:solidFill>
                <a:latin typeface="Calibri"/>
              </a:rPr>
              <a:t>·  8 ressources chargées</a:t>
            </a:r>
            <a:r>
              <a:rPr sz="1300">
                <a:solidFill>
                  <a:srgbClr val="475569"/>
                </a:solidFill>
                <a:latin typeface="Calibri"/>
              </a:rPr>
              <a:t>   sur 9 ; la neuvième est une table de contrôle du jeu technique</a:t>
            </a:r>
          </a:p>
          <a:p>
            <a:pPr>
              <a:spcAft>
                <a:spcPts val="1000"/>
              </a:spcAft>
            </a:pPr>
            <a:r>
              <a:rPr sz="1300" b="1">
                <a:solidFill>
                  <a:srgbClr val="0F172A"/>
                </a:solidFill>
                <a:latin typeface="Calibri"/>
              </a:rPr>
              <a:t>·  1 seule descend sous le national</a:t>
            </a:r>
            <a:r>
              <a:rPr sz="1300">
                <a:solidFill>
                  <a:srgbClr val="475569"/>
                </a:solidFill>
                <a:latin typeface="Calibri"/>
              </a:rPr>
              <a:t>   les 256 établissements techniques, géolocalisés</a:t>
            </a:r>
          </a:p>
          <a:p>
            <a:pPr>
              <a:spcAft>
                <a:spcPts val="1000"/>
              </a:spcAft>
            </a:pPr>
            <a:r>
              <a:rPr sz="1300" b="1">
                <a:solidFill>
                  <a:srgbClr val="0F172A"/>
                </a:solidFill>
                <a:latin typeface="Calibri"/>
              </a:rPr>
              <a:t>·  7 séries nationales</a:t>
            </a:r>
            <a:r>
              <a:rPr sz="1300">
                <a:solidFill>
                  <a:srgbClr val="475569"/>
                </a:solidFill>
                <a:latin typeface="Calibri"/>
              </a:rPr>
              <a:t>   budget, inscriptions, dépense, chômage, effectifs — un seul chiffre par année</a:t>
            </a:r>
          </a:p>
          <a:p>
            <a:pPr>
              <a:spcAft>
                <a:spcPts val="1000"/>
              </a:spcAft>
            </a:pPr>
            <a:r>
              <a:rPr sz="1300" b="1">
                <a:solidFill>
                  <a:srgbClr val="0F172A"/>
                </a:solidFill>
                <a:latin typeface="Calibri"/>
              </a:rPr>
              <a:t>·  Périodes hétérogènes</a:t>
            </a:r>
            <a:r>
              <a:rPr sz="1300">
                <a:solidFill>
                  <a:srgbClr val="475569"/>
                </a:solidFill>
                <a:latin typeface="Calibri"/>
              </a:rPr>
              <a:t>   supérieur 2018, technique 2025, séries internationales 1971-2022</a:t>
            </a:r>
          </a:p>
        </p:txBody>
      </p:sp>
      <p:sp>
        <p:nvSpPr>
          <p:cNvPr id="5" name="TextBox 4"/>
          <p:cNvSpPr txBox="1"/>
          <p:nvPr/>
        </p:nvSpPr>
        <p:spPr>
          <a:xfrm>
            <a:off x="6675120" y="1828800"/>
            <a:ext cx="4846320" cy="2651760"/>
          </a:xfrm>
          <a:prstGeom prst="rect">
            <a:avLst/>
          </a:prstGeom>
          <a:noFill/>
        </p:spPr>
        <p:txBody>
          <a:bodyPr wrap="square">
            <a:spAutoFit/>
          </a:bodyPr>
          <a:lstStyle/>
          <a:p>
            <a:pPr algn="l">
              <a:spcAft>
                <a:spcPts val="200"/>
              </a:spcAft>
            </a:pPr>
            <a:r>
              <a:rPr sz="1200" b="1">
                <a:solidFill>
                  <a:srgbClr val="6366F1"/>
                </a:solidFill>
                <a:latin typeface="Calibri"/>
              </a:rPr>
              <a:t>La conséquence</a:t>
            </a:r>
          </a:p>
          <a:p>
            <a:pPr algn="l">
              <a:spcAft>
                <a:spcPts val="500"/>
              </a:spcAft>
            </a:pPr>
            <a:r>
              <a:rPr sz="1000" b="0">
                <a:solidFill>
                  <a:srgbClr val="94A3B8"/>
                </a:solidFill>
                <a:latin typeface="Calibri"/>
              </a:rPr>
              <a:t>Pourquoi cette asymétrie décide de tout ?</a:t>
            </a:r>
          </a:p>
          <a:p>
            <a:pPr algn="l">
              <a:spcAft>
                <a:spcPts val="400"/>
              </a:spcAft>
            </a:pPr>
            <a:r>
              <a:rPr sz="1300" b="1">
                <a:solidFill>
                  <a:srgbClr val="0F172A"/>
                </a:solidFill>
                <a:latin typeface="Calibri"/>
              </a:rPr>
              <a:t>Aucun score régional composite</a:t>
            </a:r>
          </a:p>
          <a:p>
            <a:pPr algn="l">
              <a:spcAft>
                <a:spcPts val="0"/>
              </a:spcAft>
            </a:pPr>
            <a:r>
              <a:rPr sz="950" b="0">
                <a:solidFill>
                  <a:srgbClr val="475569"/>
                </a:solidFill>
                <a:latin typeface="Calibri"/>
              </a:rPr>
              <a:t>Un indicateur national ne peut pas entrer dans un classement de régions : il y apporterait la même valeur partout, en donnant l'illusion d'avoir été mesuré localement. Le chômage des diplômés est donc absent de tous les scores territoriaux, et la vue le dit.</a:t>
            </a:r>
          </a:p>
        </p:txBody>
      </p:sp>
      <p:sp>
        <p:nvSpPr>
          <p:cNvPr id="6" name="TextBox 5"/>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5 · Les postulats</a:t>
            </a:r>
          </a:p>
          <a:p>
            <a:pPr algn="l">
              <a:spcAft>
                <a:spcPts val="0"/>
              </a:spcAft>
            </a:pPr>
            <a:r>
              <a:rPr sz="1300" b="0">
                <a:solidFill>
                  <a:srgbClr val="94A3B8"/>
                </a:solidFill>
                <a:latin typeface="Calibri"/>
              </a:rPr>
              <a:t>Quatre règles posées AVANT de regarder les données — donc avant de savoir ce qu'elles arrangeraient</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a:endParaRPr/>
          </a:p>
        </p:txBody>
      </p:sp>
      <p:sp>
        <p:nvSpPr>
          <p:cNvPr id="4" name="TextBox 3"/>
          <p:cNvSpPr txBox="1"/>
          <p:nvPr/>
        </p:nvSpPr>
        <p:spPr>
          <a:xfrm>
            <a:off x="640080" y="1737360"/>
            <a:ext cx="5394960" cy="1920240"/>
          </a:xfrm>
          <a:prstGeom prst="rect">
            <a:avLst/>
          </a:prstGeom>
          <a:noFill/>
        </p:spPr>
        <p:txBody>
          <a:bodyPr wrap="square">
            <a:spAutoFit/>
          </a:bodyPr>
          <a:lstStyle/>
          <a:p>
            <a:pPr algn="l">
              <a:spcAft>
                <a:spcPts val="200"/>
              </a:spcAft>
            </a:pPr>
            <a:r>
              <a:rPr sz="1200" b="1">
                <a:solidFill>
                  <a:srgbClr val="6366F1"/>
                </a:solidFill>
                <a:latin typeface="Calibri"/>
              </a:rPr>
              <a:t>1 · Aucune donnée fabriquée</a:t>
            </a:r>
          </a:p>
          <a:p>
            <a:pPr algn="l">
              <a:spcAft>
                <a:spcPts val="500"/>
              </a:spcAft>
            </a:pPr>
            <a:r>
              <a:rPr sz="1000" b="0">
                <a:solidFill>
                  <a:srgbClr val="94A3B8"/>
                </a:solidFill>
                <a:latin typeface="Calibri"/>
              </a:rPr>
              <a:t>Que faire d'une série trouée ?</a:t>
            </a:r>
          </a:p>
          <a:p>
            <a:pPr algn="l">
              <a:spcAft>
                <a:spcPts val="400"/>
              </a:spcAft>
            </a:pPr>
            <a:r>
              <a:rPr sz="1300" b="1">
                <a:solidFill>
                  <a:srgbClr val="0F172A"/>
                </a:solidFill>
                <a:latin typeface="Calibri"/>
              </a:rPr>
              <a:t>On laisse le trou</a:t>
            </a:r>
          </a:p>
          <a:p>
            <a:pPr algn="l">
              <a:spcAft>
                <a:spcPts val="0"/>
              </a:spcAft>
            </a:pPr>
            <a:r>
              <a:rPr sz="950" b="0">
                <a:solidFill>
                  <a:srgbClr val="475569"/>
                </a:solidFill>
                <a:latin typeface="Calibri"/>
              </a:rPr>
              <a:t>Ni interpolation, ni moyenne de remplissage. Les non-réponses restent visibles sous « Non renseigné » : les supprimer embellirait toutes les répartitions.</a:t>
            </a:r>
          </a:p>
        </p:txBody>
      </p:sp>
      <p:sp>
        <p:nvSpPr>
          <p:cNvPr id="5" name="TextBox 4"/>
          <p:cNvSpPr txBox="1"/>
          <p:nvPr/>
        </p:nvSpPr>
        <p:spPr>
          <a:xfrm>
            <a:off x="6263640" y="1737360"/>
            <a:ext cx="5394960" cy="1920240"/>
          </a:xfrm>
          <a:prstGeom prst="rect">
            <a:avLst/>
          </a:prstGeom>
          <a:noFill/>
        </p:spPr>
        <p:txBody>
          <a:bodyPr wrap="square">
            <a:spAutoFit/>
          </a:bodyPr>
          <a:lstStyle/>
          <a:p>
            <a:pPr algn="l">
              <a:spcAft>
                <a:spcPts val="200"/>
              </a:spcAft>
            </a:pPr>
            <a:r>
              <a:rPr sz="1200" b="1">
                <a:solidFill>
                  <a:srgbClr val="6366F1"/>
                </a:solidFill>
                <a:latin typeface="Calibri"/>
              </a:rPr>
              <a:t>2 · Aucun croisement non autorisé</a:t>
            </a:r>
          </a:p>
          <a:p>
            <a:pPr algn="l">
              <a:spcAft>
                <a:spcPts val="500"/>
              </a:spcAft>
            </a:pPr>
            <a:r>
              <a:rPr sz="1000" b="0">
                <a:solidFill>
                  <a:srgbClr val="94A3B8"/>
                </a:solidFill>
                <a:latin typeface="Calibri"/>
              </a:rPr>
              <a:t>Peut-on croiser deux mailles différentes ?</a:t>
            </a:r>
          </a:p>
          <a:p>
            <a:pPr algn="l">
              <a:spcAft>
                <a:spcPts val="400"/>
              </a:spcAft>
            </a:pPr>
            <a:r>
              <a:rPr sz="1300" b="1">
                <a:solidFill>
                  <a:srgbClr val="0F172A"/>
                </a:solidFill>
                <a:latin typeface="Calibri"/>
              </a:rPr>
              <a:t>Non, jamais en silence</a:t>
            </a:r>
          </a:p>
          <a:p>
            <a:pPr algn="l">
              <a:spcAft>
                <a:spcPts val="0"/>
              </a:spcAft>
            </a:pPr>
            <a:r>
              <a:rPr sz="950" b="0">
                <a:solidFill>
                  <a:srgbClr val="475569"/>
                </a:solidFill>
                <a:latin typeface="Calibri"/>
              </a:rPr>
              <a:t>Chaque croisement déclare ses ingrédients, sa clé de jointure et son nombre d'observations. Cinq années communes n'autorisent pas les conclusions de dix.</a:t>
            </a:r>
          </a:p>
        </p:txBody>
      </p:sp>
      <p:sp>
        <p:nvSpPr>
          <p:cNvPr id="6" name="TextBox 5"/>
          <p:cNvSpPr txBox="1"/>
          <p:nvPr/>
        </p:nvSpPr>
        <p:spPr>
          <a:xfrm>
            <a:off x="640080" y="3840480"/>
            <a:ext cx="5394960" cy="1920240"/>
          </a:xfrm>
          <a:prstGeom prst="rect">
            <a:avLst/>
          </a:prstGeom>
          <a:noFill/>
        </p:spPr>
        <p:txBody>
          <a:bodyPr wrap="square">
            <a:spAutoFit/>
          </a:bodyPr>
          <a:lstStyle/>
          <a:p>
            <a:pPr algn="l">
              <a:spcAft>
                <a:spcPts val="200"/>
              </a:spcAft>
            </a:pPr>
            <a:r>
              <a:rPr sz="1200" b="1">
                <a:solidFill>
                  <a:srgbClr val="6366F1"/>
                </a:solidFill>
                <a:latin typeface="Calibri"/>
              </a:rPr>
              <a:t>3 · Le non-significatif s'affiche</a:t>
            </a:r>
          </a:p>
          <a:p>
            <a:pPr algn="l">
              <a:spcAft>
                <a:spcPts val="500"/>
              </a:spcAft>
            </a:pPr>
            <a:r>
              <a:rPr sz="1000" b="0">
                <a:solidFill>
                  <a:srgbClr val="94A3B8"/>
                </a:solidFill>
                <a:latin typeface="Calibri"/>
              </a:rPr>
              <a:t>Que fait-on d'un modèle qui ne conclut pas ?</a:t>
            </a:r>
          </a:p>
          <a:p>
            <a:pPr algn="l">
              <a:spcAft>
                <a:spcPts val="400"/>
              </a:spcAft>
            </a:pPr>
            <a:r>
              <a:rPr sz="1300" b="1">
                <a:solidFill>
                  <a:srgbClr val="0F172A"/>
                </a:solidFill>
                <a:latin typeface="Calibri"/>
              </a:rPr>
              <a:t>On le publie quand même</a:t>
            </a:r>
          </a:p>
          <a:p>
            <a:pPr algn="l">
              <a:spcAft>
                <a:spcPts val="0"/>
              </a:spcAft>
            </a:pPr>
            <a:r>
              <a:rPr sz="950" b="0">
                <a:solidFill>
                  <a:srgbClr val="475569"/>
                </a:solidFill>
                <a:latin typeface="Calibri"/>
              </a:rPr>
              <a:t>Deux des cinq modèles ne concluent pas. Les retirer donnerait à l'ensemble une solidité qu'il n'a pas.</a:t>
            </a:r>
          </a:p>
        </p:txBody>
      </p:sp>
      <p:sp>
        <p:nvSpPr>
          <p:cNvPr id="7" name="TextBox 6"/>
          <p:cNvSpPr txBox="1"/>
          <p:nvPr/>
        </p:nvSpPr>
        <p:spPr>
          <a:xfrm>
            <a:off x="6263640" y="3840480"/>
            <a:ext cx="5394960" cy="1920240"/>
          </a:xfrm>
          <a:prstGeom prst="rect">
            <a:avLst/>
          </a:prstGeom>
          <a:noFill/>
        </p:spPr>
        <p:txBody>
          <a:bodyPr wrap="square">
            <a:spAutoFit/>
          </a:bodyPr>
          <a:lstStyle/>
          <a:p>
            <a:pPr algn="l">
              <a:spcAft>
                <a:spcPts val="200"/>
              </a:spcAft>
            </a:pPr>
            <a:r>
              <a:rPr sz="1200" b="1">
                <a:solidFill>
                  <a:srgbClr val="6366F1"/>
                </a:solidFill>
                <a:latin typeface="Calibri"/>
              </a:rPr>
              <a:t>4 · Le contexte externe reste dehors</a:t>
            </a:r>
          </a:p>
          <a:p>
            <a:pPr algn="l">
              <a:spcAft>
                <a:spcPts val="500"/>
              </a:spcAft>
            </a:pPr>
            <a:r>
              <a:rPr sz="1000" b="0">
                <a:solidFill>
                  <a:srgbClr val="94A3B8"/>
                </a:solidFill>
                <a:latin typeface="Calibri"/>
              </a:rPr>
              <a:t>Peut-on compléter avec d'autres sources ?</a:t>
            </a:r>
          </a:p>
          <a:p>
            <a:pPr algn="l">
              <a:spcAft>
                <a:spcPts val="400"/>
              </a:spcAft>
            </a:pPr>
            <a:r>
              <a:rPr sz="1300" b="1">
                <a:solidFill>
                  <a:srgbClr val="0F172A"/>
                </a:solidFill>
                <a:latin typeface="Calibri"/>
              </a:rPr>
              <a:t>Oui, mais séparément</a:t>
            </a:r>
          </a:p>
          <a:p>
            <a:pPr algn="l">
              <a:spcAft>
                <a:spcPts val="0"/>
              </a:spcAft>
            </a:pPr>
            <a:r>
              <a:rPr sz="950" b="0">
                <a:solidFill>
                  <a:srgbClr val="475569"/>
                </a:solidFill>
                <a:latin typeface="Calibri"/>
              </a:rPr>
              <a:t>Les repères d'enquêtes nationales sont sourcés, signalés visuellement, et n'entrent dans aucun calcul du corpus.</a:t>
            </a:r>
          </a:p>
        </p:txBody>
      </p:sp>
      <p:sp>
        <p:nvSpPr>
          <p:cNvPr id="8" name="TextBox 7"/>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6 · Méthode, temps 1 — lire vraiment les fichiers</a:t>
            </a:r>
          </a:p>
          <a:p>
            <a:pPr algn="l">
              <a:spcAft>
                <a:spcPts val="0"/>
              </a:spcAft>
            </a:pPr>
            <a:r>
              <a:rPr sz="1300" b="0">
                <a:solidFill>
                  <a:srgbClr val="94A3B8"/>
                </a:solidFill>
                <a:latin typeface="Calibri"/>
              </a:rPr>
              <a:t>Avant toute analyse : ouvrir, compter, comparer au dictionnaire</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a:endParaRPr/>
          </a:p>
        </p:txBody>
      </p:sp>
      <p:sp>
        <p:nvSpPr>
          <p:cNvPr id="4" name="TextBox 3"/>
          <p:cNvSpPr txBox="1"/>
          <p:nvPr/>
        </p:nvSpPr>
        <p:spPr>
          <a:xfrm>
            <a:off x="640080" y="1737360"/>
            <a:ext cx="5212080" cy="1371600"/>
          </a:xfrm>
          <a:prstGeom prst="rect">
            <a:avLst/>
          </a:prstGeom>
          <a:noFill/>
        </p:spPr>
        <p:txBody>
          <a:bodyPr wrap="square">
            <a:spAutoFit/>
          </a:bodyPr>
          <a:lstStyle/>
          <a:p>
            <a:pPr algn="l">
              <a:spcAft>
                <a:spcPts val="200"/>
              </a:spcAft>
            </a:pPr>
            <a:r>
              <a:rPr sz="1100" b="0">
                <a:solidFill>
                  <a:srgbClr val="94A3B8"/>
                </a:solidFill>
                <a:latin typeface="Calibri"/>
              </a:rPr>
              <a:t>Champs publiés, sur ceux décrits</a:t>
            </a:r>
          </a:p>
          <a:p>
            <a:pPr algn="l">
              <a:spcAft>
                <a:spcPts val="200"/>
              </a:spcAft>
            </a:pPr>
            <a:r>
              <a:rPr sz="3200" b="1">
                <a:solidFill>
                  <a:srgbClr val="D03B3B"/>
                </a:solidFill>
                <a:latin typeface="Calibri"/>
              </a:rPr>
              <a:t>16 / 216</a:t>
            </a:r>
          </a:p>
          <a:p>
            <a:pPr algn="l">
              <a:spcAft>
                <a:spcPts val="0"/>
              </a:spcAft>
            </a:pPr>
            <a:r>
              <a:rPr sz="1000" b="0">
                <a:solidFill>
                  <a:srgbClr val="475569"/>
                </a:solidFill>
                <a:latin typeface="Calibri"/>
              </a:rPr>
              <a:t>le dictionnaire du jeu technique en décrit 216</a:t>
            </a:r>
          </a:p>
        </p:txBody>
      </p:sp>
      <p:sp>
        <p:nvSpPr>
          <p:cNvPr id="5" name="TextBox 4"/>
          <p:cNvSpPr txBox="1"/>
          <p:nvPr/>
        </p:nvSpPr>
        <p:spPr>
          <a:xfrm>
            <a:off x="6309360" y="1737360"/>
            <a:ext cx="5212080" cy="1371600"/>
          </a:xfrm>
          <a:prstGeom prst="rect">
            <a:avLst/>
          </a:prstGeom>
          <a:noFill/>
        </p:spPr>
        <p:txBody>
          <a:bodyPr wrap="square">
            <a:spAutoFit/>
          </a:bodyPr>
          <a:lstStyle/>
          <a:p>
            <a:pPr algn="l">
              <a:spcAft>
                <a:spcPts val="200"/>
              </a:spcAft>
            </a:pPr>
            <a:r>
              <a:rPr sz="1100" b="0">
                <a:solidFill>
                  <a:srgbClr val="94A3B8"/>
                </a:solidFill>
                <a:latin typeface="Calibri"/>
              </a:rPr>
              <a:t>Champs collectés, non diffusés</a:t>
            </a:r>
          </a:p>
          <a:p>
            <a:pPr algn="l">
              <a:spcAft>
                <a:spcPts val="200"/>
              </a:spcAft>
            </a:pPr>
            <a:r>
              <a:rPr sz="3200" b="1">
                <a:solidFill>
                  <a:srgbClr val="D03B3B"/>
                </a:solidFill>
                <a:latin typeface="Calibri"/>
              </a:rPr>
              <a:t>201</a:t>
            </a:r>
          </a:p>
          <a:p>
            <a:pPr algn="l">
              <a:spcAft>
                <a:spcPts val="0"/>
              </a:spcAft>
            </a:pPr>
            <a:r>
              <a:rPr sz="1000" b="0">
                <a:solidFill>
                  <a:srgbClr val="475569"/>
                </a:solidFill>
                <a:latin typeface="Calibri"/>
              </a:rPr>
              <a:t>dont les effectifs d'élèves et le nombre d'enseignants</a:t>
            </a:r>
          </a:p>
        </p:txBody>
      </p:sp>
      <p:sp>
        <p:nvSpPr>
          <p:cNvPr id="6" name="TextBox 5"/>
          <p:cNvSpPr txBox="1"/>
          <p:nvPr/>
        </p:nvSpPr>
        <p:spPr>
          <a:xfrm>
            <a:off x="640080" y="3383280"/>
            <a:ext cx="10881360" cy="2377440"/>
          </a:xfrm>
          <a:prstGeom prst="rect">
            <a:avLst/>
          </a:prstGeom>
          <a:noFill/>
        </p:spPr>
        <p:txBody>
          <a:bodyPr wrap="square">
            <a:spAutoFit/>
          </a:bodyPr>
          <a:lstStyle/>
          <a:p>
            <a:pPr>
              <a:spcAft>
                <a:spcPts val="1000"/>
              </a:spcAft>
            </a:pPr>
            <a:r>
              <a:rPr sz="1300" b="1">
                <a:solidFill>
                  <a:srgbClr val="0F172A"/>
                </a:solidFill>
                <a:latin typeface="Calibri"/>
              </a:rPr>
              <a:t>·  Le geste</a:t>
            </a:r>
            <a:r>
              <a:rPr sz="1300">
                <a:solidFill>
                  <a:srgbClr val="475569"/>
                </a:solidFill>
                <a:latin typeface="Calibri"/>
              </a:rPr>
              <a:t>   comparer le fichier diffusé à son propre dictionnaire de métadonnées — c'est lui qui prouve ce qui manque</a:t>
            </a:r>
          </a:p>
          <a:p>
            <a:pPr>
              <a:spcAft>
                <a:spcPts val="1000"/>
              </a:spcAft>
            </a:pPr>
            <a:r>
              <a:rPr sz="1300" b="1">
                <a:solidFill>
                  <a:srgbClr val="0F172A"/>
                </a:solidFill>
                <a:latin typeface="Calibri"/>
              </a:rPr>
              <a:t>·  Le nettoyage est documenté champ par champ</a:t>
            </a:r>
            <a:r>
              <a:rPr sz="1300">
                <a:solidFill>
                  <a:srgbClr val="475569"/>
                </a:solidFill>
                <a:latin typeface="Calibri"/>
              </a:rPr>
              <a:t>   chaque correction est écrite et justifiée dans les annexes, pas enfouie dans le code</a:t>
            </a:r>
          </a:p>
          <a:p>
            <a:pPr>
              <a:spcAft>
                <a:spcPts val="1000"/>
              </a:spcAft>
            </a:pPr>
            <a:r>
              <a:rPr sz="1300" b="1">
                <a:solidFill>
                  <a:srgbClr val="0F172A"/>
                </a:solidFill>
                <a:latin typeface="Calibri"/>
              </a:rPr>
              <a:t>·  Une contradiction assumée</a:t>
            </a:r>
            <a:r>
              <a:rPr sz="1300">
                <a:solidFill>
                  <a:srgbClr val="475569"/>
                </a:solidFill>
                <a:latin typeface="Calibri"/>
              </a:rPr>
              <a:t>   le fichier du supérieur se contredit lui-même : total national à 14, détail des villes à 65. J'ai retenu le détail — c'est un CHOIX, et tous les chiffres du supérieur en dépendent</a:t>
            </a:r>
          </a:p>
        </p:txBody>
      </p:sp>
      <p:sp>
        <p:nvSpPr>
          <p:cNvPr id="7" name="TextBox 6"/>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7 · Méthode, temps 2 — les outils statistiques</a:t>
            </a:r>
          </a:p>
          <a:p>
            <a:pPr algn="l">
              <a:spcAft>
                <a:spcPts val="0"/>
              </a:spcAft>
            </a:pPr>
            <a:r>
              <a:rPr sz="1300" b="0">
                <a:solidFill>
                  <a:srgbClr val="94A3B8"/>
                </a:solidFill>
                <a:latin typeface="Calibri"/>
              </a:rPr>
              <a:t>Sept outils, choisis pour ce que chacun peut établir — et pas au-delà</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a:endParaRPr/>
          </a:p>
        </p:txBody>
      </p:sp>
      <p:sp>
        <p:nvSpPr>
          <p:cNvPr id="4" name="TextBox 3"/>
          <p:cNvSpPr txBox="1"/>
          <p:nvPr/>
        </p:nvSpPr>
        <p:spPr>
          <a:xfrm>
            <a:off x="640080" y="1737360"/>
            <a:ext cx="5394960" cy="4206240"/>
          </a:xfrm>
          <a:prstGeom prst="rect">
            <a:avLst/>
          </a:prstGeom>
          <a:noFill/>
        </p:spPr>
        <p:txBody>
          <a:bodyPr wrap="square">
            <a:spAutoFit/>
          </a:bodyPr>
          <a:lstStyle/>
          <a:p>
            <a:pPr>
              <a:spcAft>
                <a:spcPts val="1000"/>
              </a:spcAft>
            </a:pPr>
            <a:r>
              <a:rPr sz="1250" b="1">
                <a:solidFill>
                  <a:srgbClr val="0F172A"/>
                </a:solidFill>
                <a:latin typeface="Calibri"/>
              </a:rPr>
              <a:t>·  Régression linéaire</a:t>
            </a:r>
            <a:r>
              <a:rPr sz="1250">
                <a:solidFill>
                  <a:srgbClr val="475569"/>
                </a:solidFill>
                <a:latin typeface="Calibri"/>
              </a:rPr>
              <a:t>   avec pente, R², p-value et intervalle de confiance — jamais la pente seule</a:t>
            </a:r>
          </a:p>
          <a:p>
            <a:pPr>
              <a:spcAft>
                <a:spcPts val="1000"/>
              </a:spcAft>
            </a:pPr>
            <a:r>
              <a:rPr sz="1250" b="1">
                <a:solidFill>
                  <a:srgbClr val="0F172A"/>
                </a:solidFill>
                <a:latin typeface="Calibri"/>
              </a:rPr>
              <a:t>·  Tendance temporelle</a:t>
            </a:r>
            <a:r>
              <a:rPr sz="1250">
                <a:solidFill>
                  <a:srgbClr val="475569"/>
                </a:solidFill>
                <a:latin typeface="Calibri"/>
              </a:rPr>
              <a:t>   combien d'unités par an, sur les années réellement observées</a:t>
            </a:r>
          </a:p>
          <a:p>
            <a:pPr>
              <a:spcAft>
                <a:spcPts val="1000"/>
              </a:spcAft>
            </a:pPr>
            <a:r>
              <a:rPr sz="1250" b="1">
                <a:solidFill>
                  <a:srgbClr val="0F172A"/>
                </a:solidFill>
                <a:latin typeface="Calibri"/>
              </a:rPr>
              <a:t>·  Élasticité log-log</a:t>
            </a:r>
            <a:r>
              <a:rPr sz="1250">
                <a:solidFill>
                  <a:srgbClr val="475569"/>
                </a:solidFill>
                <a:latin typeface="Calibri"/>
              </a:rPr>
              <a:t>   de combien varie y quand x varie de 1 %</a:t>
            </a:r>
          </a:p>
          <a:p>
            <a:pPr>
              <a:spcAft>
                <a:spcPts val="1000"/>
              </a:spcAft>
            </a:pPr>
            <a:r>
              <a:rPr sz="1250" b="1">
                <a:solidFill>
                  <a:srgbClr val="0F172A"/>
                </a:solidFill>
                <a:latin typeface="Calibri"/>
              </a:rPr>
              <a:t>·  Corrélation double</a:t>
            </a:r>
            <a:r>
              <a:rPr sz="1250">
                <a:solidFill>
                  <a:srgbClr val="475569"/>
                </a:solidFill>
                <a:latin typeface="Calibri"/>
              </a:rPr>
              <a:t>   Pearson pour le linéaire, Spearman pour le monotone : leur écart est une information</a:t>
            </a:r>
          </a:p>
        </p:txBody>
      </p:sp>
      <p:sp>
        <p:nvSpPr>
          <p:cNvPr id="5" name="TextBox 4"/>
          <p:cNvSpPr txBox="1"/>
          <p:nvPr/>
        </p:nvSpPr>
        <p:spPr>
          <a:xfrm>
            <a:off x="6309360" y="1737360"/>
            <a:ext cx="5212080" cy="4206240"/>
          </a:xfrm>
          <a:prstGeom prst="rect">
            <a:avLst/>
          </a:prstGeom>
          <a:noFill/>
        </p:spPr>
        <p:txBody>
          <a:bodyPr wrap="square">
            <a:spAutoFit/>
          </a:bodyPr>
          <a:lstStyle/>
          <a:p>
            <a:pPr>
              <a:spcAft>
                <a:spcPts val="1000"/>
              </a:spcAft>
            </a:pPr>
            <a:r>
              <a:rPr sz="1250" b="1">
                <a:solidFill>
                  <a:srgbClr val="0F172A"/>
                </a:solidFill>
                <a:latin typeface="Calibri"/>
              </a:rPr>
              <a:t>·  Test de rupture</a:t>
            </a:r>
            <a:r>
              <a:rPr sz="1250">
                <a:solidFill>
                  <a:srgbClr val="475569"/>
                </a:solidFill>
                <a:latin typeface="Calibri"/>
              </a:rPr>
              <a:t>   on compare la tendance avant et après une année charnière</a:t>
            </a:r>
          </a:p>
          <a:p>
            <a:pPr>
              <a:spcAft>
                <a:spcPts val="1000"/>
              </a:spcAft>
            </a:pPr>
            <a:r>
              <a:rPr sz="1250" b="1">
                <a:solidFill>
                  <a:srgbClr val="0F172A"/>
                </a:solidFill>
                <a:latin typeface="Calibri"/>
              </a:rPr>
              <a:t>·  Concentration</a:t>
            </a:r>
            <a:r>
              <a:rPr sz="1250">
                <a:solidFill>
                  <a:srgbClr val="475569"/>
                </a:solidFill>
                <a:latin typeface="Calibri"/>
              </a:rPr>
              <a:t>   Herfindahl-Hirschman et Gini — deux mesures d'une même inégalité territoriale</a:t>
            </a:r>
          </a:p>
          <a:p>
            <a:pPr>
              <a:spcAft>
                <a:spcPts val="1000"/>
              </a:spcAft>
            </a:pPr>
            <a:r>
              <a:rPr sz="1250" b="1">
                <a:solidFill>
                  <a:srgbClr val="0F172A"/>
                </a:solidFill>
                <a:latin typeface="Calibri"/>
              </a:rPr>
              <a:t>·  Exécution vs enveloppe</a:t>
            </a:r>
            <a:r>
              <a:rPr sz="1250">
                <a:solidFill>
                  <a:srgbClr val="475569"/>
                </a:solidFill>
                <a:latin typeface="Calibri"/>
              </a:rPr>
              <a:t>   le taux d'exécution baisse-t-il quand le montant monte ?</a:t>
            </a:r>
          </a:p>
        </p:txBody>
      </p:sp>
      <p:sp>
        <p:nvSpPr>
          <p:cNvPr id="6" name="TextBox 5"/>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8 · Méthode, temps 3 — les croisements</a:t>
            </a:r>
          </a:p>
          <a:p>
            <a:pPr algn="l">
              <a:spcAft>
                <a:spcPts val="0"/>
              </a:spcAft>
            </a:pPr>
            <a:r>
              <a:rPr sz="1300" b="0">
                <a:solidFill>
                  <a:srgbClr val="94A3B8"/>
                </a:solidFill>
                <a:latin typeface="Calibri"/>
              </a:rPr>
              <a:t>Six recettes, chacune déclarant sa clé, ses ingrédients et ses observations</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a:endParaRPr/>
          </a:p>
        </p:txBody>
      </p:sp>
      <p:sp>
        <p:nvSpPr>
          <p:cNvPr id="4" name="TextBox 3"/>
          <p:cNvSpPr txBox="1"/>
          <p:nvPr/>
        </p:nvSpPr>
        <p:spPr>
          <a:xfrm>
            <a:off x="640080" y="1737360"/>
            <a:ext cx="10881360" cy="4023360"/>
          </a:xfrm>
          <a:prstGeom prst="rect">
            <a:avLst/>
          </a:prstGeom>
          <a:noFill/>
        </p:spPr>
        <p:txBody>
          <a:bodyPr wrap="square">
            <a:spAutoFit/>
          </a:bodyPr>
          <a:lstStyle/>
          <a:p>
            <a:pPr>
              <a:spcAft>
                <a:spcPts val="1000"/>
              </a:spcAft>
            </a:pPr>
            <a:r>
              <a:rPr sz="1250" b="1">
                <a:solidFill>
                  <a:srgbClr val="0F172A"/>
                </a:solidFill>
                <a:latin typeface="Calibri"/>
              </a:rPr>
              <a:t>·  Accès × moyens</a:t>
            </a:r>
            <a:r>
              <a:rPr sz="1250">
                <a:solidFill>
                  <a:srgbClr val="475569"/>
                </a:solidFill>
                <a:latin typeface="Calibri"/>
              </a:rPr>
              <a:t>   inscriptions au supérieur contre dépense par étudiant — l'effet ciseaux</a:t>
            </a:r>
          </a:p>
          <a:p>
            <a:pPr>
              <a:spcAft>
                <a:spcPts val="1000"/>
              </a:spcAft>
            </a:pPr>
            <a:r>
              <a:rPr sz="1250" b="1">
                <a:solidFill>
                  <a:srgbClr val="0F172A"/>
                </a:solidFill>
                <a:latin typeface="Calibri"/>
              </a:rPr>
              <a:t>·  Budget × accès</a:t>
            </a:r>
            <a:r>
              <a:rPr sz="1250">
                <a:solidFill>
                  <a:srgbClr val="475569"/>
                </a:solidFill>
                <a:latin typeface="Calibri"/>
              </a:rPr>
              <a:t>   l'enveloppe votée suit-elle le nombre d'étudiants ?</a:t>
            </a:r>
          </a:p>
          <a:p>
            <a:pPr>
              <a:spcAft>
                <a:spcPts val="1000"/>
              </a:spcAft>
            </a:pPr>
            <a:r>
              <a:rPr sz="1250" b="1">
                <a:solidFill>
                  <a:srgbClr val="0F172A"/>
                </a:solidFill>
                <a:latin typeface="Calibri"/>
              </a:rPr>
              <a:t>·  Cohérence du financement</a:t>
            </a:r>
            <a:r>
              <a:rPr sz="1250">
                <a:solidFill>
                  <a:srgbClr val="475569"/>
                </a:solidFill>
                <a:latin typeface="Calibri"/>
              </a:rPr>
              <a:t>   budget exécuté contre dépense par étudiant — deux sources qui doivent se répondre</a:t>
            </a:r>
          </a:p>
          <a:p>
            <a:pPr>
              <a:spcAft>
                <a:spcPts val="1000"/>
              </a:spcAft>
            </a:pPr>
            <a:r>
              <a:rPr sz="1250" b="1">
                <a:solidFill>
                  <a:srgbClr val="0F172A"/>
                </a:solidFill>
                <a:latin typeface="Calibri"/>
              </a:rPr>
              <a:t>·  Réseaux par région</a:t>
            </a:r>
            <a:r>
              <a:rPr sz="1250">
                <a:solidFill>
                  <a:srgbClr val="475569"/>
                </a:solidFill>
                <a:latin typeface="Calibri"/>
              </a:rPr>
              <a:t>   établissements techniques et supérieurs sur le même territoire</a:t>
            </a:r>
          </a:p>
          <a:p>
            <a:pPr>
              <a:spcAft>
                <a:spcPts val="1000"/>
              </a:spcAft>
            </a:pPr>
            <a:r>
              <a:rPr sz="1250" b="1">
                <a:solidFill>
                  <a:srgbClr val="0F172A"/>
                </a:solidFill>
                <a:latin typeface="Calibri"/>
              </a:rPr>
              <a:t>·  Accès × insertion</a:t>
            </a:r>
            <a:r>
              <a:rPr sz="1250">
                <a:solidFill>
                  <a:srgbClr val="475569"/>
                </a:solidFill>
                <a:latin typeface="Calibri"/>
              </a:rPr>
              <a:t>   inscriptions contre chômage des diplômés</a:t>
            </a:r>
          </a:p>
          <a:p>
            <a:pPr>
              <a:spcAft>
                <a:spcPts val="1000"/>
              </a:spcAft>
            </a:pPr>
            <a:r>
              <a:rPr sz="1250" b="1">
                <a:solidFill>
                  <a:srgbClr val="0F172A"/>
                </a:solidFill>
                <a:latin typeface="Calibri"/>
              </a:rPr>
              <a:t>·  Accès × effectifs</a:t>
            </a:r>
            <a:r>
              <a:rPr sz="1250">
                <a:solidFill>
                  <a:srgbClr val="475569"/>
                </a:solidFill>
                <a:latin typeface="Calibri"/>
              </a:rPr>
              <a:t>   inscriptions contre féminisation et filières scientifiques</a:t>
            </a:r>
          </a:p>
        </p:txBody>
      </p:sp>
      <p:sp>
        <p:nvSpPr>
          <p:cNvPr id="5" name="TextBox 4"/>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9 · Ce que la méthode produit</a:t>
            </a:r>
          </a:p>
          <a:p>
            <a:pPr algn="l">
              <a:spcAft>
                <a:spcPts val="0"/>
              </a:spcAft>
            </a:pPr>
            <a:r>
              <a:rPr sz="1300" b="0">
                <a:solidFill>
                  <a:srgbClr val="94A3B8"/>
                </a:solidFill>
                <a:latin typeface="Calibri"/>
              </a:rPr>
              <a:t>Trois résultats, chacun rattaché à l'outil qui l'établit</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a:endParaRPr/>
          </a:p>
        </p:txBody>
      </p:sp>
      <p:sp>
        <p:nvSpPr>
          <p:cNvPr id="4" name="TextBox 3"/>
          <p:cNvSpPr txBox="1"/>
          <p:nvPr/>
        </p:nvSpPr>
        <p:spPr>
          <a:xfrm>
            <a:off x="640080" y="1737360"/>
            <a:ext cx="3566160" cy="1463040"/>
          </a:xfrm>
          <a:prstGeom prst="rect">
            <a:avLst/>
          </a:prstGeom>
          <a:noFill/>
        </p:spPr>
        <p:txBody>
          <a:bodyPr wrap="square">
            <a:spAutoFit/>
          </a:bodyPr>
          <a:lstStyle/>
          <a:p>
            <a:pPr algn="l">
              <a:spcAft>
                <a:spcPts val="200"/>
              </a:spcAft>
            </a:pPr>
            <a:r>
              <a:rPr sz="1100" b="0">
                <a:solidFill>
                  <a:srgbClr val="94A3B8"/>
                </a:solidFill>
                <a:latin typeface="Calibri"/>
              </a:rPr>
              <a:t>des établissements dans une région</a:t>
            </a:r>
          </a:p>
          <a:p>
            <a:pPr algn="l">
              <a:spcAft>
                <a:spcPts val="200"/>
              </a:spcAft>
            </a:pPr>
            <a:r>
              <a:rPr sz="3200" b="1">
                <a:solidFill>
                  <a:srgbClr val="D03B3B"/>
                </a:solidFill>
                <a:latin typeface="Calibri"/>
              </a:rPr>
              <a:t>60 %</a:t>
            </a:r>
          </a:p>
          <a:p>
            <a:pPr algn="l">
              <a:spcAft>
                <a:spcPts val="0"/>
              </a:spcAft>
            </a:pPr>
            <a:r>
              <a:rPr sz="1000" b="0">
                <a:solidFill>
                  <a:srgbClr val="475569"/>
                </a:solidFill>
                <a:latin typeface="Calibri"/>
              </a:rPr>
              <a:t>Herfindahl 0,41 · Gini 0,48</a:t>
            </a:r>
          </a:p>
        </p:txBody>
      </p:sp>
      <p:sp>
        <p:nvSpPr>
          <p:cNvPr id="5" name="TextBox 4"/>
          <p:cNvSpPr txBox="1"/>
          <p:nvPr/>
        </p:nvSpPr>
        <p:spPr>
          <a:xfrm>
            <a:off x="4389120" y="1737360"/>
            <a:ext cx="3566160" cy="1463040"/>
          </a:xfrm>
          <a:prstGeom prst="rect">
            <a:avLst/>
          </a:prstGeom>
          <a:noFill/>
        </p:spPr>
        <p:txBody>
          <a:bodyPr wrap="square">
            <a:spAutoFit/>
          </a:bodyPr>
          <a:lstStyle/>
          <a:p>
            <a:pPr algn="l">
              <a:spcAft>
                <a:spcPts val="200"/>
              </a:spcAft>
            </a:pPr>
            <a:r>
              <a:rPr sz="1100" b="0">
                <a:solidFill>
                  <a:srgbClr val="94A3B8"/>
                </a:solidFill>
                <a:latin typeface="Calibri"/>
              </a:rPr>
              <a:t>Accès et dépense, depuis 1998</a:t>
            </a:r>
          </a:p>
          <a:p>
            <a:pPr algn="l">
              <a:spcAft>
                <a:spcPts val="200"/>
              </a:spcAft>
            </a:pPr>
            <a:r>
              <a:rPr sz="3200" b="1">
                <a:solidFill>
                  <a:srgbClr val="D03B3B"/>
                </a:solidFill>
                <a:latin typeface="Calibri"/>
              </a:rPr>
              <a:t>×4,7 / ÷3,6</a:t>
            </a:r>
          </a:p>
          <a:p>
            <a:pPr algn="l">
              <a:spcAft>
                <a:spcPts val="0"/>
              </a:spcAft>
            </a:pPr>
            <a:r>
              <a:rPr sz="1000" b="0">
                <a:solidFill>
                  <a:srgbClr val="475569"/>
                </a:solidFill>
                <a:latin typeface="Calibri"/>
              </a:rPr>
              <a:t>l'accès quadruple, la dépense par étudiant s'effondre</a:t>
            </a:r>
          </a:p>
        </p:txBody>
      </p:sp>
      <p:sp>
        <p:nvSpPr>
          <p:cNvPr id="6" name="TextBox 5"/>
          <p:cNvSpPr txBox="1"/>
          <p:nvPr/>
        </p:nvSpPr>
        <p:spPr>
          <a:xfrm>
            <a:off x="8138160" y="1737360"/>
            <a:ext cx="3383280" cy="1463040"/>
          </a:xfrm>
          <a:prstGeom prst="rect">
            <a:avLst/>
          </a:prstGeom>
          <a:noFill/>
        </p:spPr>
        <p:txBody>
          <a:bodyPr wrap="square">
            <a:spAutoFit/>
          </a:bodyPr>
          <a:lstStyle/>
          <a:p>
            <a:pPr algn="l">
              <a:spcAft>
                <a:spcPts val="200"/>
              </a:spcAft>
            </a:pPr>
            <a:r>
              <a:rPr sz="1100" b="0">
                <a:solidFill>
                  <a:srgbClr val="94A3B8"/>
                </a:solidFill>
                <a:latin typeface="Calibri"/>
              </a:rPr>
              <a:t>Exécution du budget supérieur</a:t>
            </a:r>
          </a:p>
          <a:p>
            <a:pPr algn="l">
              <a:spcAft>
                <a:spcPts val="200"/>
              </a:spcAft>
            </a:pPr>
            <a:r>
              <a:rPr sz="3200" b="1">
                <a:solidFill>
                  <a:srgbClr val="6366F1"/>
                </a:solidFill>
                <a:latin typeface="Calibri"/>
              </a:rPr>
              <a:t>93 %</a:t>
            </a:r>
          </a:p>
          <a:p>
            <a:pPr algn="l">
              <a:spcAft>
                <a:spcPts val="0"/>
              </a:spcAft>
            </a:pPr>
            <a:r>
              <a:rPr sz="1000" b="0">
                <a:solidFill>
                  <a:srgbClr val="475569"/>
                </a:solidFill>
                <a:latin typeface="Calibri"/>
              </a:rPr>
              <a:t>contre 76 % au niveau national</a:t>
            </a:r>
          </a:p>
        </p:txBody>
      </p:sp>
      <p:sp>
        <p:nvSpPr>
          <p:cNvPr id="7" name="TextBox 6"/>
          <p:cNvSpPr txBox="1"/>
          <p:nvPr/>
        </p:nvSpPr>
        <p:spPr>
          <a:xfrm>
            <a:off x="640080" y="3474720"/>
            <a:ext cx="5394960" cy="2194560"/>
          </a:xfrm>
          <a:prstGeom prst="rect">
            <a:avLst/>
          </a:prstGeom>
          <a:noFill/>
        </p:spPr>
        <p:txBody>
          <a:bodyPr wrap="square">
            <a:spAutoFit/>
          </a:bodyPr>
          <a:lstStyle/>
          <a:p>
            <a:pPr algn="l">
              <a:spcAft>
                <a:spcPts val="200"/>
              </a:spcAft>
            </a:pPr>
            <a:r>
              <a:rPr sz="1200" b="1">
                <a:solidFill>
                  <a:srgbClr val="6366F1"/>
                </a:solidFill>
                <a:latin typeface="Calibri"/>
              </a:rPr>
              <a:t>Le résultat le plus solide</a:t>
            </a:r>
          </a:p>
          <a:p>
            <a:pPr algn="l">
              <a:spcAft>
                <a:spcPts val="500"/>
              </a:spcAft>
            </a:pPr>
            <a:r>
              <a:rPr sz="1000" b="0">
                <a:solidFill>
                  <a:srgbClr val="94A3B8"/>
                </a:solidFill>
                <a:latin typeface="Calibri"/>
              </a:rPr>
              <a:t>L'effet ciseaux tient-il statistiquement ?</a:t>
            </a:r>
          </a:p>
          <a:p>
            <a:pPr algn="l">
              <a:spcAft>
                <a:spcPts val="400"/>
              </a:spcAft>
            </a:pPr>
            <a:r>
              <a:rPr sz="1300" b="1">
                <a:solidFill>
                  <a:srgbClr val="0F172A"/>
                </a:solidFill>
                <a:latin typeface="Calibri"/>
              </a:rPr>
              <a:t>Élasticité -0,86</a:t>
            </a:r>
          </a:p>
          <a:p>
            <a:pPr algn="l">
              <a:spcAft>
                <a:spcPts val="0"/>
              </a:spcAft>
            </a:pPr>
            <a:r>
              <a:rPr sz="950" b="0">
                <a:solidFill>
                  <a:srgbClr val="475569"/>
                </a:solidFill>
                <a:latin typeface="Calibri"/>
              </a:rPr>
              <a:t>R² de 0,83, p-value sous 0,001, intervalle de confiance entièrement négatif. Quand l'accès augmente de 1 %, la dépense par étudiant recule de 0,86 %.</a:t>
            </a:r>
          </a:p>
        </p:txBody>
      </p:sp>
      <p:sp>
        <p:nvSpPr>
          <p:cNvPr id="8" name="TextBox 7"/>
          <p:cNvSpPr txBox="1"/>
          <p:nvPr/>
        </p:nvSpPr>
        <p:spPr>
          <a:xfrm>
            <a:off x="6309360" y="3474720"/>
            <a:ext cx="5212080" cy="2194560"/>
          </a:xfrm>
          <a:prstGeom prst="rect">
            <a:avLst/>
          </a:prstGeom>
          <a:noFill/>
        </p:spPr>
        <p:txBody>
          <a:bodyPr wrap="square">
            <a:spAutoFit/>
          </a:bodyPr>
          <a:lstStyle/>
          <a:p>
            <a:pPr algn="l">
              <a:spcAft>
                <a:spcPts val="200"/>
              </a:spcAft>
            </a:pPr>
            <a:r>
              <a:rPr sz="1200" b="1">
                <a:solidFill>
                  <a:srgbClr val="6366F1"/>
                </a:solidFill>
                <a:latin typeface="Calibri"/>
              </a:rPr>
              <a:t>Le résultat qui NE conclut pas</a:t>
            </a:r>
          </a:p>
          <a:p>
            <a:pPr algn="l">
              <a:spcAft>
                <a:spcPts val="500"/>
              </a:spcAft>
            </a:pPr>
            <a:r>
              <a:rPr sz="1000" b="0">
                <a:solidFill>
                  <a:srgbClr val="94A3B8"/>
                </a:solidFill>
                <a:latin typeface="Calibri"/>
              </a:rPr>
              <a:t>Le taux d'exécution baisse-t-il quand l'enveloppe monte ?</a:t>
            </a:r>
          </a:p>
          <a:p>
            <a:pPr algn="l">
              <a:spcAft>
                <a:spcPts val="400"/>
              </a:spcAft>
            </a:pPr>
            <a:r>
              <a:rPr sz="1300" b="1">
                <a:solidFill>
                  <a:srgbClr val="0F172A"/>
                </a:solidFill>
                <a:latin typeface="Calibri"/>
              </a:rPr>
              <a:t>p = 0,12</a:t>
            </a:r>
          </a:p>
          <a:p>
            <a:pPr algn="l">
              <a:spcAft>
                <a:spcPts val="0"/>
              </a:spcAft>
            </a:pPr>
            <a:r>
              <a:rPr sz="950" b="0">
                <a:solidFill>
                  <a:srgbClr val="475569"/>
                </a:solidFill>
                <a:latin typeface="Calibri"/>
              </a:rPr>
              <a:t>La pente est négative et le R² correct, mais l'intervalle de confiance traverse zéro : sur six années, on ne peut pas conclure. C'est publié tel quel.</a:t>
            </a:r>
          </a:p>
        </p:txBody>
      </p:sp>
      <p:sp>
        <p:nvSpPr>
          <p:cNvPr id="9" name="TextBox 8"/>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10 · Ce que la méthode refuse d'établir</a:t>
            </a:r>
          </a:p>
          <a:p>
            <a:pPr algn="l">
              <a:spcAft>
                <a:spcPts val="0"/>
              </a:spcAft>
            </a:pPr>
            <a:r>
              <a:rPr sz="1300" b="0">
                <a:solidFill>
                  <a:srgbClr val="94A3B8"/>
                </a:solidFill>
                <a:latin typeface="Calibri"/>
              </a:rPr>
              <a:t>Trois manques, trois causes différentes — et trois remèdes différents</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a:endParaRPr/>
          </a:p>
        </p:txBody>
      </p:sp>
      <p:sp>
        <p:nvSpPr>
          <p:cNvPr id="4" name="TextBox 3"/>
          <p:cNvSpPr txBox="1"/>
          <p:nvPr/>
        </p:nvSpPr>
        <p:spPr>
          <a:xfrm>
            <a:off x="640080" y="1737360"/>
            <a:ext cx="3566160" cy="2743200"/>
          </a:xfrm>
          <a:prstGeom prst="rect">
            <a:avLst/>
          </a:prstGeom>
          <a:noFill/>
        </p:spPr>
        <p:txBody>
          <a:bodyPr wrap="square">
            <a:spAutoFit/>
          </a:bodyPr>
          <a:lstStyle/>
          <a:p>
            <a:pPr algn="l">
              <a:spcAft>
                <a:spcPts val="200"/>
              </a:spcAft>
            </a:pPr>
            <a:r>
              <a:rPr sz="1200" b="1">
                <a:solidFill>
                  <a:srgbClr val="6366F1"/>
                </a:solidFill>
                <a:latin typeface="Calibri"/>
              </a:rPr>
              <a:t>Collecté, non publié</a:t>
            </a:r>
          </a:p>
          <a:p>
            <a:pPr algn="l">
              <a:spcAft>
                <a:spcPts val="500"/>
              </a:spcAft>
            </a:pPr>
            <a:r>
              <a:rPr sz="1000" b="0">
                <a:solidFill>
                  <a:srgbClr val="94A3B8"/>
                </a:solidFill>
                <a:latin typeface="Calibri"/>
              </a:rPr>
              <a:t>Combien d'élèves par établissement ?</a:t>
            </a:r>
          </a:p>
          <a:p>
            <a:pPr algn="l">
              <a:spcAft>
                <a:spcPts val="400"/>
              </a:spcAft>
            </a:pPr>
            <a:r>
              <a:rPr sz="1300" b="1">
                <a:solidFill>
                  <a:srgbClr val="0F172A"/>
                </a:solidFill>
                <a:latin typeface="Calibri"/>
              </a:rPr>
              <a:t>201 champs manquants</a:t>
            </a:r>
          </a:p>
          <a:p>
            <a:pPr algn="l">
              <a:spcAft>
                <a:spcPts val="0"/>
              </a:spcAft>
            </a:pPr>
            <a:r>
              <a:rPr sz="950" b="0">
                <a:solidFill>
                  <a:srgbClr val="475569"/>
                </a:solidFill>
                <a:latin typeface="Calibri"/>
              </a:rPr>
              <a:t>Le remède est une EXPORTATION : la donnée existe, elle est déjà collectée. Aucune enquête à financer.</a:t>
            </a:r>
          </a:p>
        </p:txBody>
      </p:sp>
      <p:sp>
        <p:nvSpPr>
          <p:cNvPr id="5" name="TextBox 4"/>
          <p:cNvSpPr txBox="1"/>
          <p:nvPr/>
        </p:nvSpPr>
        <p:spPr>
          <a:xfrm>
            <a:off x="4434840" y="1737360"/>
            <a:ext cx="3566160" cy="2743200"/>
          </a:xfrm>
          <a:prstGeom prst="rect">
            <a:avLst/>
          </a:prstGeom>
          <a:noFill/>
        </p:spPr>
        <p:txBody>
          <a:bodyPr wrap="square">
            <a:spAutoFit/>
          </a:bodyPr>
          <a:lstStyle/>
          <a:p>
            <a:pPr algn="l">
              <a:spcAft>
                <a:spcPts val="200"/>
              </a:spcAft>
            </a:pPr>
            <a:r>
              <a:rPr sz="1200" b="1">
                <a:solidFill>
                  <a:srgbClr val="6366F1"/>
                </a:solidFill>
                <a:latin typeface="Calibri"/>
              </a:rPr>
              <a:t>Inexistant à la maille utile</a:t>
            </a:r>
          </a:p>
          <a:p>
            <a:pPr algn="l">
              <a:spcAft>
                <a:spcPts val="500"/>
              </a:spcAft>
            </a:pPr>
            <a:r>
              <a:rPr sz="1000" b="0">
                <a:solidFill>
                  <a:srgbClr val="94A3B8"/>
                </a:solidFill>
                <a:latin typeface="Calibri"/>
              </a:rPr>
              <a:t>Quel taux d'insertion par filière ?</a:t>
            </a:r>
          </a:p>
          <a:p>
            <a:pPr algn="l">
              <a:spcAft>
                <a:spcPts val="400"/>
              </a:spcAft>
            </a:pPr>
            <a:r>
              <a:rPr sz="1300" b="1">
                <a:solidFill>
                  <a:srgbClr val="0F172A"/>
                </a:solidFill>
                <a:latin typeface="Calibri"/>
              </a:rPr>
              <a:t>Le chômage n'existe qu'au national</a:t>
            </a:r>
          </a:p>
          <a:p>
            <a:pPr algn="l">
              <a:spcAft>
                <a:spcPts val="0"/>
              </a:spcAft>
            </a:pPr>
            <a:r>
              <a:rPr sz="950" b="0">
                <a:solidFill>
                  <a:srgbClr val="475569"/>
                </a:solidFill>
                <a:latin typeface="Calibri"/>
              </a:rPr>
              <a:t>Le remède est une ENQUÊTE d'insertion. Trois croisements attendus par l'énoncé restent hors de portée.</a:t>
            </a:r>
          </a:p>
        </p:txBody>
      </p:sp>
      <p:sp>
        <p:nvSpPr>
          <p:cNvPr id="6" name="TextBox 5"/>
          <p:cNvSpPr txBox="1"/>
          <p:nvPr/>
        </p:nvSpPr>
        <p:spPr>
          <a:xfrm>
            <a:off x="8229600" y="1737360"/>
            <a:ext cx="3566160" cy="2743200"/>
          </a:xfrm>
          <a:prstGeom prst="rect">
            <a:avLst/>
          </a:prstGeom>
          <a:noFill/>
        </p:spPr>
        <p:txBody>
          <a:bodyPr wrap="square">
            <a:spAutoFit/>
          </a:bodyPr>
          <a:lstStyle/>
          <a:p>
            <a:pPr algn="l">
              <a:spcAft>
                <a:spcPts val="200"/>
              </a:spcAft>
            </a:pPr>
            <a:r>
              <a:rPr sz="1200" b="1">
                <a:solidFill>
                  <a:srgbClr val="6366F1"/>
                </a:solidFill>
                <a:latin typeface="Calibri"/>
              </a:rPr>
              <a:t>Nomenclature absente</a:t>
            </a:r>
          </a:p>
          <a:p>
            <a:pPr algn="l">
              <a:spcAft>
                <a:spcPts val="500"/>
              </a:spcAft>
            </a:pPr>
            <a:r>
              <a:rPr sz="1000" b="0">
                <a:solidFill>
                  <a:srgbClr val="94A3B8"/>
                </a:solidFill>
                <a:latin typeface="Calibri"/>
              </a:rPr>
              <a:t>Quelle part de filières scientifiques ?</a:t>
            </a:r>
          </a:p>
          <a:p>
            <a:pPr algn="l">
              <a:spcAft>
                <a:spcPts val="400"/>
              </a:spcAft>
            </a:pPr>
            <a:r>
              <a:rPr sz="1300" b="1">
                <a:solidFill>
                  <a:srgbClr val="0F172A"/>
                </a:solidFill>
                <a:latin typeface="Calibri"/>
              </a:rPr>
              <a:t>Aucun référentiel de métiers</a:t>
            </a:r>
          </a:p>
          <a:p>
            <a:pPr algn="l">
              <a:spcAft>
                <a:spcPts val="0"/>
              </a:spcAft>
            </a:pPr>
            <a:r>
              <a:rPr sz="950" b="0">
                <a:solidFill>
                  <a:srgbClr val="475569"/>
                </a:solidFill>
                <a:latin typeface="Calibri"/>
              </a:rPr>
              <a:t>Le remède est un RÉFÉRENTIEL national. Sans lui, le dénominateur n'existe pas.</a:t>
            </a:r>
          </a:p>
        </p:txBody>
      </p:sp>
      <p:sp>
        <p:nvSpPr>
          <p:cNvPr id="7" name="TextBox 6"/>
          <p:cNvSpPr txBox="1"/>
          <p:nvPr/>
        </p:nvSpPr>
        <p:spPr>
          <a:xfrm>
            <a:off x="640080" y="4754880"/>
            <a:ext cx="10881360" cy="1005840"/>
          </a:xfrm>
          <a:prstGeom prst="rect">
            <a:avLst/>
          </a:prstGeom>
          <a:noFill/>
        </p:spPr>
        <p:txBody>
          <a:bodyPr wrap="square">
            <a:spAutoFit/>
          </a:bodyPr>
          <a:lstStyle/>
          <a:p>
            <a:pPr>
              <a:spcAft>
                <a:spcPts val="1000"/>
              </a:spcAft>
            </a:pPr>
            <a:r>
              <a:rPr sz="1300" b="1">
                <a:solidFill>
                  <a:srgbClr val="0F172A"/>
                </a:solidFill>
                <a:latin typeface="Calibri"/>
              </a:rPr>
              <a:t>·  Un indicateur absent</a:t>
            </a:r>
            <a:r>
              <a:rPr sz="1300">
                <a:solidFill>
                  <a:srgbClr val="475569"/>
                </a:solidFill>
                <a:latin typeface="Calibri"/>
              </a:rPr>
              <a:t>   signifie toujours ABSENT DU CORPUS RETENU, jamais inexistant — la nuance change la recommandation</a:t>
            </a:r>
          </a:p>
        </p:txBody>
      </p:sp>
      <p:sp>
        <p:nvSpPr>
          <p:cNvPr id="8" name="TextBox 7"/>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11 · Comment tout cela se vérifie</a:t>
            </a:r>
          </a:p>
          <a:p>
            <a:pPr algn="l">
              <a:spcAft>
                <a:spcPts val="0"/>
              </a:spcAft>
            </a:pPr>
            <a:r>
              <a:rPr sz="1300" b="0">
                <a:solidFill>
                  <a:srgbClr val="94A3B8"/>
                </a:solidFill>
                <a:latin typeface="Calibri"/>
              </a:rPr>
              <a:t>Le travail est fait pour être contredit — encore faut-il pouvoir le refaire</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a:endParaRPr/>
          </a:p>
        </p:txBody>
      </p:sp>
      <p:sp>
        <p:nvSpPr>
          <p:cNvPr id="4" name="TextBox 3"/>
          <p:cNvSpPr txBox="1"/>
          <p:nvPr/>
        </p:nvSpPr>
        <p:spPr>
          <a:xfrm>
            <a:off x="640080" y="1737360"/>
            <a:ext cx="10881360" cy="4023360"/>
          </a:xfrm>
          <a:prstGeom prst="rect">
            <a:avLst/>
          </a:prstGeom>
          <a:noFill/>
        </p:spPr>
        <p:txBody>
          <a:bodyPr wrap="square">
            <a:spAutoFit/>
          </a:bodyPr>
          <a:lstStyle/>
          <a:p>
            <a:pPr>
              <a:spcAft>
                <a:spcPts val="1000"/>
              </a:spcAft>
            </a:pPr>
            <a:r>
              <a:rPr sz="1250" b="1">
                <a:solidFill>
                  <a:srgbClr val="0F172A"/>
                </a:solidFill>
                <a:latin typeface="Calibri"/>
              </a:rPr>
              <a:t>·  Un chiffre, une source</a:t>
            </a:r>
            <a:r>
              <a:rPr sz="1250">
                <a:solidFill>
                  <a:srgbClr val="475569"/>
                </a:solidFill>
                <a:latin typeface="Calibri"/>
              </a:rPr>
              <a:t>   les commentaires sous les graphes se recalculent sur la sélection : aucun nombre n'est figé dans un texte</a:t>
            </a:r>
          </a:p>
          <a:p>
            <a:pPr>
              <a:spcAft>
                <a:spcPts val="1000"/>
              </a:spcAft>
            </a:pPr>
            <a:r>
              <a:rPr sz="1250" b="1">
                <a:solidFill>
                  <a:srgbClr val="0F172A"/>
                </a:solidFill>
                <a:latin typeface="Calibri"/>
              </a:rPr>
              <a:t>·  Le rapport ne peut pas diverger de l'écran</a:t>
            </a:r>
            <a:r>
              <a:rPr sz="1250">
                <a:solidFill>
                  <a:srgbClr val="475569"/>
                </a:solidFill>
                <a:latin typeface="Calibri"/>
              </a:rPr>
              <a:t>   il est produit par les mêmes fonctions, à partir des mêmes données, en une seule collecte</a:t>
            </a:r>
          </a:p>
          <a:p>
            <a:pPr>
              <a:spcAft>
                <a:spcPts val="1000"/>
              </a:spcAft>
            </a:pPr>
            <a:r>
              <a:rPr sz="1250" b="1">
                <a:solidFill>
                  <a:srgbClr val="0F172A"/>
                </a:solidFill>
                <a:latin typeface="Calibri"/>
              </a:rPr>
              <a:t>·  L'archive contient les données brutes</a:t>
            </a:r>
            <a:r>
              <a:rPr sz="1250">
                <a:solidFill>
                  <a:srgbClr val="475569"/>
                </a:solidFill>
                <a:latin typeface="Calibri"/>
              </a:rPr>
              <a:t>   telles que téléchargées du portail, non modifiées</a:t>
            </a:r>
          </a:p>
          <a:p>
            <a:pPr>
              <a:spcAft>
                <a:spcPts val="1000"/>
              </a:spcAft>
            </a:pPr>
            <a:r>
              <a:rPr sz="1250" b="1">
                <a:solidFill>
                  <a:srgbClr val="0F172A"/>
                </a:solidFill>
                <a:latin typeface="Calibri"/>
              </a:rPr>
              <a:t>·  Un diagnostic livré</a:t>
            </a:r>
            <a:r>
              <a:rPr sz="1250">
                <a:solidFill>
                  <a:srgbClr val="475569"/>
                </a:solidFill>
                <a:latin typeface="Calibri"/>
              </a:rPr>
              <a:t>   une commande contrôle la version de Python, les bibliothèques et les fichiers avant tout lancement</a:t>
            </a:r>
          </a:p>
          <a:p>
            <a:pPr>
              <a:spcAft>
                <a:spcPts val="1000"/>
              </a:spcAft>
            </a:pPr>
            <a:r>
              <a:rPr sz="1250" b="1">
                <a:solidFill>
                  <a:srgbClr val="0F172A"/>
                </a:solidFill>
                <a:latin typeface="Calibri"/>
              </a:rPr>
              <a:t>·  Le tableau de bord est en ligne</a:t>
            </a:r>
            <a:r>
              <a:rPr sz="1250">
                <a:solidFill>
                  <a:srgbClr val="475569"/>
                </a:solidFill>
                <a:latin typeface="Calibri"/>
              </a:rPr>
              <a:t>   tg-datalab-education-challenge2.bernardpip.com — rien à installer pour le juger</a:t>
            </a:r>
          </a:p>
        </p:txBody>
      </p:sp>
      <p:sp>
        <p:nvSpPr>
          <p:cNvPr id="5" name="TextBox 4"/>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12 · Des constats aux recommandations</a:t>
            </a:r>
          </a:p>
          <a:p>
            <a:pPr algn="l">
              <a:spcAft>
                <a:spcPts val="0"/>
              </a:spcAft>
            </a:pPr>
            <a:r>
              <a:rPr sz="1300" b="0">
                <a:solidFill>
                  <a:srgbClr val="94A3B8"/>
                </a:solidFill>
                <a:latin typeface="Calibri"/>
              </a:rPr>
              <a:t>26 leviers, 5 axes — chacun part d'un chiffre, aucun d'une opinion</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a:endParaRPr/>
          </a:p>
        </p:txBody>
      </p:sp>
      <p:sp>
        <p:nvSpPr>
          <p:cNvPr id="4" name="TextBox 3"/>
          <p:cNvSpPr txBox="1"/>
          <p:nvPr/>
        </p:nvSpPr>
        <p:spPr>
          <a:xfrm>
            <a:off x="640080" y="1737360"/>
            <a:ext cx="5212080" cy="1463040"/>
          </a:xfrm>
          <a:prstGeom prst="rect">
            <a:avLst/>
          </a:prstGeom>
          <a:noFill/>
        </p:spPr>
        <p:txBody>
          <a:bodyPr wrap="square">
            <a:spAutoFit/>
          </a:bodyPr>
          <a:lstStyle/>
          <a:p>
            <a:pPr algn="l">
              <a:spcAft>
                <a:spcPts val="200"/>
              </a:spcAft>
            </a:pPr>
            <a:r>
              <a:rPr sz="1100" b="0">
                <a:solidFill>
                  <a:srgbClr val="94A3B8"/>
                </a:solidFill>
                <a:latin typeface="Calibri"/>
              </a:rPr>
              <a:t>Leviers d'action</a:t>
            </a:r>
          </a:p>
          <a:p>
            <a:pPr algn="l">
              <a:spcAft>
                <a:spcPts val="200"/>
              </a:spcAft>
            </a:pPr>
            <a:r>
              <a:rPr sz="3200" b="1">
                <a:solidFill>
                  <a:srgbClr val="6366F1"/>
                </a:solidFill>
                <a:latin typeface="Calibri"/>
              </a:rPr>
              <a:t>26</a:t>
            </a:r>
          </a:p>
          <a:p>
            <a:pPr algn="l">
              <a:spcAft>
                <a:spcPts val="0"/>
              </a:spcAft>
            </a:pPr>
            <a:r>
              <a:rPr sz="1000" b="0">
                <a:solidFill>
                  <a:srgbClr val="475569"/>
                </a:solidFill>
                <a:latin typeface="Calibri"/>
              </a:rPr>
              <a:t>chacun renvoie à la vue qui l'établit</a:t>
            </a:r>
          </a:p>
        </p:txBody>
      </p:sp>
      <p:sp>
        <p:nvSpPr>
          <p:cNvPr id="5" name="TextBox 4"/>
          <p:cNvSpPr txBox="1"/>
          <p:nvPr/>
        </p:nvSpPr>
        <p:spPr>
          <a:xfrm>
            <a:off x="6309360" y="1737360"/>
            <a:ext cx="5212080" cy="1463040"/>
          </a:xfrm>
          <a:prstGeom prst="rect">
            <a:avLst/>
          </a:prstGeom>
          <a:noFill/>
        </p:spPr>
        <p:txBody>
          <a:bodyPr wrap="square">
            <a:spAutoFit/>
          </a:bodyPr>
          <a:lstStyle/>
          <a:p>
            <a:pPr algn="l">
              <a:spcAft>
                <a:spcPts val="200"/>
              </a:spcAft>
            </a:pPr>
            <a:r>
              <a:rPr sz="1100" b="0">
                <a:solidFill>
                  <a:srgbClr val="94A3B8"/>
                </a:solidFill>
                <a:latin typeface="Calibri"/>
              </a:rPr>
              <a:t>Première décision recommandée</a:t>
            </a:r>
          </a:p>
          <a:p>
            <a:pPr algn="l">
              <a:spcAft>
                <a:spcPts val="200"/>
              </a:spcAft>
            </a:pPr>
            <a:r>
              <a:rPr sz="3200" b="1">
                <a:solidFill>
                  <a:srgbClr val="6366F1"/>
                </a:solidFill>
                <a:latin typeface="Calibri"/>
              </a:rPr>
              <a:t>1</a:t>
            </a:r>
          </a:p>
          <a:p>
            <a:pPr algn="l">
              <a:spcAft>
                <a:spcPts val="0"/>
              </a:spcAft>
            </a:pPr>
            <a:r>
              <a:rPr sz="1000" b="0">
                <a:solidFill>
                  <a:srgbClr val="475569"/>
                </a:solidFill>
                <a:latin typeface="Calibri"/>
              </a:rPr>
              <a:t>elle est informationnelle, pas budgétaire</a:t>
            </a:r>
          </a:p>
        </p:txBody>
      </p:sp>
      <p:sp>
        <p:nvSpPr>
          <p:cNvPr id="6" name="TextBox 5"/>
          <p:cNvSpPr txBox="1"/>
          <p:nvPr/>
        </p:nvSpPr>
        <p:spPr>
          <a:xfrm>
            <a:off x="640080" y="3474720"/>
            <a:ext cx="10881360" cy="2194560"/>
          </a:xfrm>
          <a:prstGeom prst="rect">
            <a:avLst/>
          </a:prstGeom>
          <a:noFill/>
        </p:spPr>
        <p:txBody>
          <a:bodyPr wrap="square">
            <a:spAutoFit/>
          </a:bodyPr>
          <a:lstStyle/>
          <a:p>
            <a:pPr algn="l">
              <a:spcAft>
                <a:spcPts val="200"/>
              </a:spcAft>
            </a:pPr>
            <a:r>
              <a:rPr sz="1200" b="1">
                <a:solidFill>
                  <a:srgbClr val="6366F1"/>
                </a:solidFill>
                <a:latin typeface="Calibri"/>
              </a:rPr>
              <a:t>La règle de rédaction</a:t>
            </a:r>
          </a:p>
          <a:p>
            <a:pPr algn="l">
              <a:spcAft>
                <a:spcPts val="500"/>
              </a:spcAft>
            </a:pPr>
            <a:r>
              <a:rPr sz="1000" b="0">
                <a:solidFill>
                  <a:srgbClr val="94A3B8"/>
                </a:solidFill>
                <a:latin typeface="Calibri"/>
              </a:rPr>
              <a:t>Qu'est-ce qui distingue un levier d'un vœu ?</a:t>
            </a:r>
          </a:p>
          <a:p>
            <a:pPr algn="l">
              <a:spcAft>
                <a:spcPts val="400"/>
              </a:spcAft>
            </a:pPr>
            <a:r>
              <a:rPr sz="1300" b="1">
                <a:solidFill>
                  <a:srgbClr val="0F172A"/>
                </a:solidFill>
                <a:latin typeface="Calibri"/>
              </a:rPr>
              <a:t>Un constat chiffré, et une vue qui le porte</a:t>
            </a:r>
          </a:p>
          <a:p>
            <a:pPr algn="l">
              <a:spcAft>
                <a:spcPts val="0"/>
              </a:spcAft>
            </a:pPr>
            <a:r>
              <a:rPr sz="950" b="0">
                <a:solidFill>
                  <a:srgbClr val="475569"/>
                </a:solidFill>
                <a:latin typeface="Calibri"/>
              </a:rPr>
              <a:t>Chaque levier commence par le chiffre qui le motive et renvoie à l'onglet où ce chiffre se vérifie. Aucun n'est une recommandation générique du type « renforcer la coordination ». Et la toute première n'est pas de dépenser : c'est de publier les 201 champs déjà collectés — parce que sans eux, on pilote à l'aveugle.</a:t>
            </a:r>
          </a:p>
        </p:txBody>
      </p:sp>
      <p:sp>
        <p:nvSpPr>
          <p:cNvPr id="7" name="TextBox 6"/>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13 · Ce qui est réutilisable</a:t>
            </a:r>
          </a:p>
          <a:p>
            <a:pPr algn="l">
              <a:spcAft>
                <a:spcPts val="0"/>
              </a:spcAft>
            </a:pPr>
            <a:r>
              <a:rPr sz="1300" b="0">
                <a:solidFill>
                  <a:srgbClr val="94A3B8"/>
                </a:solidFill>
                <a:latin typeface="Calibri"/>
              </a:rPr>
              <a:t>La méthode a été rejouée sur un second défi, en quelques jours</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a:endParaRPr/>
          </a:p>
        </p:txBody>
      </p:sp>
      <p:sp>
        <p:nvSpPr>
          <p:cNvPr id="4" name="TextBox 3"/>
          <p:cNvSpPr txBox="1"/>
          <p:nvPr/>
        </p:nvSpPr>
        <p:spPr>
          <a:xfrm>
            <a:off x="640080" y="1737360"/>
            <a:ext cx="10881360" cy="4023360"/>
          </a:xfrm>
          <a:prstGeom prst="rect">
            <a:avLst/>
          </a:prstGeom>
          <a:noFill/>
        </p:spPr>
        <p:txBody>
          <a:bodyPr wrap="square">
            <a:spAutoFit/>
          </a:bodyPr>
          <a:lstStyle/>
          <a:p>
            <a:pPr>
              <a:spcAft>
                <a:spcPts val="1000"/>
              </a:spcAft>
            </a:pPr>
            <a:r>
              <a:rPr sz="1250" b="1">
                <a:solidFill>
                  <a:srgbClr val="0F172A"/>
                </a:solidFill>
                <a:latin typeface="Calibri"/>
              </a:rPr>
              <a:t>·  Un socle partagé</a:t>
            </a:r>
            <a:r>
              <a:rPr sz="1250">
                <a:solidFill>
                  <a:srgbClr val="475569"/>
                </a:solidFill>
                <a:latin typeface="Calibri"/>
              </a:rPr>
              <a:t>   coquille, charte, graphes, cartes, i18n, économétrie — le défi n'écrit que ses analyses</a:t>
            </a:r>
          </a:p>
          <a:p>
            <a:pPr>
              <a:spcAft>
                <a:spcPts val="1000"/>
              </a:spcAft>
            </a:pPr>
            <a:r>
              <a:rPr sz="1250" b="1">
                <a:solidFill>
                  <a:srgbClr val="0F172A"/>
                </a:solidFill>
                <a:latin typeface="Calibri"/>
              </a:rPr>
              <a:t>·  Les mêmes règles de rigueur</a:t>
            </a:r>
            <a:r>
              <a:rPr sz="1250">
                <a:solidFill>
                  <a:srgbClr val="475569"/>
                </a:solidFill>
                <a:latin typeface="Calibri"/>
              </a:rPr>
              <a:t>   aucune donnée fabriquée, aucun croisement non autorisé, le non-significatif affiché</a:t>
            </a:r>
          </a:p>
          <a:p>
            <a:pPr>
              <a:spcAft>
                <a:spcPts val="1000"/>
              </a:spcAft>
            </a:pPr>
            <a:r>
              <a:rPr sz="1250" b="1">
                <a:solidFill>
                  <a:srgbClr val="0F172A"/>
                </a:solidFill>
                <a:latin typeface="Calibri"/>
              </a:rPr>
              <a:t>·  La même chaîne de livraison</a:t>
            </a:r>
            <a:r>
              <a:rPr sz="1250">
                <a:solidFill>
                  <a:srgbClr val="475569"/>
                </a:solidFill>
                <a:latin typeface="Calibri"/>
              </a:rPr>
              <a:t>   tableau de bord bilingue, rapport, archive reconstructible, diagnostic</a:t>
            </a:r>
          </a:p>
          <a:p>
            <a:pPr>
              <a:spcAft>
                <a:spcPts val="1000"/>
              </a:spcAft>
            </a:pPr>
            <a:r>
              <a:rPr sz="1250" b="1">
                <a:solidFill>
                  <a:srgbClr val="0F172A"/>
                </a:solidFill>
                <a:latin typeface="Calibri"/>
              </a:rPr>
              <a:t>·  Preuve par l'usage</a:t>
            </a:r>
            <a:r>
              <a:rPr sz="1250">
                <a:solidFill>
                  <a:srgbClr val="475569"/>
                </a:solidFill>
                <a:latin typeface="Calibri"/>
              </a:rPr>
              <a:t>   le défi Environnement — eau et hydraulique — a été construit sur ce socle, avec ses propres analyses</a:t>
            </a:r>
          </a:p>
        </p:txBody>
      </p:sp>
      <p:sp>
        <p:nvSpPr>
          <p:cNvPr id="5" name="TextBox 4"/>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822960"/>
          </a:xfrm>
          <a:prstGeom prst="rect">
            <a:avLst/>
          </a:prstGeom>
          <a:noFill/>
        </p:spPr>
        <p:txBody>
          <a:bodyPr wrap="square">
            <a:spAutoFit/>
          </a:bodyPr>
          <a:lstStyle/>
          <a:p>
            <a:pPr algn="l">
              <a:spcAft>
                <a:spcPts val="200"/>
              </a:spcAft>
            </a:pPr>
            <a:r>
              <a:rPr sz="2600" b="1">
                <a:solidFill>
                  <a:srgbClr val="0F172A"/>
                </a:solidFill>
                <a:latin typeface="Calibri"/>
              </a:rPr>
              <a:t>14 · Conclusion</a:t>
            </a:r>
          </a:p>
          <a:p>
            <a:pPr algn="l">
              <a:spcAft>
                <a:spcPts val="0"/>
              </a:spcAft>
            </a:pPr>
            <a:r>
              <a:rPr sz="1300" b="0">
                <a:solidFill>
                  <a:srgbClr val="94A3B8"/>
                </a:solidFill>
                <a:latin typeface="Calibri"/>
              </a:rPr>
              <a:t>Ce que ce travail établit, et ce qu'il laisse ouvert</a:t>
            </a:r>
          </a:p>
        </p:txBody>
      </p:sp>
      <p:sp>
        <p:nvSpPr>
          <p:cNvPr id="3" name="TextBox 2"/>
          <p:cNvSpPr txBox="1"/>
          <p:nvPr/>
        </p:nvSpPr>
        <p:spPr>
          <a:xfrm>
            <a:off x="548640" y="1207008"/>
            <a:ext cx="11064240" cy="27432"/>
          </a:xfrm>
          <a:prstGeom prst="rect">
            <a:avLst/>
          </a:prstGeom>
          <a:solidFill>
            <a:srgbClr val="6366F1"/>
          </a:solidFill>
          <a:ln>
            <a:noFill/>
          </a:ln>
        </p:spPr>
        <p:txBody>
          <a:bodyPr wrap="none">
            <a:spAutoFit/>
          </a:bodyPr>
          <a:lstStyle/>
          <a:p>
            <a:endParaRPr/>
          </a:p>
        </p:txBody>
      </p:sp>
      <p:sp>
        <p:nvSpPr>
          <p:cNvPr id="4" name="TextBox 3"/>
          <p:cNvSpPr txBox="1"/>
          <p:nvPr/>
        </p:nvSpPr>
        <p:spPr>
          <a:xfrm>
            <a:off x="640080" y="1737360"/>
            <a:ext cx="5394960" cy="2286000"/>
          </a:xfrm>
          <a:prstGeom prst="rect">
            <a:avLst/>
          </a:prstGeom>
          <a:noFill/>
        </p:spPr>
        <p:txBody>
          <a:bodyPr wrap="square">
            <a:spAutoFit/>
          </a:bodyPr>
          <a:lstStyle/>
          <a:p>
            <a:pPr algn="l">
              <a:spcAft>
                <a:spcPts val="200"/>
              </a:spcAft>
            </a:pPr>
            <a:r>
              <a:rPr sz="1200" b="1">
                <a:solidFill>
                  <a:srgbClr val="6366F1"/>
                </a:solidFill>
                <a:latin typeface="Calibri"/>
              </a:rPr>
              <a:t>Ce qui est établi</a:t>
            </a:r>
          </a:p>
          <a:p>
            <a:pPr algn="l">
              <a:spcAft>
                <a:spcPts val="500"/>
              </a:spcAft>
            </a:pPr>
            <a:r>
              <a:rPr sz="1000" b="0">
                <a:solidFill>
                  <a:srgbClr val="94A3B8"/>
                </a:solidFill>
                <a:latin typeface="Calibri"/>
              </a:rPr>
              <a:t>L'alignement est-il réalisé ?</a:t>
            </a:r>
          </a:p>
          <a:p>
            <a:pPr algn="l">
              <a:spcAft>
                <a:spcPts val="400"/>
              </a:spcAft>
            </a:pPr>
            <a:r>
              <a:rPr sz="1300" b="1">
                <a:solidFill>
                  <a:srgbClr val="0F172A"/>
                </a:solidFill>
                <a:latin typeface="Calibri"/>
              </a:rPr>
              <a:t>Non, sur les trois écarts mesurés</a:t>
            </a:r>
          </a:p>
          <a:p>
            <a:pPr algn="l">
              <a:spcAft>
                <a:spcPts val="0"/>
              </a:spcAft>
            </a:pPr>
            <a:r>
              <a:rPr sz="950" b="0">
                <a:solidFill>
                  <a:srgbClr val="475569"/>
                </a:solidFill>
                <a:latin typeface="Calibri"/>
              </a:rPr>
              <a:t>L'offre est concentrée sur un territoire, l'accès progresse quand les moyens par étudiant reculent, et l'insertion ne peut pas être suivie faute de donnée locale. Les deux premiers écarts sont mesurés ; le troisième est un manque, et c'en est un résultat.</a:t>
            </a:r>
          </a:p>
        </p:txBody>
      </p:sp>
      <p:sp>
        <p:nvSpPr>
          <p:cNvPr id="5" name="TextBox 4"/>
          <p:cNvSpPr txBox="1"/>
          <p:nvPr/>
        </p:nvSpPr>
        <p:spPr>
          <a:xfrm>
            <a:off x="6309360" y="1737360"/>
            <a:ext cx="5212080" cy="2286000"/>
          </a:xfrm>
          <a:prstGeom prst="rect">
            <a:avLst/>
          </a:prstGeom>
          <a:noFill/>
        </p:spPr>
        <p:txBody>
          <a:bodyPr wrap="square">
            <a:spAutoFit/>
          </a:bodyPr>
          <a:lstStyle/>
          <a:p>
            <a:pPr algn="l">
              <a:spcAft>
                <a:spcPts val="200"/>
              </a:spcAft>
            </a:pPr>
            <a:r>
              <a:rPr sz="1200" b="1">
                <a:solidFill>
                  <a:srgbClr val="6366F1"/>
                </a:solidFill>
                <a:latin typeface="Calibri"/>
              </a:rPr>
              <a:t>Ce qui reste ouvert</a:t>
            </a:r>
          </a:p>
          <a:p>
            <a:pPr algn="l">
              <a:spcAft>
                <a:spcPts val="500"/>
              </a:spcAft>
            </a:pPr>
            <a:r>
              <a:rPr sz="1000" b="0">
                <a:solidFill>
                  <a:srgbClr val="94A3B8"/>
                </a:solidFill>
                <a:latin typeface="Calibri"/>
              </a:rPr>
              <a:t>Que faudrait-il pour aller plus loin ?</a:t>
            </a:r>
          </a:p>
          <a:p>
            <a:pPr algn="l">
              <a:spcAft>
                <a:spcPts val="400"/>
              </a:spcAft>
            </a:pPr>
            <a:r>
              <a:rPr sz="1300" b="1">
                <a:solidFill>
                  <a:srgbClr val="0F172A"/>
                </a:solidFill>
                <a:latin typeface="Calibri"/>
              </a:rPr>
              <a:t>Trois gestes, dans cet ordre</a:t>
            </a:r>
          </a:p>
          <a:p>
            <a:pPr algn="l">
              <a:spcAft>
                <a:spcPts val="0"/>
              </a:spcAft>
            </a:pPr>
            <a:r>
              <a:rPr sz="950" b="0">
                <a:solidFill>
                  <a:srgbClr val="475569"/>
                </a:solidFill>
                <a:latin typeface="Calibri"/>
              </a:rPr>
              <a:t>Publier les 201 champs collectés. Lancer une enquête d'insertion ventilée par filière et par région. Établir un référentiel national des métiers. Aucun des trois n'est un travail de statisticien : ce sont des décisions.</a:t>
            </a:r>
          </a:p>
        </p:txBody>
      </p:sp>
      <p:sp>
        <p:nvSpPr>
          <p:cNvPr id="6" name="TextBox 5"/>
          <p:cNvSpPr txBox="1"/>
          <p:nvPr/>
        </p:nvSpPr>
        <p:spPr>
          <a:xfrm>
            <a:off x="640080" y="4297680"/>
            <a:ext cx="10881360" cy="1463040"/>
          </a:xfrm>
          <a:prstGeom prst="rect">
            <a:avLst/>
          </a:prstGeom>
          <a:noFill/>
        </p:spPr>
        <p:txBody>
          <a:bodyPr wrap="square">
            <a:spAutoFit/>
          </a:bodyPr>
          <a:lstStyle/>
          <a:p>
            <a:pPr>
              <a:spcAft>
                <a:spcPts val="1000"/>
              </a:spcAft>
            </a:pPr>
            <a:r>
              <a:rPr sz="1300" b="1">
                <a:solidFill>
                  <a:srgbClr val="0F172A"/>
                </a:solidFill>
                <a:latin typeface="Calibri"/>
              </a:rPr>
              <a:t>·  La phrase que je retiens</a:t>
            </a:r>
            <a:r>
              <a:rPr sz="1300">
                <a:solidFill>
                  <a:srgbClr val="475569"/>
                </a:solidFill>
                <a:latin typeface="Calibri"/>
              </a:rPr>
              <a:t>   un tableau de bord honnête montre d'abord ce qu'il ne peut pas montrer — c'est à cela qu'on voit qu'il n'a rien inventé</a:t>
            </a:r>
          </a:p>
        </p:txBody>
      </p:sp>
      <p:sp>
        <p:nvSpPr>
          <p:cNvPr id="7" name="TextBox 6"/>
          <p:cNvSpPr txBox="1"/>
          <p:nvPr/>
        </p:nvSpPr>
        <p:spPr>
          <a:xfrm>
            <a:off x="548640" y="6355080"/>
            <a:ext cx="11064240" cy="320040"/>
          </a:xfrm>
          <a:prstGeom prst="rect">
            <a:avLst/>
          </a:prstGeom>
          <a:noFill/>
        </p:spPr>
        <p:txBody>
          <a:bodyPr wrap="none">
            <a:spAutoFit/>
          </a:bodyPr>
          <a:lstStyle/>
          <a:p>
            <a:r>
              <a:rPr sz="900">
                <a:solidFill>
                  <a:srgbClr val="94A3B8"/>
                </a:solidFill>
                <a:latin typeface="Calibri"/>
              </a:rPr>
              <a:t>Adéquation formation-emploi au Togo · soutenance · planche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124</TotalTime>
  <Words>3686</Words>
  <Application>Microsoft Macintosh PowerPoint</Application>
  <PresentationFormat>Grand écran</PresentationFormat>
  <Paragraphs>249</Paragraphs>
  <Slides>14</Slides>
  <Notes>14</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14</vt:i4>
      </vt:variant>
    </vt:vector>
  </HeadingPairs>
  <TitlesOfParts>
    <vt:vector size="17"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Kokou Bernard PIPI</cp:lastModifiedBy>
  <cp:revision>2</cp:revision>
  <dcterms:created xsi:type="dcterms:W3CDTF">2013-01-27T09:14:16Z</dcterms:created>
  <dcterms:modified xsi:type="dcterms:W3CDTF">2026-08-14T10:39:10Z</dcterms:modified>
  <cp:category/>
</cp:coreProperties>
</file>