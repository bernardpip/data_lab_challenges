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non pas les résultats — ils sont dans le rapport de dix pages — mais la MÉTHODE qui les a produits.</a:t>
            </a:r>
          </a:p>
          <a:p>
            <a:r>
              <a:t>En quinze minutes : ce qui était demandé, ce que j'ai posé comme règles avant de commencer, les outils statistiques employés, et ce que j'ai refusé de faire.</a:t>
            </a:r>
          </a:p>
          <a:p>
            <a:r>
              <a:t>Un mot sur l'esprit : tout ce que vous verrez est vérifiable. Le tableau de bord est en ligne, l'archive contient les données brutes, et chaque chiffre d'une planche vient du même code que l'écran.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L'énoncé demandait si l'offre de formation est alignée sur les besoins de l'économie. C'est une question d'opinion : telle quelle, elle n'a pas de réponse chiffrée.</a:t>
            </a:r>
          </a:p>
          <a:p>
            <a:r>
              <a:t>Mon premier travail a donc été de la reformuler en trois écarts qui, eux, se mesurent : l'écart entre territoires, l'écart entre l'accès aux études et les moyens qu'on y met, et l'écart entre ce qu'on forme et ce qui s'insère.</a:t>
            </a:r>
          </a:p>
          <a:p>
            <a:r>
              <a:t>Point important : je n'ai pas fabriqué un « indice d'alignement » global. Additionner trois écarts de natures différentes donnerait un nombre qui a l'air savant et qui ne veut rien dire.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cahier des charges se décompose en quatorze indicateurs élémentaires. J'en ai honoré neuf, deux partiellement, et trois sont impossibles à partir du corpus.</a:t>
            </a:r>
          </a:p>
          <a:p>
            <a:r>
              <a:t>Ces trois-là sont affichés dans le tableau de bord, avec leur cause. C'est un choix : un jury qui ne voit que ce qui a marché ne peut pas juger la couverture réelle du travail.</a:t>
            </a:r>
          </a:p>
          <a:p>
            <a:r>
              <a:t>Les deux « partiels » sont des cas où la donnée existe, mais pas à la maille demandée — typiquement au niveau national quand on la voudrait par région.</a:t>
            </a:r>
          </a:p>
          <a:p>
            <a:r>
              <a:t>Un détail qui compte pour la suite : cet audit est recalculé à chaque exécution, il n'est pas écrit à la main.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Neuf ressources, dont huit réellement chargées. Et surtout : une seule descend sous le niveau national.</a:t>
            </a:r>
          </a:p>
          <a:p>
            <a:r>
              <a:t>C'est l'asymétrie qui commande toute l'architecture. Sept séries ne donnent qu'un chiffre par année pour tout le pays ; une seule donne deux cent cinquante-six points géolocalisés.</a:t>
            </a:r>
          </a:p>
          <a:p>
            <a:r>
              <a:t>Conséquence directe : je me suis interdit tout score régional composite qui mélangerait les deux. Si j'injecte le chômage national dans un score par région, il vaut la même chose partout — le score a l'air riche, il ne mesure rien de plus.</a:t>
            </a:r>
          </a:p>
          <a:p>
            <a:r>
              <a:t>Les périodes aussi sont hétérogènes : 2018 pour le supérieur, 2025 pour le technique. Aucun croisement ne franchit cet écart sans le dire.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quatre règles que je me suis données avant d'ouvrir les fichiers. C'est important : posées après, elles auraient été choisies en fonction de ce qui m'arrangeait.</a:t>
            </a:r>
          </a:p>
          <a:p>
            <a:r>
              <a:t>Première règle : aucune donnée fabriquée. Pas d'interpolation, pas de moyenne de remplissage. Une série trouée reste trouée.</a:t>
            </a:r>
          </a:p>
          <a:p>
            <a:r>
              <a:t>Deuxième : aucun croisement que les données n'autorisent pas, et chaque croisement déclare son nombre d'observations.</a:t>
            </a:r>
          </a:p>
          <a:p>
            <a:r>
              <a:t>Troisième, la plus inconfortable : les résultats non significatifs sont affichés comme tels. Deux de mes cinq modèles ne concluent pas. Ils sont dans le tableau de bord, avec leur p-value.</a:t>
            </a:r>
          </a:p>
          <a:p>
            <a:r>
              <a:t>Quatrième : le contexte externe — les enquêtes nationales — est sourcé et séparé. Il éclaire, il ne se mélange pas.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se déroule en trois temps. Le premier : identifier les données.</a:t>
            </a:r>
          </a:p>
          <a:p>
            <a:r>
              <a:t>Cela veut dire ouvrir réellement chaque fichier — pas lire son intitulé. Compter les lignes, regarder les colonnes, repérer les vides.</a:t>
            </a:r>
          </a:p>
          <a:p>
            <a:r>
              <a:t>Et surtout : situer sa MAILLE et sa PÉRIODE. C'est la maille qui décide de ce qu'on aura le droit de croiser ensuite, et la période qui décide de ce qu'on pourra comparer.</a:t>
            </a:r>
          </a:p>
          <a:p>
            <a:r>
              <a:t>Deux découvertes de cette étape. D'abord le dictionnaire du fichier technique : il décrit deux cent seize champs, le fichier en publie seize. Deux cent un champs collectés ne sont pas ouverts.</a:t>
            </a:r>
          </a:p>
          <a:p>
            <a:r>
              <a:t>Ensuite, le fichier du supérieur se contredit lui-même : quatorze établissements privés sur la ligne de total, soixante-cinq dans le détail par ville. J'ai retenu le détail, c'est écrit, et je peux en discuter.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temps : croiser. Il y a six croisements, et j'ai emprunté au vocabulaire de la cuisine — chacun est une recette qui déclare ses ingrédients.</a:t>
            </a:r>
          </a:p>
          <a:p>
            <a:r>
              <a:t>Concrètement, quand vous ouvrez un croisement dans le tableau de bord, il vous dit : voici les deux fichiers, voici la clé de jointure — presque toujours l'année —, et voici le nombre d'observations qui restent après la jointure.</a:t>
            </a:r>
          </a:p>
          <a:p>
            <a:r>
              <a:t>Pourquoi c'est capital : deux séries qui se recouvrent sur cinq ans ne permettent pas les mêmes affirmations que deux séries qui se recouvrent sur vingt.</a:t>
            </a:r>
          </a:p>
          <a:p>
            <a:r>
              <a:t>Le croisement central est le premier, accès contre moyens. C'est lui qui produit l'effet ciseaux, et c'est sur lui que je vais montrer les outils.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temps : les outils. Je vais les expliquer, parce qu'un nom d'outil ne prouve rien — c'est ce qu'il fait qui compte.</a:t>
            </a:r>
          </a:p>
          <a:p>
            <a:r>
              <a:t>La régression linéaire, d'abord. On cherche la droite qui passe au plus près du nuage de points. Sa pente répond à : quand x augmente d'une unité, de combien bouge y ?</a:t>
            </a:r>
          </a:p>
          <a:p>
            <a:r>
              <a:t>Mais une pente toute seule ne vaut rien. Je publie toujours trois garde-fous avec elle. Le R carré : quelle part de la variation la droite explique-t-elle. La p-value : quelle est la probabilité d'observer ça par pur hasard. Et l'intervalle de confiance : dans quelle fourchette se trouve la vraie pente.</a:t>
            </a:r>
          </a:p>
          <a:p>
            <a:r>
              <a:t>La tendance temporelle, c'est la même chose avec les années en abscisse. Elle donne un rythme — tant par an — et c'est ce qui se retient.</a:t>
            </a:r>
          </a:p>
          <a:p>
            <a:r>
              <a:t>L'élasticité, enfin. Le problème : comment comparer un nombre d'étudiants avec un pourcentage de PIB ? On passe les deux au logarithme, et la pente devient un pourcentage. Ici : quand l'accès monte de un pour cent, la dépense par étudiant recule de zéro virgule quatre-vingt-six pour cent.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outils encore, plus rapidement.</a:t>
            </a:r>
          </a:p>
          <a:p>
            <a:r>
              <a:t>La corrélation, je la mesure deux fois. Pearson demande si les points s'alignent sur une droite ; Spearman demande seulement s'ils montent et descendent ensemble. Quand les deux s'écartent, la relation existe mais n'est pas droite — et c'est une information.</a:t>
            </a:r>
          </a:p>
          <a:p>
            <a:r>
              <a:t>Le test de rupture : on coupe la série à une année charnière et on compare les deux pentes. Sur l'accès au supérieur, la rupture est en deux mille : zéro virgule zéro neuf point par an avant, zéro virgule soixante-trois après. Ce n'est pas une continuation, c'est un changement de régime.</a:t>
            </a:r>
          </a:p>
          <a:p>
            <a:r>
              <a:t>Les deux indices de concentration. Herfindahl additionne les carrés des parts : il s'envole dès qu'un acteur domine. Gini décrit toute la distribution. Je donne les deux parce qu'ils ne disent pas la même chose.</a:t>
            </a:r>
          </a:p>
          <a:p>
            <a:r>
              <a:t>Et le dernier, que je garde pour montrer une honnêteté : la régression du taux d'exécution sur le montant voté. Elle ne conclut pas. Je la publie quand même.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trois résultats, et je les donne surtout pour montrer le lien avec les outils.</a:t>
            </a:r>
          </a:p>
          <a:p>
            <a:r>
              <a:t>Soixante pour cent des établissements techniques sont dans une seule région, la Maritime. Herfindahl à zéro virgule quarante-et-un, Gini à zéro virgule quarante-huit : la concentration est forte, et mesurée, pas ressentie.</a:t>
            </a:r>
          </a:p>
          <a:p>
            <a:r>
              <a:t>Le deuxième est le plus important. Depuis 1998, l'accès au supérieur a été multiplié par quatre virgule sept, et la dépense publique par étudiant divisée par trois virgule six. C'est ce que j'appelle l'effet ciseaux.</a:t>
            </a:r>
          </a:p>
          <a:p>
            <a:r>
              <a:t>L'élasticité vaut moins zéro virgule quatre-vingt-six : quand l'accès augmente d'un pour cent, la dépense par étudiant recule de presque un pour cent. R carré de zéro virgule quatre-vingt-trois, p-value sous un pour mille.</a:t>
            </a:r>
          </a:p>
          <a:p>
            <a:r>
              <a:t>Et à droite, le contre-exemple que je tiens à montrer : le lien entre taille de l'enveloppe et taux d'exécution. La pente va dans le sens attendu, mais l'intervalle de confiance traverse zéro. Six années, c'est trop peu. Je publie le résultat en disant qu'il ne conclut pas.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planche est celle à laquelle je tiens le plus.</a:t>
            </a:r>
          </a:p>
          <a:p>
            <a:r>
              <a:t>Il y a trois manques dans ce travail, et ils ont trois causes différentes. Les confondre mènerait à des recommandations fausses.</a:t>
            </a:r>
          </a:p>
          <a:p>
            <a:r>
              <a:t>Le premier : la donnée est collectée mais pas publiée. Deux cent un champs. Le remède coûte un export, pas une enquête.</a:t>
            </a:r>
          </a:p>
          <a:p>
            <a:r>
              <a:t>Le deuxième : la donnée n'existe pas à la maille utile. Le chômage des diplômés n'est publié qu'au niveau national. Là, il faut une vraie enquête d'insertion.</a:t>
            </a:r>
          </a:p>
          <a:p>
            <a:r>
              <a:t>Le troisième : il n'existe aucune nomenclature des métiers ni des disciplines. Sans référentiel, la question « quelle part de filières scientifiques » n'a pas de dénominateur.</a:t>
            </a:r>
          </a:p>
          <a:p>
            <a:r>
              <a:t>Et la phrase du bas est ma règle : un indicateur absent est absent DU CORPUS, jamais inexistant. Je n'ai pas le droit de dire que le Togo ne sait pas ; je peux dire que le portail ne publie pas.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mot sur la vérifiabilité, parce qu'une méthode qu'on ne peut pas rejouer n'est pas une méthode.</a:t>
            </a:r>
          </a:p>
          <a:p>
            <a:r>
              <a:t>Aucun chiffre n'est écrit en dur dans un commentaire. Quand vous filtrez sur les Savanes, les phrases sous les graphes se réécrivent — elles sont calculées, pas rédigées.</a:t>
            </a:r>
          </a:p>
          <a:p>
            <a:r>
              <a:t>Le rapport PowerPoint est produit par les mêmes fonctions que l'écran, en une seule collecte de chiffres. Il ne peut pas diverger.</a:t>
            </a:r>
          </a:p>
          <a:p>
            <a:r>
              <a:t>L'archive contient les fichiers du portail non modifiés, et un script de diagnostic qui vérifie l'installation avant de lancer quoi que ce soit.</a:t>
            </a:r>
          </a:p>
          <a:p>
            <a:r>
              <a:t>Et surtout : le tableau de bord est en ligne. Vous n'avez rien à installer pour le contredire.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recommandations, maintenant. Il y en a vingt-six, réparties en cinq axes.</a:t>
            </a:r>
          </a:p>
          <a:p>
            <a:r>
              <a:t>Ma règle de rédaction : un levier commence par le chiffre qui le motive, et renvoie à l'onglet où ce chiffre se vérifie. Si je ne peux pas faire ça, ce n'est pas un levier, c'est un vœu.</a:t>
            </a:r>
          </a:p>
          <a:p>
            <a:r>
              <a:t>Et je veux insister sur la première recommandation, parce qu'elle surprend : elle ne demande pas un franc. Elle demande de publier les deux cent un champs déjà collectés.</a:t>
            </a:r>
          </a:p>
          <a:p>
            <a:r>
              <a:t>Tant qu'ils ne le sont pas, personne — ni le ministère, ni un chercheur, ni moi — ne peut calculer un taux d'encadrement par établissement. On pilote à l'aveugle sur une donnée qui existe déjà.</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point qui dépasse ce défi : ce qui a été construit ici est réutilisable.</a:t>
            </a:r>
          </a:p>
          <a:p>
            <a:r>
              <a:t>La coquille, la charte graphique, les formes de graphes, les cartes, le bilinguisme et la boîte à outils économétrique vivent dans un socle partagé. Un nouveau défi n'écrit que ses analyses.</a:t>
            </a:r>
          </a:p>
          <a:p>
            <a:r>
              <a:t>Ce n'est pas une promesse : le défi Environnement, sur l'eau et l'hydraulique, a été construit sur ce même socle, avec ses propres données et ses propres analyses.</a:t>
            </a:r>
          </a:p>
          <a:p>
            <a:r>
              <a:t>Et les règles de rigueur voyagent avec le socle. C'est le point important : ce n'est pas un gabarit graphique, c'est une méthode outillée.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a:t>
            </a:r>
          </a:p>
          <a:p>
            <a:r>
              <a:t>L'alignement n'est pas réalisé, et je peux le dire sur deux des trois écarts : le territoire et les moyens. Le troisième, l'insertion, je ne peux pas le mesurer — et c'est un résultat, pas un échec.</a:t>
            </a:r>
          </a:p>
          <a:p>
            <a:r>
              <a:t>Ce qu'il faudrait pour aller plus loin tient en trois gestes, dans cet ordre : publier ce qui est déjà collecté, lancer une enquête d'insertion, établir un référentiel des métiers.</a:t>
            </a:r>
          </a:p>
          <a:p>
            <a:r>
              <a:t>Aucun des trois n'est un travail de statisticien. Ce sont des décisions administratives — et c'est précisément pour ça qu'un tableau de bord sert à quelque chose : il montre où la décision manque.</a:t>
            </a:r>
          </a:p>
          <a:p>
            <a:r>
              <a:t>Je termine là-dessus : un tableau de bord honnête montre d'abord ce qu'il ne peut pas montrer. Merci. Je réponds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920240"/>
            <a:ext cx="10515600" cy="2926080"/>
          </a:xfrm>
          <a:prstGeom prst="rect">
            <a:avLst/>
          </a:prstGeom>
          <a:noFill/>
        </p:spPr>
        <p:txBody>
          <a:bodyPr wrap="square">
            <a:spAutoFit/>
          </a:bodyPr>
          <a:lstStyle/>
          <a:p>
            <a:pPr algn="l">
              <a:spcAft>
                <a:spcPts val="1000"/>
              </a:spcAft>
            </a:pPr>
            <a:r>
              <a:rPr sz="4000" b="1">
                <a:solidFill>
                  <a:srgbClr val="0F172A"/>
                </a:solidFill>
                <a:latin typeface="Calibri"/>
              </a:rPr>
              <a:t>Adéquation formation-emploi au Togo</a:t>
            </a:r>
          </a:p>
          <a:p>
            <a:pPr algn="l">
              <a:spcAft>
                <a:spcPts val="2400"/>
              </a:spcAft>
            </a:pPr>
            <a:r>
              <a:rPr sz="1600" b="0">
                <a:solidFill>
                  <a:srgbClr val="475569"/>
                </a:solidFill>
                <a:latin typeface="Calibri"/>
              </a:rPr>
              <a:t>Comment ce tableau de bord a été construit — énoncé, postulats, méthodes</a:t>
            </a:r>
          </a:p>
          <a:p>
            <a:pPr algn="l">
              <a:spcAft>
                <a:spcPts val="2600"/>
              </a:spcAft>
            </a:pPr>
            <a:r>
              <a:rPr sz="1300" b="0">
                <a:solidFill>
                  <a:srgbClr val="0F172A"/>
                </a:solidFill>
                <a:latin typeface="Calibri"/>
              </a:rPr>
              <a:t>256 établissements techniques · 9 ressources ouvertes · 14 indicateurs du cahier des charges passés en revue</a:t>
            </a:r>
          </a:p>
          <a:p>
            <a:pPr algn="l">
              <a:spcAft>
                <a:spcPts val="600"/>
              </a:spcAft>
            </a:pPr>
            <a:r>
              <a:rPr sz="1200" b="0">
                <a:solidFill>
                  <a:srgbClr val="94A3B8"/>
                </a:solidFill>
                <a:latin typeface="Calibri"/>
              </a:rPr>
              <a:t>Kokou PIPI · Data AI Lab · Data Challenge Éducation, défi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2 · L'énoncé</a:t>
            </a:r>
          </a:p>
          <a:p>
            <a:pPr algn="l">
              <a:spcAft>
                <a:spcPts val="0"/>
              </a:spcAft>
            </a:pPr>
            <a:r>
              <a:rPr sz="1300" b="0">
                <a:solidFill>
                  <a:srgbClr val="94A3B8"/>
                </a:solidFill>
                <a:latin typeface="Calibri"/>
              </a:rPr>
              <a:t>Ce que le défi demandait, et ce que j'en ai fait une question mesurable</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5486400" cy="4023360"/>
          </a:xfrm>
          <a:prstGeom prst="rect">
            <a:avLst/>
          </a:prstGeom>
          <a:noFill/>
        </p:spPr>
        <p:txBody>
          <a:bodyPr wrap="square">
            <a:spAutoFit/>
          </a:bodyPr>
          <a:lstStyle/>
          <a:p>
            <a:pPr>
              <a:spcAft>
                <a:spcPts val="1000"/>
              </a:spcAft>
            </a:pPr>
            <a:r>
              <a:rPr b="1" sz="1300">
                <a:solidFill>
                  <a:srgbClr val="0F172A"/>
                </a:solidFill>
                <a:latin typeface="Calibri"/>
              </a:rPr>
              <a:t>·  La question posée</a:t>
            </a:r>
            <a:r>
              <a:rPr sz="1300">
                <a:solidFill>
                  <a:srgbClr val="475569"/>
                </a:solidFill>
                <a:latin typeface="Calibri"/>
              </a:rPr>
              <a:t>   « L'offre de formation est-elle alignée sur les besoins de l'économie togolaise ? »</a:t>
            </a:r>
          </a:p>
          <a:p>
            <a:pPr>
              <a:spcAft>
                <a:spcPts val="1000"/>
              </a:spcAft>
            </a:pPr>
            <a:r>
              <a:rPr b="1" sz="1300">
                <a:solidFill>
                  <a:srgbClr val="0F172A"/>
                </a:solidFill>
                <a:latin typeface="Calibri"/>
              </a:rPr>
              <a:t>·  Six objectifs</a:t>
            </a:r>
            <a:r>
              <a:rPr sz="1300">
                <a:solidFill>
                  <a:srgbClr val="475569"/>
                </a:solidFill>
                <a:latin typeface="Calibri"/>
              </a:rPr>
              <a:t>   cartographier l'offre, mesurer l'accès, suivre les moyens publics, décrire l'insertion, croiser, recommander</a:t>
            </a:r>
          </a:p>
          <a:p>
            <a:pPr>
              <a:spcAft>
                <a:spcPts val="1000"/>
              </a:spcAft>
            </a:pPr>
            <a:r>
              <a:rPr b="1" sz="1300">
                <a:solidFill>
                  <a:srgbClr val="0F172A"/>
                </a:solidFill>
                <a:latin typeface="Calibri"/>
              </a:rPr>
              <a:t>·  Un corpus imposé</a:t>
            </a:r>
            <a:r>
              <a:rPr sz="1300">
                <a:solidFill>
                  <a:srgbClr val="475569"/>
                </a:solidFill>
                <a:latin typeface="Calibri"/>
              </a:rPr>
              <a:t>   les ressources ouvertes du portail national, et elles seules</a:t>
            </a:r>
          </a:p>
        </p:txBody>
      </p:sp>
      <p:sp>
        <p:nvSpPr>
          <p:cNvPr id="5" name="TextBox 4"/>
          <p:cNvSpPr txBox="1"/>
          <p:nvPr/>
        </p:nvSpPr>
        <p:spPr>
          <a:xfrm>
            <a:off x="6492240" y="1828800"/>
            <a:ext cx="5029200" cy="2286000"/>
          </a:xfrm>
          <a:prstGeom prst="rect">
            <a:avLst/>
          </a:prstGeom>
          <a:noFill/>
        </p:spPr>
        <p:txBody>
          <a:bodyPr wrap="square">
            <a:spAutoFit/>
          </a:bodyPr>
          <a:lstStyle/>
          <a:p>
            <a:pPr algn="l">
              <a:spcAft>
                <a:spcPts val="200"/>
              </a:spcAft>
            </a:pPr>
            <a:r>
              <a:rPr sz="1200" b="1">
                <a:solidFill>
                  <a:srgbClr val="6366F1"/>
                </a:solidFill>
                <a:latin typeface="Calibri"/>
              </a:rPr>
              <a:t>La reformulation</a:t>
            </a:r>
          </a:p>
          <a:p>
            <a:pPr algn="l">
              <a:spcAft>
                <a:spcPts val="500"/>
              </a:spcAft>
            </a:pPr>
            <a:r>
              <a:rPr sz="1000" b="0">
                <a:solidFill>
                  <a:srgbClr val="94A3B8"/>
                </a:solidFill>
                <a:latin typeface="Calibri"/>
              </a:rPr>
              <a:t>Une question d'opinion peut-elle se mesurer ?</a:t>
            </a:r>
          </a:p>
          <a:p>
            <a:pPr algn="l">
              <a:spcAft>
                <a:spcPts val="400"/>
              </a:spcAft>
            </a:pPr>
            <a:r>
              <a:rPr sz="1300" b="1">
                <a:solidFill>
                  <a:srgbClr val="0F172A"/>
                </a:solidFill>
                <a:latin typeface="Calibri"/>
              </a:rPr>
              <a:t>Oui, en trois écarts</a:t>
            </a:r>
          </a:p>
          <a:p>
            <a:pPr algn="l">
              <a:spcAft>
                <a:spcPts val="0"/>
              </a:spcAft>
            </a:pPr>
            <a:r>
              <a:rPr sz="950" b="0">
                <a:solidFill>
                  <a:srgbClr val="475569"/>
                </a:solidFill>
                <a:latin typeface="Calibri"/>
              </a:rPr>
              <a:t>« Alignement » ne se mesure pas directement. Je l'ai éclaté en trois écarts observables : entre les territoires, entre l'accès et les moyens, entre la formation et l'insertion. Chacun se calcule ; leur somme ne se calcule pas, et je ne l'ai pas inventée.</a:t>
            </a:r>
          </a:p>
        </p:txBody>
      </p:sp>
      <p:sp>
        <p:nvSpPr>
          <p:cNvPr id="6" name="TextBox 5"/>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3 · Les attendus</a:t>
            </a:r>
          </a:p>
          <a:p>
            <a:pPr algn="l">
              <a:spcAft>
                <a:spcPts val="0"/>
              </a:spcAft>
            </a:pPr>
            <a:r>
              <a:rPr sz="1300" b="0">
                <a:solidFill>
                  <a:srgbClr val="94A3B8"/>
                </a:solidFill>
                <a:latin typeface="Calibri"/>
              </a:rPr>
              <a:t>Quatorze indicateurs, quatre livrables — et un verdict public pour chacun</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3566160" cy="1371600"/>
          </a:xfrm>
          <a:prstGeom prst="rect">
            <a:avLst/>
          </a:prstGeom>
          <a:noFill/>
        </p:spPr>
        <p:txBody>
          <a:bodyPr wrap="square">
            <a:spAutoFit/>
          </a:bodyPr>
          <a:lstStyle/>
          <a:p>
            <a:pPr algn="l">
              <a:spcAft>
                <a:spcPts val="200"/>
              </a:spcAft>
            </a:pPr>
            <a:r>
              <a:rPr sz="1100" b="0">
                <a:solidFill>
                  <a:srgbClr val="94A3B8"/>
                </a:solidFill>
                <a:latin typeface="Calibri"/>
              </a:rPr>
              <a:t>Indicateurs honorés</a:t>
            </a:r>
          </a:p>
          <a:p>
            <a:pPr algn="l">
              <a:spcAft>
                <a:spcPts val="200"/>
              </a:spcAft>
            </a:pPr>
            <a:r>
              <a:rPr sz="3200" b="1">
                <a:solidFill>
                  <a:srgbClr val="6366F1"/>
                </a:solidFill>
                <a:latin typeface="Calibri"/>
              </a:rPr>
              <a:t>9</a:t>
            </a:r>
          </a:p>
          <a:p>
            <a:pPr algn="l">
              <a:spcAft>
                <a:spcPts val="0"/>
              </a:spcAft>
            </a:pPr>
            <a:r>
              <a:rPr sz="1000" b="0">
                <a:solidFill>
                  <a:srgbClr val="475569"/>
                </a:solidFill>
                <a:latin typeface="Calibri"/>
              </a:rPr>
              <a:t>calculés et affichés</a:t>
            </a:r>
          </a:p>
        </p:txBody>
      </p:sp>
      <p:sp>
        <p:nvSpPr>
          <p:cNvPr id="5" name="TextBox 4"/>
          <p:cNvSpPr txBox="1"/>
          <p:nvPr/>
        </p:nvSpPr>
        <p:spPr>
          <a:xfrm>
            <a:off x="4434840" y="1737360"/>
            <a:ext cx="3566160" cy="1371600"/>
          </a:xfrm>
          <a:prstGeom prst="rect">
            <a:avLst/>
          </a:prstGeom>
          <a:noFill/>
        </p:spPr>
        <p:txBody>
          <a:bodyPr wrap="square">
            <a:spAutoFit/>
          </a:bodyPr>
          <a:lstStyle/>
          <a:p>
            <a:pPr algn="l">
              <a:spcAft>
                <a:spcPts val="200"/>
              </a:spcAft>
            </a:pPr>
            <a:r>
              <a:rPr sz="1100" b="0">
                <a:solidFill>
                  <a:srgbClr val="94A3B8"/>
                </a:solidFill>
                <a:latin typeface="Calibri"/>
              </a:rPr>
              <a:t>Partiellement</a:t>
            </a:r>
          </a:p>
          <a:p>
            <a:pPr algn="l">
              <a:spcAft>
                <a:spcPts val="200"/>
              </a:spcAft>
            </a:pPr>
            <a:r>
              <a:rPr sz="3200" b="1">
                <a:solidFill>
                  <a:srgbClr val="6366F1"/>
                </a:solidFill>
                <a:latin typeface="Calibri"/>
              </a:rPr>
              <a:t>2</a:t>
            </a:r>
          </a:p>
          <a:p>
            <a:pPr algn="l">
              <a:spcAft>
                <a:spcPts val="0"/>
              </a:spcAft>
            </a:pPr>
            <a:r>
              <a:rPr sz="1000" b="0">
                <a:solidFill>
                  <a:srgbClr val="475569"/>
                </a:solidFill>
                <a:latin typeface="Calibri"/>
              </a:rPr>
              <a:t>la donnée existe, mais pas à la maille demandée</a:t>
            </a:r>
          </a:p>
        </p:txBody>
      </p:sp>
      <p:sp>
        <p:nvSpPr>
          <p:cNvPr id="6" name="TextBox 5"/>
          <p:cNvSpPr txBox="1"/>
          <p:nvPr/>
        </p:nvSpPr>
        <p:spPr>
          <a:xfrm>
            <a:off x="8229600" y="1737360"/>
            <a:ext cx="3566160" cy="1371600"/>
          </a:xfrm>
          <a:prstGeom prst="rect">
            <a:avLst/>
          </a:prstGeom>
          <a:noFill/>
        </p:spPr>
        <p:txBody>
          <a:bodyPr wrap="square">
            <a:spAutoFit/>
          </a:bodyPr>
          <a:lstStyle/>
          <a:p>
            <a:pPr algn="l">
              <a:spcAft>
                <a:spcPts val="200"/>
              </a:spcAft>
            </a:pPr>
            <a:r>
              <a:rPr sz="1100" b="0">
                <a:solidFill>
                  <a:srgbClr val="94A3B8"/>
                </a:solidFill>
                <a:latin typeface="Calibri"/>
              </a:rPr>
              <a:t>Impossibles</a:t>
            </a:r>
          </a:p>
          <a:p>
            <a:pPr algn="l">
              <a:spcAft>
                <a:spcPts val="200"/>
              </a:spcAft>
            </a:pPr>
            <a:r>
              <a:rPr sz="3200" b="1">
                <a:solidFill>
                  <a:srgbClr val="D03B3B"/>
                </a:solidFill>
                <a:latin typeface="Calibri"/>
              </a:rPr>
              <a:t>3</a:t>
            </a:r>
          </a:p>
          <a:p>
            <a:pPr algn="l">
              <a:spcAft>
                <a:spcPts val="0"/>
              </a:spcAft>
            </a:pPr>
            <a:r>
              <a:rPr sz="1000" b="0">
                <a:solidFill>
                  <a:srgbClr val="475569"/>
                </a:solidFill>
                <a:latin typeface="Calibri"/>
              </a:rPr>
              <a:t>et la planche dit POURQUOI</a:t>
            </a:r>
          </a:p>
        </p:txBody>
      </p:sp>
      <p:sp>
        <p:nvSpPr>
          <p:cNvPr id="7" name="TextBox 6"/>
          <p:cNvSpPr txBox="1"/>
          <p:nvPr/>
        </p:nvSpPr>
        <p:spPr>
          <a:xfrm>
            <a:off x="640080" y="3474720"/>
            <a:ext cx="10881360" cy="2286000"/>
          </a:xfrm>
          <a:prstGeom prst="rect">
            <a:avLst/>
          </a:prstGeom>
          <a:noFill/>
        </p:spPr>
        <p:txBody>
          <a:bodyPr wrap="square">
            <a:spAutoFit/>
          </a:bodyPr>
          <a:lstStyle/>
          <a:p>
            <a:pPr>
              <a:spcAft>
                <a:spcPts val="1000"/>
              </a:spcAft>
            </a:pPr>
            <a:r>
              <a:rPr b="1" sz="1300">
                <a:solidFill>
                  <a:srgbClr val="0F172A"/>
                </a:solidFill>
                <a:latin typeface="Calibri"/>
              </a:rPr>
              <a:t>·  Les quatre livrables</a:t>
            </a:r>
            <a:r>
              <a:rPr sz="1300">
                <a:solidFill>
                  <a:srgbClr val="475569"/>
                </a:solidFill>
                <a:latin typeface="Calibri"/>
              </a:rPr>
              <a:t>   un tableau de bord bilingue, un rapport de dix pages, l'archive du code et des données, un diagnostic d'installation</a:t>
            </a:r>
          </a:p>
          <a:p>
            <a:pPr>
              <a:spcAft>
                <a:spcPts val="1000"/>
              </a:spcAft>
            </a:pPr>
            <a:r>
              <a:rPr b="1" sz="1300">
                <a:solidFill>
                  <a:srgbClr val="0F172A"/>
                </a:solidFill>
                <a:latin typeface="Calibri"/>
              </a:rPr>
              <a:t>·  Le principe</a:t>
            </a:r>
            <a:r>
              <a:rPr sz="1300">
                <a:solidFill>
                  <a:srgbClr val="475569"/>
                </a:solidFill>
                <a:latin typeface="Calibri"/>
              </a:rPr>
              <a:t>   un indicateur impossible reste AFFICHÉ, avec sa cause — le masquer donnerait l'illusion d'un travail complet</a:t>
            </a:r>
          </a:p>
        </p:txBody>
      </p:sp>
      <p:sp>
        <p:nvSpPr>
          <p:cNvPr id="8" name="TextBox 7"/>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4 · Le matériau</a:t>
            </a:r>
          </a:p>
          <a:p>
            <a:pPr algn="l">
              <a:spcAft>
                <a:spcPts val="0"/>
              </a:spcAft>
            </a:pPr>
            <a:r>
              <a:rPr sz="1300" b="0">
                <a:solidFill>
                  <a:srgbClr val="94A3B8"/>
                </a:solidFill>
                <a:latin typeface="Calibri"/>
              </a:rPr>
              <a:t>Neuf ressources — et une asymétrie qui commande tout le reste</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5669280" cy="4023360"/>
          </a:xfrm>
          <a:prstGeom prst="rect">
            <a:avLst/>
          </a:prstGeom>
          <a:noFill/>
        </p:spPr>
        <p:txBody>
          <a:bodyPr wrap="square">
            <a:spAutoFit/>
          </a:bodyPr>
          <a:lstStyle/>
          <a:p>
            <a:pPr>
              <a:spcAft>
                <a:spcPts val="1000"/>
              </a:spcAft>
            </a:pPr>
            <a:r>
              <a:rPr b="1" sz="1300">
                <a:solidFill>
                  <a:srgbClr val="0F172A"/>
                </a:solidFill>
                <a:latin typeface="Calibri"/>
              </a:rPr>
              <a:t>·  8 ressources chargées</a:t>
            </a:r>
            <a:r>
              <a:rPr sz="1300">
                <a:solidFill>
                  <a:srgbClr val="475569"/>
                </a:solidFill>
                <a:latin typeface="Calibri"/>
              </a:rPr>
              <a:t>   sur 9 ; la neuvième est une table de contrôle du jeu technique</a:t>
            </a:r>
          </a:p>
          <a:p>
            <a:pPr>
              <a:spcAft>
                <a:spcPts val="1000"/>
              </a:spcAft>
            </a:pPr>
            <a:r>
              <a:rPr b="1" sz="1300">
                <a:solidFill>
                  <a:srgbClr val="0F172A"/>
                </a:solidFill>
                <a:latin typeface="Calibri"/>
              </a:rPr>
              <a:t>·  1 seule descend sous le national</a:t>
            </a:r>
            <a:r>
              <a:rPr sz="1300">
                <a:solidFill>
                  <a:srgbClr val="475569"/>
                </a:solidFill>
                <a:latin typeface="Calibri"/>
              </a:rPr>
              <a:t>   les 256 établissements techniques, géolocalisés</a:t>
            </a:r>
          </a:p>
          <a:p>
            <a:pPr>
              <a:spcAft>
                <a:spcPts val="1000"/>
              </a:spcAft>
            </a:pPr>
            <a:r>
              <a:rPr b="1" sz="1300">
                <a:solidFill>
                  <a:srgbClr val="0F172A"/>
                </a:solidFill>
                <a:latin typeface="Calibri"/>
              </a:rPr>
              <a:t>·  7 séries nationales</a:t>
            </a:r>
            <a:r>
              <a:rPr sz="1300">
                <a:solidFill>
                  <a:srgbClr val="475569"/>
                </a:solidFill>
                <a:latin typeface="Calibri"/>
              </a:rPr>
              <a:t>   budget, inscriptions, dépense, chômage, effectifs — un seul chiffre par année</a:t>
            </a:r>
          </a:p>
          <a:p>
            <a:pPr>
              <a:spcAft>
                <a:spcPts val="1000"/>
              </a:spcAft>
            </a:pPr>
            <a:r>
              <a:rPr b="1" sz="1300">
                <a:solidFill>
                  <a:srgbClr val="0F172A"/>
                </a:solidFill>
                <a:latin typeface="Calibri"/>
              </a:rPr>
              <a:t>·  Périodes hétérogènes</a:t>
            </a:r>
            <a:r>
              <a:rPr sz="1300">
                <a:solidFill>
                  <a:srgbClr val="475569"/>
                </a:solidFill>
                <a:latin typeface="Calibri"/>
              </a:rPr>
              <a:t>   supérieur 2018, technique 2025, séries internationales 1971-2022</a:t>
            </a:r>
          </a:p>
        </p:txBody>
      </p:sp>
      <p:sp>
        <p:nvSpPr>
          <p:cNvPr id="5" name="TextBox 4"/>
          <p:cNvSpPr txBox="1"/>
          <p:nvPr/>
        </p:nvSpPr>
        <p:spPr>
          <a:xfrm>
            <a:off x="6675120" y="1828800"/>
            <a:ext cx="4846320" cy="2651760"/>
          </a:xfrm>
          <a:prstGeom prst="rect">
            <a:avLst/>
          </a:prstGeom>
          <a:noFill/>
        </p:spPr>
        <p:txBody>
          <a:bodyPr wrap="square">
            <a:spAutoFit/>
          </a:bodyPr>
          <a:lstStyle/>
          <a:p>
            <a:pPr algn="l">
              <a:spcAft>
                <a:spcPts val="200"/>
              </a:spcAft>
            </a:pPr>
            <a:r>
              <a:rPr sz="1200" b="1">
                <a:solidFill>
                  <a:srgbClr val="6366F1"/>
                </a:solidFill>
                <a:latin typeface="Calibri"/>
              </a:rPr>
              <a:t>La conséquence</a:t>
            </a:r>
          </a:p>
          <a:p>
            <a:pPr algn="l">
              <a:spcAft>
                <a:spcPts val="500"/>
              </a:spcAft>
            </a:pPr>
            <a:r>
              <a:rPr sz="1000" b="0">
                <a:solidFill>
                  <a:srgbClr val="94A3B8"/>
                </a:solidFill>
                <a:latin typeface="Calibri"/>
              </a:rPr>
              <a:t>Pourquoi cette asymétrie décide de tout ?</a:t>
            </a:r>
          </a:p>
          <a:p>
            <a:pPr algn="l">
              <a:spcAft>
                <a:spcPts val="400"/>
              </a:spcAft>
            </a:pPr>
            <a:r>
              <a:rPr sz="1300" b="1">
                <a:solidFill>
                  <a:srgbClr val="0F172A"/>
                </a:solidFill>
                <a:latin typeface="Calibri"/>
              </a:rPr>
              <a:t>Aucun score régional composite</a:t>
            </a:r>
          </a:p>
          <a:p>
            <a:pPr algn="l">
              <a:spcAft>
                <a:spcPts val="0"/>
              </a:spcAft>
            </a:pPr>
            <a:r>
              <a:rPr sz="950" b="0">
                <a:solidFill>
                  <a:srgbClr val="475569"/>
                </a:solidFill>
                <a:latin typeface="Calibri"/>
              </a:rPr>
              <a:t>Un indicateur national ne peut pas entrer dans un classement de régions : il y apporterait la même valeur partout, en donnant l'illusion d'avoir été mesuré localement. Le chômage des diplômés est donc absent de tous les scores territoriaux, et la vue le dit.</a:t>
            </a:r>
          </a:p>
        </p:txBody>
      </p:sp>
      <p:sp>
        <p:nvSpPr>
          <p:cNvPr id="6" name="TextBox 5"/>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5 · Les postulats</a:t>
            </a:r>
          </a:p>
          <a:p>
            <a:pPr algn="l">
              <a:spcAft>
                <a:spcPts val="0"/>
              </a:spcAft>
            </a:pPr>
            <a:r>
              <a:rPr sz="1300" b="0">
                <a:solidFill>
                  <a:srgbClr val="94A3B8"/>
                </a:solidFill>
                <a:latin typeface="Calibri"/>
              </a:rPr>
              <a:t>Quatre règles posées AVANT de regarder les données — donc avant de savoir ce qu'elles arrangeraient</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5394960" cy="1920240"/>
          </a:xfrm>
          <a:prstGeom prst="rect">
            <a:avLst/>
          </a:prstGeom>
          <a:noFill/>
        </p:spPr>
        <p:txBody>
          <a:bodyPr wrap="square">
            <a:spAutoFit/>
          </a:bodyPr>
          <a:lstStyle/>
          <a:p>
            <a:pPr algn="l">
              <a:spcAft>
                <a:spcPts val="200"/>
              </a:spcAft>
            </a:pPr>
            <a:r>
              <a:rPr sz="1200" b="1">
                <a:solidFill>
                  <a:srgbClr val="6366F1"/>
                </a:solidFill>
                <a:latin typeface="Calibri"/>
              </a:rPr>
              <a:t>1 · Aucune donnée fabriquée</a:t>
            </a:r>
          </a:p>
          <a:p>
            <a:pPr algn="l">
              <a:spcAft>
                <a:spcPts val="500"/>
              </a:spcAft>
            </a:pPr>
            <a:r>
              <a:rPr sz="1000" b="0">
                <a:solidFill>
                  <a:srgbClr val="94A3B8"/>
                </a:solidFill>
                <a:latin typeface="Calibri"/>
              </a:rPr>
              <a:t>Que faire d'une série trouée ?</a:t>
            </a:r>
          </a:p>
          <a:p>
            <a:pPr algn="l">
              <a:spcAft>
                <a:spcPts val="400"/>
              </a:spcAft>
            </a:pPr>
            <a:r>
              <a:rPr sz="1300" b="1">
                <a:solidFill>
                  <a:srgbClr val="0F172A"/>
                </a:solidFill>
                <a:latin typeface="Calibri"/>
              </a:rPr>
              <a:t>On laisse le trou</a:t>
            </a:r>
          </a:p>
          <a:p>
            <a:pPr algn="l">
              <a:spcAft>
                <a:spcPts val="0"/>
              </a:spcAft>
            </a:pPr>
            <a:r>
              <a:rPr sz="950" b="0">
                <a:solidFill>
                  <a:srgbClr val="475569"/>
                </a:solidFill>
                <a:latin typeface="Calibri"/>
              </a:rPr>
              <a:t>Ni interpolation, ni moyenne de remplissage. Les non-réponses restent visibles sous « Non renseigné » : les supprimer embellirait toutes les répartitions.</a:t>
            </a:r>
          </a:p>
        </p:txBody>
      </p:sp>
      <p:sp>
        <p:nvSpPr>
          <p:cNvPr id="5" name="TextBox 4"/>
          <p:cNvSpPr txBox="1"/>
          <p:nvPr/>
        </p:nvSpPr>
        <p:spPr>
          <a:xfrm>
            <a:off x="6263640" y="1737360"/>
            <a:ext cx="5394960" cy="1920240"/>
          </a:xfrm>
          <a:prstGeom prst="rect">
            <a:avLst/>
          </a:prstGeom>
          <a:noFill/>
        </p:spPr>
        <p:txBody>
          <a:bodyPr wrap="square">
            <a:spAutoFit/>
          </a:bodyPr>
          <a:lstStyle/>
          <a:p>
            <a:pPr algn="l">
              <a:spcAft>
                <a:spcPts val="200"/>
              </a:spcAft>
            </a:pPr>
            <a:r>
              <a:rPr sz="1200" b="1">
                <a:solidFill>
                  <a:srgbClr val="6366F1"/>
                </a:solidFill>
                <a:latin typeface="Calibri"/>
              </a:rPr>
              <a:t>2 · Aucun croisement non autorisé</a:t>
            </a:r>
          </a:p>
          <a:p>
            <a:pPr algn="l">
              <a:spcAft>
                <a:spcPts val="500"/>
              </a:spcAft>
            </a:pPr>
            <a:r>
              <a:rPr sz="1000" b="0">
                <a:solidFill>
                  <a:srgbClr val="94A3B8"/>
                </a:solidFill>
                <a:latin typeface="Calibri"/>
              </a:rPr>
              <a:t>Peut-on croiser deux mailles différentes ?</a:t>
            </a:r>
          </a:p>
          <a:p>
            <a:pPr algn="l">
              <a:spcAft>
                <a:spcPts val="400"/>
              </a:spcAft>
            </a:pPr>
            <a:r>
              <a:rPr sz="1300" b="1">
                <a:solidFill>
                  <a:srgbClr val="0F172A"/>
                </a:solidFill>
                <a:latin typeface="Calibri"/>
              </a:rPr>
              <a:t>Non, jamais en silence</a:t>
            </a:r>
          </a:p>
          <a:p>
            <a:pPr algn="l">
              <a:spcAft>
                <a:spcPts val="0"/>
              </a:spcAft>
            </a:pPr>
            <a:r>
              <a:rPr sz="950" b="0">
                <a:solidFill>
                  <a:srgbClr val="475569"/>
                </a:solidFill>
                <a:latin typeface="Calibri"/>
              </a:rPr>
              <a:t>Chaque croisement déclare ses ingrédients, sa clé de jointure et son nombre d'observations. Cinq années communes n'autorisent pas les conclusions de dix.</a:t>
            </a:r>
          </a:p>
        </p:txBody>
      </p:sp>
      <p:sp>
        <p:nvSpPr>
          <p:cNvPr id="6" name="TextBox 5"/>
          <p:cNvSpPr txBox="1"/>
          <p:nvPr/>
        </p:nvSpPr>
        <p:spPr>
          <a:xfrm>
            <a:off x="640080" y="3840480"/>
            <a:ext cx="5394960" cy="1920240"/>
          </a:xfrm>
          <a:prstGeom prst="rect">
            <a:avLst/>
          </a:prstGeom>
          <a:noFill/>
        </p:spPr>
        <p:txBody>
          <a:bodyPr wrap="square">
            <a:spAutoFit/>
          </a:bodyPr>
          <a:lstStyle/>
          <a:p>
            <a:pPr algn="l">
              <a:spcAft>
                <a:spcPts val="200"/>
              </a:spcAft>
            </a:pPr>
            <a:r>
              <a:rPr sz="1200" b="1">
                <a:solidFill>
                  <a:srgbClr val="6366F1"/>
                </a:solidFill>
                <a:latin typeface="Calibri"/>
              </a:rPr>
              <a:t>3 · Le non-significatif s'affiche</a:t>
            </a:r>
          </a:p>
          <a:p>
            <a:pPr algn="l">
              <a:spcAft>
                <a:spcPts val="500"/>
              </a:spcAft>
            </a:pPr>
            <a:r>
              <a:rPr sz="1000" b="0">
                <a:solidFill>
                  <a:srgbClr val="94A3B8"/>
                </a:solidFill>
                <a:latin typeface="Calibri"/>
              </a:rPr>
              <a:t>Que fait-on d'un modèle qui ne conclut pas ?</a:t>
            </a:r>
          </a:p>
          <a:p>
            <a:pPr algn="l">
              <a:spcAft>
                <a:spcPts val="400"/>
              </a:spcAft>
            </a:pPr>
            <a:r>
              <a:rPr sz="1300" b="1">
                <a:solidFill>
                  <a:srgbClr val="0F172A"/>
                </a:solidFill>
                <a:latin typeface="Calibri"/>
              </a:rPr>
              <a:t>On le publie quand même</a:t>
            </a:r>
          </a:p>
          <a:p>
            <a:pPr algn="l">
              <a:spcAft>
                <a:spcPts val="0"/>
              </a:spcAft>
            </a:pPr>
            <a:r>
              <a:rPr sz="950" b="0">
                <a:solidFill>
                  <a:srgbClr val="475569"/>
                </a:solidFill>
                <a:latin typeface="Calibri"/>
              </a:rPr>
              <a:t>Deux des cinq modèles ne concluent pas. Les retirer donnerait à l'ensemble une solidité qu'il n'a pas.</a:t>
            </a:r>
          </a:p>
        </p:txBody>
      </p:sp>
      <p:sp>
        <p:nvSpPr>
          <p:cNvPr id="7" name="TextBox 6"/>
          <p:cNvSpPr txBox="1"/>
          <p:nvPr/>
        </p:nvSpPr>
        <p:spPr>
          <a:xfrm>
            <a:off x="6263640" y="3840480"/>
            <a:ext cx="5394960" cy="1920240"/>
          </a:xfrm>
          <a:prstGeom prst="rect">
            <a:avLst/>
          </a:prstGeom>
          <a:noFill/>
        </p:spPr>
        <p:txBody>
          <a:bodyPr wrap="square">
            <a:spAutoFit/>
          </a:bodyPr>
          <a:lstStyle/>
          <a:p>
            <a:pPr algn="l">
              <a:spcAft>
                <a:spcPts val="200"/>
              </a:spcAft>
            </a:pPr>
            <a:r>
              <a:rPr sz="1200" b="1">
                <a:solidFill>
                  <a:srgbClr val="6366F1"/>
                </a:solidFill>
                <a:latin typeface="Calibri"/>
              </a:rPr>
              <a:t>4 · Le contexte externe reste dehors</a:t>
            </a:r>
          </a:p>
          <a:p>
            <a:pPr algn="l">
              <a:spcAft>
                <a:spcPts val="500"/>
              </a:spcAft>
            </a:pPr>
            <a:r>
              <a:rPr sz="1000" b="0">
                <a:solidFill>
                  <a:srgbClr val="94A3B8"/>
                </a:solidFill>
                <a:latin typeface="Calibri"/>
              </a:rPr>
              <a:t>Peut-on compléter avec d'autres sources ?</a:t>
            </a:r>
          </a:p>
          <a:p>
            <a:pPr algn="l">
              <a:spcAft>
                <a:spcPts val="400"/>
              </a:spcAft>
            </a:pPr>
            <a:r>
              <a:rPr sz="1300" b="1">
                <a:solidFill>
                  <a:srgbClr val="0F172A"/>
                </a:solidFill>
                <a:latin typeface="Calibri"/>
              </a:rPr>
              <a:t>Oui, mais séparément</a:t>
            </a:r>
          </a:p>
          <a:p>
            <a:pPr algn="l">
              <a:spcAft>
                <a:spcPts val="0"/>
              </a:spcAft>
            </a:pPr>
            <a:r>
              <a:rPr sz="950" b="0">
                <a:solidFill>
                  <a:srgbClr val="475569"/>
                </a:solidFill>
                <a:latin typeface="Calibri"/>
              </a:rPr>
              <a:t>Les repères d'enquêtes nationales sont sourcés, signalés visuellement, et n'entrent dans aucun calcul du corpus.</a:t>
            </a:r>
          </a:p>
        </p:txBody>
      </p:sp>
      <p:sp>
        <p:nvSpPr>
          <p:cNvPr id="8" name="TextBox 7"/>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6 · Méthode, temps 1 — identifier les données</a:t>
            </a:r>
          </a:p>
          <a:p>
            <a:pPr algn="l">
              <a:spcAft>
                <a:spcPts val="0"/>
              </a:spcAft>
            </a:pPr>
            <a:r>
              <a:rPr sz="1300" b="0">
                <a:solidFill>
                  <a:srgbClr val="94A3B8"/>
                </a:solidFill>
                <a:latin typeface="Calibri"/>
              </a:rPr>
              <a:t>Avant tout calcul : ouvrir chaque fichier, le compter, et décider ce qu'il a le droit de dire</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5486400" cy="4023360"/>
          </a:xfrm>
          <a:prstGeom prst="rect">
            <a:avLst/>
          </a:prstGeom>
          <a:noFill/>
        </p:spPr>
        <p:txBody>
          <a:bodyPr wrap="square">
            <a:spAutoFit/>
          </a:bodyPr>
          <a:lstStyle/>
          <a:p>
            <a:pPr>
              <a:spcAft>
                <a:spcPts val="1000"/>
              </a:spcAft>
            </a:pPr>
            <a:r>
              <a:rPr b="1" sz="1250">
                <a:solidFill>
                  <a:srgbClr val="0F172A"/>
                </a:solidFill>
                <a:latin typeface="Calibri"/>
              </a:rPr>
              <a:t>·  Ouvrir, pas supposer</a:t>
            </a:r>
            <a:r>
              <a:rPr sz="1250">
                <a:solidFill>
                  <a:srgbClr val="475569"/>
                </a:solidFill>
                <a:latin typeface="Calibri"/>
              </a:rPr>
              <a:t>   chaque fichier est lu ligne à ligne : combien d'observations, quelles colonnes, quelles valeurs manquantes</a:t>
            </a:r>
          </a:p>
          <a:p>
            <a:pPr>
              <a:spcAft>
                <a:spcPts val="1000"/>
              </a:spcAft>
            </a:pPr>
            <a:r>
              <a:rPr b="1" sz="1250">
                <a:solidFill>
                  <a:srgbClr val="0F172A"/>
                </a:solidFill>
                <a:latin typeface="Calibri"/>
              </a:rPr>
              <a:t>·  Situer sa maille</a:t>
            </a:r>
            <a:r>
              <a:rPr sz="1250">
                <a:solidFill>
                  <a:srgbClr val="475569"/>
                </a:solidFill>
                <a:latin typeface="Calibri"/>
              </a:rPr>
              <a:t>   national, régional, ponctuel — c'est elle qui décide des croisements possibles</a:t>
            </a:r>
          </a:p>
          <a:p>
            <a:pPr>
              <a:spcAft>
                <a:spcPts val="1000"/>
              </a:spcAft>
            </a:pPr>
            <a:r>
              <a:rPr b="1" sz="1250">
                <a:solidFill>
                  <a:srgbClr val="0F172A"/>
                </a:solidFill>
                <a:latin typeface="Calibri"/>
              </a:rPr>
              <a:t>·  Situer sa période</a:t>
            </a:r>
            <a:r>
              <a:rPr sz="1250">
                <a:solidFill>
                  <a:srgbClr val="475569"/>
                </a:solidFill>
                <a:latin typeface="Calibri"/>
              </a:rPr>
              <a:t>   1971-2022 pour les séries, 2018 pour le supérieur, 2025 pour le technique</a:t>
            </a:r>
          </a:p>
          <a:p>
            <a:pPr>
              <a:spcAft>
                <a:spcPts val="1000"/>
              </a:spcAft>
            </a:pPr>
            <a:r>
              <a:rPr b="1" sz="1250">
                <a:solidFill>
                  <a:srgbClr val="0F172A"/>
                </a:solidFill>
                <a:latin typeface="Calibri"/>
              </a:rPr>
              <a:t>·  Comparer au dictionnaire</a:t>
            </a:r>
            <a:r>
              <a:rPr sz="1250">
                <a:solidFill>
                  <a:srgbClr val="475569"/>
                </a:solidFill>
                <a:latin typeface="Calibri"/>
              </a:rPr>
              <a:t>   le fichier tient-il ce que ses métadonnées annoncent ?</a:t>
            </a:r>
          </a:p>
        </p:txBody>
      </p:sp>
      <p:sp>
        <p:nvSpPr>
          <p:cNvPr id="5" name="TextBox 4"/>
          <p:cNvSpPr txBox="1"/>
          <p:nvPr/>
        </p:nvSpPr>
        <p:spPr>
          <a:xfrm>
            <a:off x="6492240" y="1828800"/>
            <a:ext cx="5029200" cy="1371600"/>
          </a:xfrm>
          <a:prstGeom prst="rect">
            <a:avLst/>
          </a:prstGeom>
          <a:noFill/>
        </p:spPr>
        <p:txBody>
          <a:bodyPr wrap="square">
            <a:spAutoFit/>
          </a:bodyPr>
          <a:lstStyle/>
          <a:p>
            <a:pPr algn="l">
              <a:spcAft>
                <a:spcPts val="200"/>
              </a:spcAft>
            </a:pPr>
            <a:r>
              <a:rPr sz="1100" b="0">
                <a:solidFill>
                  <a:srgbClr val="94A3B8"/>
                </a:solidFill>
                <a:latin typeface="Calibri"/>
              </a:rPr>
              <a:t>Champs publiés, sur ceux décrits</a:t>
            </a:r>
          </a:p>
          <a:p>
            <a:pPr algn="l">
              <a:spcAft>
                <a:spcPts val="200"/>
              </a:spcAft>
            </a:pPr>
            <a:r>
              <a:rPr sz="3200" b="1">
                <a:solidFill>
                  <a:srgbClr val="D03B3B"/>
                </a:solidFill>
                <a:latin typeface="Calibri"/>
              </a:rPr>
              <a:t>16 / 216</a:t>
            </a:r>
          </a:p>
          <a:p>
            <a:pPr algn="l">
              <a:spcAft>
                <a:spcPts val="0"/>
              </a:spcAft>
            </a:pPr>
            <a:r>
              <a:rPr sz="1000" b="0">
                <a:solidFill>
                  <a:srgbClr val="475569"/>
                </a:solidFill>
                <a:latin typeface="Calibri"/>
              </a:rPr>
              <a:t>201 champs collectés ne sont pas diffusés</a:t>
            </a:r>
          </a:p>
        </p:txBody>
      </p:sp>
      <p:sp>
        <p:nvSpPr>
          <p:cNvPr id="6" name="TextBox 5"/>
          <p:cNvSpPr txBox="1"/>
          <p:nvPr/>
        </p:nvSpPr>
        <p:spPr>
          <a:xfrm>
            <a:off x="6492240" y="3383280"/>
            <a:ext cx="5029200" cy="2194560"/>
          </a:xfrm>
          <a:prstGeom prst="rect">
            <a:avLst/>
          </a:prstGeom>
          <a:noFill/>
        </p:spPr>
        <p:txBody>
          <a:bodyPr wrap="square">
            <a:spAutoFit/>
          </a:bodyPr>
          <a:lstStyle/>
          <a:p>
            <a:pPr algn="l">
              <a:spcAft>
                <a:spcPts val="200"/>
              </a:spcAft>
            </a:pPr>
            <a:r>
              <a:rPr sz="1200" b="1">
                <a:solidFill>
                  <a:srgbClr val="6366F1"/>
                </a:solidFill>
                <a:latin typeface="Calibri"/>
              </a:rPr>
              <a:t>Ce que cette étape a trouvé</a:t>
            </a:r>
          </a:p>
          <a:p>
            <a:pPr algn="l">
              <a:spcAft>
                <a:spcPts val="500"/>
              </a:spcAft>
            </a:pPr>
            <a:r>
              <a:rPr sz="1000" b="0">
                <a:solidFill>
                  <a:srgbClr val="94A3B8"/>
                </a:solidFill>
                <a:latin typeface="Calibri"/>
              </a:rPr>
              <a:t>Un fichier peut-il se contredire ?</a:t>
            </a:r>
          </a:p>
          <a:p>
            <a:pPr algn="l">
              <a:spcAft>
                <a:spcPts val="400"/>
              </a:spcAft>
            </a:pPr>
            <a:r>
              <a:rPr sz="1300" b="1">
                <a:solidFill>
                  <a:srgbClr val="0F172A"/>
                </a:solidFill>
                <a:latin typeface="Calibri"/>
              </a:rPr>
              <a:t>Oui — et il fallait trancher</a:t>
            </a:r>
          </a:p>
          <a:p>
            <a:pPr algn="l">
              <a:spcAft>
                <a:spcPts val="0"/>
              </a:spcAft>
            </a:pPr>
            <a:r>
              <a:rPr sz="950" b="0">
                <a:solidFill>
                  <a:srgbClr val="475569"/>
                </a:solidFill>
                <a:latin typeface="Calibri"/>
              </a:rPr>
              <a:t>Le fichier du supérieur inscrit 14 établissements privés sur sa ligne de total, quand le détail par ville en compte 65. J'ai retenu le détail : c'est un CHOIX, il est écrit dans les annexes, et tous les chiffres du supérieur en dépendent.</a:t>
            </a:r>
          </a:p>
        </p:txBody>
      </p:sp>
      <p:sp>
        <p:nvSpPr>
          <p:cNvPr id="7" name="TextBox 6"/>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7 · Méthode, temps 2 — croiser les données</a:t>
            </a:r>
          </a:p>
          <a:p>
            <a:pPr algn="l">
              <a:spcAft>
                <a:spcPts val="0"/>
              </a:spcAft>
            </a:pPr>
            <a:r>
              <a:rPr sz="1300" b="0">
                <a:solidFill>
                  <a:srgbClr val="94A3B8"/>
                </a:solidFill>
                <a:latin typeface="Calibri"/>
              </a:rPr>
              <a:t>Six croisements, chacun déclarant sa clé, ses ingrédients et son nombre d'observations</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5852160" cy="4023360"/>
          </a:xfrm>
          <a:prstGeom prst="rect">
            <a:avLst/>
          </a:prstGeom>
          <a:noFill/>
        </p:spPr>
        <p:txBody>
          <a:bodyPr wrap="square">
            <a:spAutoFit/>
          </a:bodyPr>
          <a:lstStyle/>
          <a:p>
            <a:pPr>
              <a:spcAft>
                <a:spcPts val="1000"/>
              </a:spcAft>
            </a:pPr>
            <a:r>
              <a:rPr b="1" sz="1250">
                <a:solidFill>
                  <a:srgbClr val="0F172A"/>
                </a:solidFill>
                <a:latin typeface="Calibri"/>
              </a:rPr>
              <a:t>·  Accès × moyens</a:t>
            </a:r>
            <a:r>
              <a:rPr sz="1250">
                <a:solidFill>
                  <a:srgbClr val="475569"/>
                </a:solidFill>
                <a:latin typeface="Calibri"/>
              </a:rPr>
              <a:t>   inscriptions au supérieur contre dépense par étudiant</a:t>
            </a:r>
          </a:p>
          <a:p>
            <a:pPr>
              <a:spcAft>
                <a:spcPts val="1000"/>
              </a:spcAft>
            </a:pPr>
            <a:r>
              <a:rPr b="1" sz="1250">
                <a:solidFill>
                  <a:srgbClr val="0F172A"/>
                </a:solidFill>
                <a:latin typeface="Calibri"/>
              </a:rPr>
              <a:t>·  Budget × accès</a:t>
            </a:r>
            <a:r>
              <a:rPr sz="1250">
                <a:solidFill>
                  <a:srgbClr val="475569"/>
                </a:solidFill>
                <a:latin typeface="Calibri"/>
              </a:rPr>
              <a:t>   l'enveloppe votée suit-elle le nombre d'étudiants ?</a:t>
            </a:r>
          </a:p>
          <a:p>
            <a:pPr>
              <a:spcAft>
                <a:spcPts val="1000"/>
              </a:spcAft>
            </a:pPr>
            <a:r>
              <a:rPr b="1" sz="1250">
                <a:solidFill>
                  <a:srgbClr val="0F172A"/>
                </a:solidFill>
                <a:latin typeface="Calibri"/>
              </a:rPr>
              <a:t>·  Cohérence du financement</a:t>
            </a:r>
            <a:r>
              <a:rPr sz="1250">
                <a:solidFill>
                  <a:srgbClr val="475569"/>
                </a:solidFill>
                <a:latin typeface="Calibri"/>
              </a:rPr>
              <a:t>   budget exécuté contre dépense par étudiant</a:t>
            </a:r>
          </a:p>
          <a:p>
            <a:pPr>
              <a:spcAft>
                <a:spcPts val="1000"/>
              </a:spcAft>
            </a:pPr>
            <a:r>
              <a:rPr b="1" sz="1250">
                <a:solidFill>
                  <a:srgbClr val="0F172A"/>
                </a:solidFill>
                <a:latin typeface="Calibri"/>
              </a:rPr>
              <a:t>·  Réseaux par région</a:t>
            </a:r>
            <a:r>
              <a:rPr sz="1250">
                <a:solidFill>
                  <a:srgbClr val="475569"/>
                </a:solidFill>
                <a:latin typeface="Calibri"/>
              </a:rPr>
              <a:t>   technique et supérieur sur le même territoire</a:t>
            </a:r>
          </a:p>
          <a:p>
            <a:pPr>
              <a:spcAft>
                <a:spcPts val="1000"/>
              </a:spcAft>
            </a:pPr>
            <a:r>
              <a:rPr b="1" sz="1250">
                <a:solidFill>
                  <a:srgbClr val="0F172A"/>
                </a:solidFill>
                <a:latin typeface="Calibri"/>
              </a:rPr>
              <a:t>·  Accès × insertion</a:t>
            </a:r>
            <a:r>
              <a:rPr sz="1250">
                <a:solidFill>
                  <a:srgbClr val="475569"/>
                </a:solidFill>
                <a:latin typeface="Calibri"/>
              </a:rPr>
              <a:t>   inscriptions contre chômage des diplômés</a:t>
            </a:r>
          </a:p>
          <a:p>
            <a:pPr>
              <a:spcAft>
                <a:spcPts val="1000"/>
              </a:spcAft>
            </a:pPr>
            <a:r>
              <a:rPr b="1" sz="1250">
                <a:solidFill>
                  <a:srgbClr val="0F172A"/>
                </a:solidFill>
                <a:latin typeface="Calibri"/>
              </a:rPr>
              <a:t>·  Accès × effectifs</a:t>
            </a:r>
            <a:r>
              <a:rPr sz="1250">
                <a:solidFill>
                  <a:srgbClr val="475569"/>
                </a:solidFill>
                <a:latin typeface="Calibri"/>
              </a:rPr>
              <a:t>   féminisation et filières scientifiques</a:t>
            </a:r>
          </a:p>
        </p:txBody>
      </p:sp>
      <p:sp>
        <p:nvSpPr>
          <p:cNvPr id="5" name="TextBox 4"/>
          <p:cNvSpPr txBox="1"/>
          <p:nvPr/>
        </p:nvSpPr>
        <p:spPr>
          <a:xfrm>
            <a:off x="6858000" y="1828800"/>
            <a:ext cx="4663440" cy="2468880"/>
          </a:xfrm>
          <a:prstGeom prst="rect">
            <a:avLst/>
          </a:prstGeom>
          <a:noFill/>
        </p:spPr>
        <p:txBody>
          <a:bodyPr wrap="square">
            <a:spAutoFit/>
          </a:bodyPr>
          <a:lstStyle/>
          <a:p>
            <a:pPr algn="l">
              <a:spcAft>
                <a:spcPts val="200"/>
              </a:spcAft>
            </a:pPr>
            <a:r>
              <a:rPr sz="1200" b="1">
                <a:solidFill>
                  <a:srgbClr val="6366F1"/>
                </a:solidFill>
                <a:latin typeface="Calibri"/>
              </a:rPr>
              <a:t>La règle du croisement</a:t>
            </a:r>
          </a:p>
          <a:p>
            <a:pPr algn="l">
              <a:spcAft>
                <a:spcPts val="500"/>
              </a:spcAft>
            </a:pPr>
            <a:r>
              <a:rPr sz="1000" b="0">
                <a:solidFill>
                  <a:srgbClr val="94A3B8"/>
                </a:solidFill>
                <a:latin typeface="Calibri"/>
              </a:rPr>
              <a:t>Qu'est-ce qui rend une jointure honnête ?</a:t>
            </a:r>
          </a:p>
          <a:p>
            <a:pPr algn="l">
              <a:spcAft>
                <a:spcPts val="400"/>
              </a:spcAft>
            </a:pPr>
            <a:r>
              <a:rPr sz="1300" b="1">
                <a:solidFill>
                  <a:srgbClr val="0F172A"/>
                </a:solidFill>
                <a:latin typeface="Calibri"/>
              </a:rPr>
              <a:t>Dire sur combien elle porte</a:t>
            </a:r>
          </a:p>
          <a:p>
            <a:pPr algn="l">
              <a:spcAft>
                <a:spcPts val="0"/>
              </a:spcAft>
            </a:pPr>
            <a:r>
              <a:rPr sz="950" b="0">
                <a:solidFill>
                  <a:srgbClr val="475569"/>
                </a:solidFill>
                <a:latin typeface="Calibri"/>
              </a:rPr>
              <a:t>Chaque croisement affiche ses deux fichiers, sa clé — presque toujours l'année — et le nombre d'observations qui survivent à la jointure. Deux séries qui se recouvrent sur cinq ans n'autorisent pas les conclusions de vingt, et le lecteur doit voir ce nombre avant de lire le résultat.</a:t>
            </a:r>
          </a:p>
        </p:txBody>
      </p:sp>
      <p:sp>
        <p:nvSpPr>
          <p:cNvPr id="6" name="TextBox 5"/>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8 · Méthode, temps 3 — les outils, et ce qu'ils font</a:t>
            </a:r>
          </a:p>
          <a:p>
            <a:pPr algn="l">
              <a:spcAft>
                <a:spcPts val="0"/>
              </a:spcAft>
            </a:pPr>
            <a:r>
              <a:rPr sz="1300" b="0">
                <a:solidFill>
                  <a:srgbClr val="94A3B8"/>
                </a:solidFill>
                <a:latin typeface="Calibri"/>
              </a:rPr>
              <a:t>Trois outils pour mesurer une relation entre deux séries</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3566160" cy="3566160"/>
          </a:xfrm>
          <a:prstGeom prst="rect">
            <a:avLst/>
          </a:prstGeom>
          <a:noFill/>
        </p:spPr>
        <p:txBody>
          <a:bodyPr wrap="square">
            <a:spAutoFit/>
          </a:bodyPr>
          <a:lstStyle/>
          <a:p>
            <a:pPr algn="l">
              <a:spcAft>
                <a:spcPts val="200"/>
              </a:spcAft>
            </a:pPr>
            <a:r>
              <a:rPr sz="1200" b="1">
                <a:solidFill>
                  <a:srgbClr val="6366F1"/>
                </a:solidFill>
                <a:latin typeface="Calibri"/>
              </a:rPr>
              <a:t>La régression linéaire</a:t>
            </a:r>
          </a:p>
          <a:p>
            <a:pPr algn="l">
              <a:spcAft>
                <a:spcPts val="500"/>
              </a:spcAft>
            </a:pPr>
            <a:r>
              <a:rPr sz="1000" b="0">
                <a:solidFill>
                  <a:srgbClr val="94A3B8"/>
                </a:solidFill>
                <a:latin typeface="Calibri"/>
              </a:rPr>
              <a:t>Que fait-elle, concrètement ?</a:t>
            </a:r>
          </a:p>
          <a:p>
            <a:pPr algn="l">
              <a:spcAft>
                <a:spcPts val="400"/>
              </a:spcAft>
            </a:pPr>
            <a:r>
              <a:rPr sz="1300" b="1">
                <a:solidFill>
                  <a:srgbClr val="0F172A"/>
                </a:solidFill>
                <a:latin typeface="Calibri"/>
              </a:rPr>
              <a:t>Elle trace la droite la plus proche des points</a:t>
            </a:r>
          </a:p>
          <a:p>
            <a:pPr algn="l">
              <a:spcAft>
                <a:spcPts val="0"/>
              </a:spcAft>
            </a:pPr>
            <a:r>
              <a:rPr sz="950" b="0">
                <a:solidFill>
                  <a:srgbClr val="475569"/>
                </a:solidFill>
                <a:latin typeface="Calibri"/>
              </a:rPr>
              <a:t>Sa pente dit : « quand x augmente d'une unité, y bouge de tant ». Je ne publie jamais la pente seule, mais avec trois garde-fous — le R², part de la variation expliquée ; la p-value, probabilité que le hasard suffise ; l'intervalle de confiance, la fourchette où se trouve la vraie pente.</a:t>
            </a:r>
          </a:p>
        </p:txBody>
      </p:sp>
      <p:sp>
        <p:nvSpPr>
          <p:cNvPr id="5" name="TextBox 4"/>
          <p:cNvSpPr txBox="1"/>
          <p:nvPr/>
        </p:nvSpPr>
        <p:spPr>
          <a:xfrm>
            <a:off x="4434840" y="1737360"/>
            <a:ext cx="3566160" cy="3566160"/>
          </a:xfrm>
          <a:prstGeom prst="rect">
            <a:avLst/>
          </a:prstGeom>
          <a:noFill/>
        </p:spPr>
        <p:txBody>
          <a:bodyPr wrap="square">
            <a:spAutoFit/>
          </a:bodyPr>
          <a:lstStyle/>
          <a:p>
            <a:pPr algn="l">
              <a:spcAft>
                <a:spcPts val="200"/>
              </a:spcAft>
            </a:pPr>
            <a:r>
              <a:rPr sz="1200" b="1">
                <a:solidFill>
                  <a:srgbClr val="6366F1"/>
                </a:solidFill>
                <a:latin typeface="Calibri"/>
              </a:rPr>
              <a:t>La tendance temporelle</a:t>
            </a:r>
          </a:p>
          <a:p>
            <a:pPr algn="l">
              <a:spcAft>
                <a:spcPts val="500"/>
              </a:spcAft>
            </a:pPr>
            <a:r>
              <a:rPr sz="1000" b="0">
                <a:solidFill>
                  <a:srgbClr val="94A3B8"/>
                </a:solidFill>
                <a:latin typeface="Calibri"/>
              </a:rPr>
              <a:t>Et quand x est le temps ?</a:t>
            </a:r>
          </a:p>
          <a:p>
            <a:pPr algn="l">
              <a:spcAft>
                <a:spcPts val="400"/>
              </a:spcAft>
            </a:pPr>
            <a:r>
              <a:rPr sz="1300" b="1">
                <a:solidFill>
                  <a:srgbClr val="0F172A"/>
                </a:solidFill>
                <a:latin typeface="Calibri"/>
              </a:rPr>
              <a:t>Elle donne un rythme : tant par an</a:t>
            </a:r>
          </a:p>
          <a:p>
            <a:pPr algn="l">
              <a:spcAft>
                <a:spcPts val="0"/>
              </a:spcAft>
            </a:pPr>
            <a:r>
              <a:rPr sz="950" b="0">
                <a:solidFill>
                  <a:srgbClr val="475569"/>
                </a:solidFill>
                <a:latin typeface="Calibri"/>
              </a:rPr>
              <a:t>C'est la même régression, avec les années en abscisse. Elle répond à « de combien cela bouge-t-il chaque année », ce qui se dit et se retient mieux qu'un coefficient abstrait.</a:t>
            </a:r>
          </a:p>
        </p:txBody>
      </p:sp>
      <p:sp>
        <p:nvSpPr>
          <p:cNvPr id="6" name="TextBox 5"/>
          <p:cNvSpPr txBox="1"/>
          <p:nvPr/>
        </p:nvSpPr>
        <p:spPr>
          <a:xfrm>
            <a:off x="8229600" y="1737360"/>
            <a:ext cx="3566160" cy="3566160"/>
          </a:xfrm>
          <a:prstGeom prst="rect">
            <a:avLst/>
          </a:prstGeom>
          <a:noFill/>
        </p:spPr>
        <p:txBody>
          <a:bodyPr wrap="square">
            <a:spAutoFit/>
          </a:bodyPr>
          <a:lstStyle/>
          <a:p>
            <a:pPr algn="l">
              <a:spcAft>
                <a:spcPts val="200"/>
              </a:spcAft>
            </a:pPr>
            <a:r>
              <a:rPr sz="1200" b="1">
                <a:solidFill>
                  <a:srgbClr val="6366F1"/>
                </a:solidFill>
                <a:latin typeface="Calibri"/>
              </a:rPr>
              <a:t>L'élasticité</a:t>
            </a:r>
          </a:p>
          <a:p>
            <a:pPr algn="l">
              <a:spcAft>
                <a:spcPts val="500"/>
              </a:spcAft>
            </a:pPr>
            <a:r>
              <a:rPr sz="1000" b="0">
                <a:solidFill>
                  <a:srgbClr val="94A3B8"/>
                </a:solidFill>
                <a:latin typeface="Calibri"/>
              </a:rPr>
              <a:t>Comment comparer des grandeurs sans unité commune ?</a:t>
            </a:r>
          </a:p>
          <a:p>
            <a:pPr algn="l">
              <a:spcAft>
                <a:spcPts val="400"/>
              </a:spcAft>
            </a:pPr>
            <a:r>
              <a:rPr sz="1300" b="1">
                <a:solidFill>
                  <a:srgbClr val="0F172A"/>
                </a:solidFill>
                <a:latin typeface="Calibri"/>
              </a:rPr>
              <a:t>En passant les deux au logarithme</a:t>
            </a:r>
          </a:p>
          <a:p>
            <a:pPr algn="l">
              <a:spcAft>
                <a:spcPts val="0"/>
              </a:spcAft>
            </a:pPr>
            <a:r>
              <a:rPr sz="950" b="0">
                <a:solidFill>
                  <a:srgbClr val="475569"/>
                </a:solidFill>
                <a:latin typeface="Calibri"/>
              </a:rPr>
              <a:t>La pente devient alors un pourcentage : ici, quand l'accès augmente de 1 %, la dépense par étudiant recule de 0,86 %. Un nombre d'étudiants et un pourcentage de PIB deviennent comparables.</a:t>
            </a:r>
          </a:p>
        </p:txBody>
      </p:sp>
      <p:sp>
        <p:nvSpPr>
          <p:cNvPr id="7" name="TextBox 6"/>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9 · Méthode, temps 3 — les outils (suite)</a:t>
            </a:r>
          </a:p>
          <a:p>
            <a:pPr algn="l">
              <a:spcAft>
                <a:spcPts val="0"/>
              </a:spcAft>
            </a:pPr>
            <a:r>
              <a:rPr sz="1300" b="0">
                <a:solidFill>
                  <a:srgbClr val="94A3B8"/>
                </a:solidFill>
                <a:latin typeface="Calibri"/>
              </a:rPr>
              <a:t>Un outil pour la forme d'une relation, deux pour une répartition</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5394960" cy="2011680"/>
          </a:xfrm>
          <a:prstGeom prst="rect">
            <a:avLst/>
          </a:prstGeom>
          <a:noFill/>
        </p:spPr>
        <p:txBody>
          <a:bodyPr wrap="square">
            <a:spAutoFit/>
          </a:bodyPr>
          <a:lstStyle/>
          <a:p>
            <a:pPr algn="l">
              <a:spcAft>
                <a:spcPts val="200"/>
              </a:spcAft>
            </a:pPr>
            <a:r>
              <a:rPr sz="1200" b="1">
                <a:solidFill>
                  <a:srgbClr val="6366F1"/>
                </a:solidFill>
                <a:latin typeface="Calibri"/>
              </a:rPr>
              <a:t>La corrélation, mesurée deux fois</a:t>
            </a:r>
          </a:p>
          <a:p>
            <a:pPr algn="l">
              <a:spcAft>
                <a:spcPts val="500"/>
              </a:spcAft>
            </a:pPr>
            <a:r>
              <a:rPr sz="1000" b="0">
                <a:solidFill>
                  <a:srgbClr val="94A3B8"/>
                </a:solidFill>
                <a:latin typeface="Calibri"/>
              </a:rPr>
              <a:t>Pourquoi Pearson ET Spearman ?</a:t>
            </a:r>
          </a:p>
          <a:p>
            <a:pPr algn="l">
              <a:spcAft>
                <a:spcPts val="400"/>
              </a:spcAft>
            </a:pPr>
            <a:r>
              <a:rPr sz="1300" b="1">
                <a:solidFill>
                  <a:srgbClr val="0F172A"/>
                </a:solidFill>
                <a:latin typeface="Calibri"/>
              </a:rPr>
              <a:t>Ils ne demandent pas la même chose</a:t>
            </a:r>
          </a:p>
          <a:p>
            <a:pPr algn="l">
              <a:spcAft>
                <a:spcPts val="0"/>
              </a:spcAft>
            </a:pPr>
            <a:r>
              <a:rPr sz="950" b="0">
                <a:solidFill>
                  <a:srgbClr val="475569"/>
                </a:solidFill>
                <a:latin typeface="Calibri"/>
              </a:rPr>
              <a:t>Pearson demande si les points s'alignent sur une droite. Spearman demande seulement s'ils montent et descendent ensemble. Quand les deux s'écartent, la relation existe mais n'est pas linéaire — et cet écart est une information, pas un défaut.</a:t>
            </a:r>
          </a:p>
        </p:txBody>
      </p:sp>
      <p:sp>
        <p:nvSpPr>
          <p:cNvPr id="5" name="TextBox 4"/>
          <p:cNvSpPr txBox="1"/>
          <p:nvPr/>
        </p:nvSpPr>
        <p:spPr>
          <a:xfrm>
            <a:off x="6263640" y="1737360"/>
            <a:ext cx="5394960" cy="2011680"/>
          </a:xfrm>
          <a:prstGeom prst="rect">
            <a:avLst/>
          </a:prstGeom>
          <a:noFill/>
        </p:spPr>
        <p:txBody>
          <a:bodyPr wrap="square">
            <a:spAutoFit/>
          </a:bodyPr>
          <a:lstStyle/>
          <a:p>
            <a:pPr algn="l">
              <a:spcAft>
                <a:spcPts val="200"/>
              </a:spcAft>
            </a:pPr>
            <a:r>
              <a:rPr sz="1200" b="1">
                <a:solidFill>
                  <a:srgbClr val="6366F1"/>
                </a:solidFill>
                <a:latin typeface="Calibri"/>
              </a:rPr>
              <a:t>Le test de rupture</a:t>
            </a:r>
          </a:p>
          <a:p>
            <a:pPr algn="l">
              <a:spcAft>
                <a:spcPts val="500"/>
              </a:spcAft>
            </a:pPr>
            <a:r>
              <a:rPr sz="1000" b="0">
                <a:solidFill>
                  <a:srgbClr val="94A3B8"/>
                </a:solidFill>
                <a:latin typeface="Calibri"/>
              </a:rPr>
              <a:t>Une tendance peut-elle changer en cours de route ?</a:t>
            </a:r>
          </a:p>
          <a:p>
            <a:pPr algn="l">
              <a:spcAft>
                <a:spcPts val="400"/>
              </a:spcAft>
            </a:pPr>
            <a:r>
              <a:rPr sz="1300" b="1">
                <a:solidFill>
                  <a:srgbClr val="0F172A"/>
                </a:solidFill>
                <a:latin typeface="Calibri"/>
              </a:rPr>
              <a:t>On coupe la série et on compare</a:t>
            </a:r>
          </a:p>
          <a:p>
            <a:pPr algn="l">
              <a:spcAft>
                <a:spcPts val="0"/>
              </a:spcAft>
            </a:pPr>
            <a:r>
              <a:rPr sz="950" b="0">
                <a:solidFill>
                  <a:srgbClr val="475569"/>
                </a:solidFill>
                <a:latin typeface="Calibri"/>
              </a:rPr>
              <a:t>On calcule la pente avant une année charnière, puis après. Sur l'accès au supérieur, la rupture est en 2000 : 0,09 point par an avant, 0,63 après. La progression a changé de régime, elle n'a pas seulement continué.</a:t>
            </a:r>
          </a:p>
        </p:txBody>
      </p:sp>
      <p:sp>
        <p:nvSpPr>
          <p:cNvPr id="6" name="TextBox 5"/>
          <p:cNvSpPr txBox="1"/>
          <p:nvPr/>
        </p:nvSpPr>
        <p:spPr>
          <a:xfrm>
            <a:off x="640080" y="3931920"/>
            <a:ext cx="5394960" cy="2011680"/>
          </a:xfrm>
          <a:prstGeom prst="rect">
            <a:avLst/>
          </a:prstGeom>
          <a:noFill/>
        </p:spPr>
        <p:txBody>
          <a:bodyPr wrap="square">
            <a:spAutoFit/>
          </a:bodyPr>
          <a:lstStyle/>
          <a:p>
            <a:pPr algn="l">
              <a:spcAft>
                <a:spcPts val="200"/>
              </a:spcAft>
            </a:pPr>
            <a:r>
              <a:rPr sz="1200" b="1">
                <a:solidFill>
                  <a:srgbClr val="6366F1"/>
                </a:solidFill>
                <a:latin typeface="Calibri"/>
              </a:rPr>
              <a:t>Les deux indices de concentration</a:t>
            </a:r>
          </a:p>
          <a:p>
            <a:pPr algn="l">
              <a:spcAft>
                <a:spcPts val="500"/>
              </a:spcAft>
            </a:pPr>
            <a:r>
              <a:rPr sz="1000" b="0">
                <a:solidFill>
                  <a:srgbClr val="94A3B8"/>
                </a:solidFill>
                <a:latin typeface="Calibri"/>
              </a:rPr>
              <a:t>Comment chiffrer un déséquilibre territorial ?</a:t>
            </a:r>
          </a:p>
          <a:p>
            <a:pPr algn="l">
              <a:spcAft>
                <a:spcPts val="400"/>
              </a:spcAft>
            </a:pPr>
            <a:r>
              <a:rPr sz="1300" b="1">
                <a:solidFill>
                  <a:srgbClr val="0F172A"/>
                </a:solidFill>
                <a:latin typeface="Calibri"/>
              </a:rPr>
              <a:t>Herfindahl et Gini, ensemble</a:t>
            </a:r>
          </a:p>
          <a:p>
            <a:pPr algn="l">
              <a:spcAft>
                <a:spcPts val="0"/>
              </a:spcAft>
            </a:pPr>
            <a:r>
              <a:rPr sz="950" b="0">
                <a:solidFill>
                  <a:srgbClr val="475569"/>
                </a:solidFill>
                <a:latin typeface="Calibri"/>
              </a:rPr>
              <a:t>Herfindahl additionne les carrés des parts : il s'envole dès qu'un acteur domine. Gini décrit toute la distribution : zéro si tout le monde a la même chose, un si tout est chez un seul. Ici 0,41 et 0,48.</a:t>
            </a:r>
          </a:p>
        </p:txBody>
      </p:sp>
      <p:sp>
        <p:nvSpPr>
          <p:cNvPr id="7" name="TextBox 6"/>
          <p:cNvSpPr txBox="1"/>
          <p:nvPr/>
        </p:nvSpPr>
        <p:spPr>
          <a:xfrm>
            <a:off x="6263640" y="3931920"/>
            <a:ext cx="5394960" cy="2011680"/>
          </a:xfrm>
          <a:prstGeom prst="rect">
            <a:avLst/>
          </a:prstGeom>
          <a:noFill/>
        </p:spPr>
        <p:txBody>
          <a:bodyPr wrap="square">
            <a:spAutoFit/>
          </a:bodyPr>
          <a:lstStyle/>
          <a:p>
            <a:pPr algn="l">
              <a:spcAft>
                <a:spcPts val="200"/>
              </a:spcAft>
            </a:pPr>
            <a:r>
              <a:rPr sz="1200" b="1">
                <a:solidFill>
                  <a:srgbClr val="6366F1"/>
                </a:solidFill>
                <a:latin typeface="Calibri"/>
              </a:rPr>
              <a:t>Exécution contre enveloppe</a:t>
            </a:r>
          </a:p>
          <a:p>
            <a:pPr algn="l">
              <a:spcAft>
                <a:spcPts val="500"/>
              </a:spcAft>
            </a:pPr>
            <a:r>
              <a:rPr sz="1000" b="0">
                <a:solidFill>
                  <a:srgbClr val="94A3B8"/>
                </a:solidFill>
                <a:latin typeface="Calibri"/>
              </a:rPr>
              <a:t>Les grosses enveloppes se dépensent-elles moins bien ?</a:t>
            </a:r>
          </a:p>
          <a:p>
            <a:pPr algn="l">
              <a:spcAft>
                <a:spcPts val="400"/>
              </a:spcAft>
            </a:pPr>
            <a:r>
              <a:rPr sz="1300" b="1">
                <a:solidFill>
                  <a:srgbClr val="0F172A"/>
                </a:solidFill>
                <a:latin typeface="Calibri"/>
              </a:rPr>
              <a:t>Question posée, réponse non concluante</a:t>
            </a:r>
          </a:p>
          <a:p>
            <a:pPr algn="l">
              <a:spcAft>
                <a:spcPts val="0"/>
              </a:spcAft>
            </a:pPr>
            <a:r>
              <a:rPr sz="950" b="0">
                <a:solidFill>
                  <a:srgbClr val="475569"/>
                </a:solidFill>
                <a:latin typeface="Calibri"/>
              </a:rPr>
              <a:t>Une régression du taux d'exécution sur le montant voté. La pente va dans le sens attendu, mais l'intervalle de confiance traverse zéro : sur six années, on ne peut pas conclure — et c'est publié ainsi.</a:t>
            </a:r>
          </a:p>
        </p:txBody>
      </p:sp>
      <p:sp>
        <p:nvSpPr>
          <p:cNvPr id="8" name="TextBox 7"/>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10 · Ce que la méthode produit</a:t>
            </a:r>
          </a:p>
          <a:p>
            <a:pPr algn="l">
              <a:spcAft>
                <a:spcPts val="0"/>
              </a:spcAft>
            </a:pPr>
            <a:r>
              <a:rPr sz="1300" b="0">
                <a:solidFill>
                  <a:srgbClr val="94A3B8"/>
                </a:solidFill>
                <a:latin typeface="Calibri"/>
              </a:rPr>
              <a:t>Trois résultats, chacun rattaché à l'outil qui l'établit</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3566160" cy="1463040"/>
          </a:xfrm>
          <a:prstGeom prst="rect">
            <a:avLst/>
          </a:prstGeom>
          <a:noFill/>
        </p:spPr>
        <p:txBody>
          <a:bodyPr wrap="square">
            <a:spAutoFit/>
          </a:bodyPr>
          <a:lstStyle/>
          <a:p>
            <a:pPr algn="l">
              <a:spcAft>
                <a:spcPts val="200"/>
              </a:spcAft>
            </a:pPr>
            <a:r>
              <a:rPr sz="1100" b="0">
                <a:solidFill>
                  <a:srgbClr val="94A3B8"/>
                </a:solidFill>
                <a:latin typeface="Calibri"/>
              </a:rPr>
              <a:t>des établissements dans une région</a:t>
            </a:r>
          </a:p>
          <a:p>
            <a:pPr algn="l">
              <a:spcAft>
                <a:spcPts val="200"/>
              </a:spcAft>
            </a:pPr>
            <a:r>
              <a:rPr sz="3200" b="1">
                <a:solidFill>
                  <a:srgbClr val="D03B3B"/>
                </a:solidFill>
                <a:latin typeface="Calibri"/>
              </a:rPr>
              <a:t>60 %</a:t>
            </a:r>
          </a:p>
          <a:p>
            <a:pPr algn="l">
              <a:spcAft>
                <a:spcPts val="0"/>
              </a:spcAft>
            </a:pPr>
            <a:r>
              <a:rPr sz="1000" b="0">
                <a:solidFill>
                  <a:srgbClr val="475569"/>
                </a:solidFill>
                <a:latin typeface="Calibri"/>
              </a:rPr>
              <a:t>Herfindahl 0,41 · Gini 0,48</a:t>
            </a:r>
          </a:p>
        </p:txBody>
      </p:sp>
      <p:sp>
        <p:nvSpPr>
          <p:cNvPr id="5" name="TextBox 4"/>
          <p:cNvSpPr txBox="1"/>
          <p:nvPr/>
        </p:nvSpPr>
        <p:spPr>
          <a:xfrm>
            <a:off x="4389120" y="1737360"/>
            <a:ext cx="3566160" cy="1463040"/>
          </a:xfrm>
          <a:prstGeom prst="rect">
            <a:avLst/>
          </a:prstGeom>
          <a:noFill/>
        </p:spPr>
        <p:txBody>
          <a:bodyPr wrap="square">
            <a:spAutoFit/>
          </a:bodyPr>
          <a:lstStyle/>
          <a:p>
            <a:pPr algn="l">
              <a:spcAft>
                <a:spcPts val="200"/>
              </a:spcAft>
            </a:pPr>
            <a:r>
              <a:rPr sz="1100" b="0">
                <a:solidFill>
                  <a:srgbClr val="94A3B8"/>
                </a:solidFill>
                <a:latin typeface="Calibri"/>
              </a:rPr>
              <a:t>Accès et dépense, depuis 1998</a:t>
            </a:r>
          </a:p>
          <a:p>
            <a:pPr algn="l">
              <a:spcAft>
                <a:spcPts val="200"/>
              </a:spcAft>
            </a:pPr>
            <a:r>
              <a:rPr sz="3200" b="1">
                <a:solidFill>
                  <a:srgbClr val="D03B3B"/>
                </a:solidFill>
                <a:latin typeface="Calibri"/>
              </a:rPr>
              <a:t>×4,7 / ÷3,6</a:t>
            </a:r>
          </a:p>
          <a:p>
            <a:pPr algn="l">
              <a:spcAft>
                <a:spcPts val="0"/>
              </a:spcAft>
            </a:pPr>
            <a:r>
              <a:rPr sz="1000" b="0">
                <a:solidFill>
                  <a:srgbClr val="475569"/>
                </a:solidFill>
                <a:latin typeface="Calibri"/>
              </a:rPr>
              <a:t>l'accès quadruple, la dépense par étudiant s'effondre</a:t>
            </a:r>
          </a:p>
        </p:txBody>
      </p:sp>
      <p:sp>
        <p:nvSpPr>
          <p:cNvPr id="6" name="TextBox 5"/>
          <p:cNvSpPr txBox="1"/>
          <p:nvPr/>
        </p:nvSpPr>
        <p:spPr>
          <a:xfrm>
            <a:off x="8138160" y="1737360"/>
            <a:ext cx="3383280" cy="1463040"/>
          </a:xfrm>
          <a:prstGeom prst="rect">
            <a:avLst/>
          </a:prstGeom>
          <a:noFill/>
        </p:spPr>
        <p:txBody>
          <a:bodyPr wrap="square">
            <a:spAutoFit/>
          </a:bodyPr>
          <a:lstStyle/>
          <a:p>
            <a:pPr algn="l">
              <a:spcAft>
                <a:spcPts val="200"/>
              </a:spcAft>
            </a:pPr>
            <a:r>
              <a:rPr sz="1100" b="0">
                <a:solidFill>
                  <a:srgbClr val="94A3B8"/>
                </a:solidFill>
                <a:latin typeface="Calibri"/>
              </a:rPr>
              <a:t>Exécution du budget supérieur</a:t>
            </a:r>
          </a:p>
          <a:p>
            <a:pPr algn="l">
              <a:spcAft>
                <a:spcPts val="200"/>
              </a:spcAft>
            </a:pPr>
            <a:r>
              <a:rPr sz="3200" b="1">
                <a:solidFill>
                  <a:srgbClr val="6366F1"/>
                </a:solidFill>
                <a:latin typeface="Calibri"/>
              </a:rPr>
              <a:t>93 %</a:t>
            </a:r>
          </a:p>
          <a:p>
            <a:pPr algn="l">
              <a:spcAft>
                <a:spcPts val="0"/>
              </a:spcAft>
            </a:pPr>
            <a:r>
              <a:rPr sz="1000" b="0">
                <a:solidFill>
                  <a:srgbClr val="475569"/>
                </a:solidFill>
                <a:latin typeface="Calibri"/>
              </a:rPr>
              <a:t>contre 76 % au niveau national</a:t>
            </a:r>
          </a:p>
        </p:txBody>
      </p:sp>
      <p:sp>
        <p:nvSpPr>
          <p:cNvPr id="7" name="TextBox 6"/>
          <p:cNvSpPr txBox="1"/>
          <p:nvPr/>
        </p:nvSpPr>
        <p:spPr>
          <a:xfrm>
            <a:off x="640080" y="3474720"/>
            <a:ext cx="5394960" cy="2194560"/>
          </a:xfrm>
          <a:prstGeom prst="rect">
            <a:avLst/>
          </a:prstGeom>
          <a:noFill/>
        </p:spPr>
        <p:txBody>
          <a:bodyPr wrap="square">
            <a:spAutoFit/>
          </a:bodyPr>
          <a:lstStyle/>
          <a:p>
            <a:pPr algn="l">
              <a:spcAft>
                <a:spcPts val="200"/>
              </a:spcAft>
            </a:pPr>
            <a:r>
              <a:rPr sz="1200" b="1">
                <a:solidFill>
                  <a:srgbClr val="6366F1"/>
                </a:solidFill>
                <a:latin typeface="Calibri"/>
              </a:rPr>
              <a:t>Le résultat le plus solide</a:t>
            </a:r>
          </a:p>
          <a:p>
            <a:pPr algn="l">
              <a:spcAft>
                <a:spcPts val="500"/>
              </a:spcAft>
            </a:pPr>
            <a:r>
              <a:rPr sz="1000" b="0">
                <a:solidFill>
                  <a:srgbClr val="94A3B8"/>
                </a:solidFill>
                <a:latin typeface="Calibri"/>
              </a:rPr>
              <a:t>L'effet ciseaux tient-il statistiquement ?</a:t>
            </a:r>
          </a:p>
          <a:p>
            <a:pPr algn="l">
              <a:spcAft>
                <a:spcPts val="400"/>
              </a:spcAft>
            </a:pPr>
            <a:r>
              <a:rPr sz="1300" b="1">
                <a:solidFill>
                  <a:srgbClr val="0F172A"/>
                </a:solidFill>
                <a:latin typeface="Calibri"/>
              </a:rPr>
              <a:t>Élasticité -0,86</a:t>
            </a:r>
          </a:p>
          <a:p>
            <a:pPr algn="l">
              <a:spcAft>
                <a:spcPts val="0"/>
              </a:spcAft>
            </a:pPr>
            <a:r>
              <a:rPr sz="950" b="0">
                <a:solidFill>
                  <a:srgbClr val="475569"/>
                </a:solidFill>
                <a:latin typeface="Calibri"/>
              </a:rPr>
              <a:t>R² de 0,83, p-value sous 0,001, intervalle de confiance entièrement négatif. Quand l'accès augmente de 1 %, la dépense par étudiant recule de 0,86 %.</a:t>
            </a:r>
          </a:p>
        </p:txBody>
      </p:sp>
      <p:sp>
        <p:nvSpPr>
          <p:cNvPr id="8" name="TextBox 7"/>
          <p:cNvSpPr txBox="1"/>
          <p:nvPr/>
        </p:nvSpPr>
        <p:spPr>
          <a:xfrm>
            <a:off x="6309360" y="3474720"/>
            <a:ext cx="5212080" cy="2194560"/>
          </a:xfrm>
          <a:prstGeom prst="rect">
            <a:avLst/>
          </a:prstGeom>
          <a:noFill/>
        </p:spPr>
        <p:txBody>
          <a:bodyPr wrap="square">
            <a:spAutoFit/>
          </a:bodyPr>
          <a:lstStyle/>
          <a:p>
            <a:pPr algn="l">
              <a:spcAft>
                <a:spcPts val="200"/>
              </a:spcAft>
            </a:pPr>
            <a:r>
              <a:rPr sz="1200" b="1">
                <a:solidFill>
                  <a:srgbClr val="6366F1"/>
                </a:solidFill>
                <a:latin typeface="Calibri"/>
              </a:rPr>
              <a:t>Le résultat qui NE conclut pas</a:t>
            </a:r>
          </a:p>
          <a:p>
            <a:pPr algn="l">
              <a:spcAft>
                <a:spcPts val="500"/>
              </a:spcAft>
            </a:pPr>
            <a:r>
              <a:rPr sz="1000" b="0">
                <a:solidFill>
                  <a:srgbClr val="94A3B8"/>
                </a:solidFill>
                <a:latin typeface="Calibri"/>
              </a:rPr>
              <a:t>Le taux d'exécution baisse-t-il quand l'enveloppe monte ?</a:t>
            </a:r>
          </a:p>
          <a:p>
            <a:pPr algn="l">
              <a:spcAft>
                <a:spcPts val="400"/>
              </a:spcAft>
            </a:pPr>
            <a:r>
              <a:rPr sz="1300" b="1">
                <a:solidFill>
                  <a:srgbClr val="0F172A"/>
                </a:solidFill>
                <a:latin typeface="Calibri"/>
              </a:rPr>
              <a:t>p = 0,12</a:t>
            </a:r>
          </a:p>
          <a:p>
            <a:pPr algn="l">
              <a:spcAft>
                <a:spcPts val="0"/>
              </a:spcAft>
            </a:pPr>
            <a:r>
              <a:rPr sz="950" b="0">
                <a:solidFill>
                  <a:srgbClr val="475569"/>
                </a:solidFill>
                <a:latin typeface="Calibri"/>
              </a:rPr>
              <a:t>La pente est négative et le R² correct, mais l'intervalle de confiance traverse zéro : sur six années, on ne peut pas conclure. C'est publié tel quel.</a:t>
            </a:r>
          </a:p>
        </p:txBody>
      </p:sp>
      <p:sp>
        <p:nvSpPr>
          <p:cNvPr id="9" name="TextBox 8"/>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11 · Ce que la méthode refuse d'établir</a:t>
            </a:r>
          </a:p>
          <a:p>
            <a:pPr algn="l">
              <a:spcAft>
                <a:spcPts val="0"/>
              </a:spcAft>
            </a:pPr>
            <a:r>
              <a:rPr sz="1300" b="0">
                <a:solidFill>
                  <a:srgbClr val="94A3B8"/>
                </a:solidFill>
                <a:latin typeface="Calibri"/>
              </a:rPr>
              <a:t>Trois manques, trois causes différentes — et trois remèdes différents</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3566160" cy="2743200"/>
          </a:xfrm>
          <a:prstGeom prst="rect">
            <a:avLst/>
          </a:prstGeom>
          <a:noFill/>
        </p:spPr>
        <p:txBody>
          <a:bodyPr wrap="square">
            <a:spAutoFit/>
          </a:bodyPr>
          <a:lstStyle/>
          <a:p>
            <a:pPr algn="l">
              <a:spcAft>
                <a:spcPts val="200"/>
              </a:spcAft>
            </a:pPr>
            <a:r>
              <a:rPr sz="1200" b="1">
                <a:solidFill>
                  <a:srgbClr val="6366F1"/>
                </a:solidFill>
                <a:latin typeface="Calibri"/>
              </a:rPr>
              <a:t>Collecté, non publié</a:t>
            </a:r>
          </a:p>
          <a:p>
            <a:pPr algn="l">
              <a:spcAft>
                <a:spcPts val="500"/>
              </a:spcAft>
            </a:pPr>
            <a:r>
              <a:rPr sz="1000" b="0">
                <a:solidFill>
                  <a:srgbClr val="94A3B8"/>
                </a:solidFill>
                <a:latin typeface="Calibri"/>
              </a:rPr>
              <a:t>Combien d'élèves par établissement ?</a:t>
            </a:r>
          </a:p>
          <a:p>
            <a:pPr algn="l">
              <a:spcAft>
                <a:spcPts val="400"/>
              </a:spcAft>
            </a:pPr>
            <a:r>
              <a:rPr sz="1300" b="1">
                <a:solidFill>
                  <a:srgbClr val="0F172A"/>
                </a:solidFill>
                <a:latin typeface="Calibri"/>
              </a:rPr>
              <a:t>201 champs manquants</a:t>
            </a:r>
          </a:p>
          <a:p>
            <a:pPr algn="l">
              <a:spcAft>
                <a:spcPts val="0"/>
              </a:spcAft>
            </a:pPr>
            <a:r>
              <a:rPr sz="950" b="0">
                <a:solidFill>
                  <a:srgbClr val="475569"/>
                </a:solidFill>
                <a:latin typeface="Calibri"/>
              </a:rPr>
              <a:t>Le remède est une EXPORTATION : la donnée existe, elle est déjà collectée. Aucune enquête à financer.</a:t>
            </a:r>
          </a:p>
        </p:txBody>
      </p:sp>
      <p:sp>
        <p:nvSpPr>
          <p:cNvPr id="5" name="TextBox 4"/>
          <p:cNvSpPr txBox="1"/>
          <p:nvPr/>
        </p:nvSpPr>
        <p:spPr>
          <a:xfrm>
            <a:off x="4434840" y="1737360"/>
            <a:ext cx="3566160" cy="2743200"/>
          </a:xfrm>
          <a:prstGeom prst="rect">
            <a:avLst/>
          </a:prstGeom>
          <a:noFill/>
        </p:spPr>
        <p:txBody>
          <a:bodyPr wrap="square">
            <a:spAutoFit/>
          </a:bodyPr>
          <a:lstStyle/>
          <a:p>
            <a:pPr algn="l">
              <a:spcAft>
                <a:spcPts val="200"/>
              </a:spcAft>
            </a:pPr>
            <a:r>
              <a:rPr sz="1200" b="1">
                <a:solidFill>
                  <a:srgbClr val="6366F1"/>
                </a:solidFill>
                <a:latin typeface="Calibri"/>
              </a:rPr>
              <a:t>Inexistant à la maille utile</a:t>
            </a:r>
          </a:p>
          <a:p>
            <a:pPr algn="l">
              <a:spcAft>
                <a:spcPts val="500"/>
              </a:spcAft>
            </a:pPr>
            <a:r>
              <a:rPr sz="1000" b="0">
                <a:solidFill>
                  <a:srgbClr val="94A3B8"/>
                </a:solidFill>
                <a:latin typeface="Calibri"/>
              </a:rPr>
              <a:t>Quel taux d'insertion par filière ?</a:t>
            </a:r>
          </a:p>
          <a:p>
            <a:pPr algn="l">
              <a:spcAft>
                <a:spcPts val="400"/>
              </a:spcAft>
            </a:pPr>
            <a:r>
              <a:rPr sz="1300" b="1">
                <a:solidFill>
                  <a:srgbClr val="0F172A"/>
                </a:solidFill>
                <a:latin typeface="Calibri"/>
              </a:rPr>
              <a:t>Le chômage n'existe qu'au national</a:t>
            </a:r>
          </a:p>
          <a:p>
            <a:pPr algn="l">
              <a:spcAft>
                <a:spcPts val="0"/>
              </a:spcAft>
            </a:pPr>
            <a:r>
              <a:rPr sz="950" b="0">
                <a:solidFill>
                  <a:srgbClr val="475569"/>
                </a:solidFill>
                <a:latin typeface="Calibri"/>
              </a:rPr>
              <a:t>Le remède est une ENQUÊTE d'insertion. Trois croisements attendus par l'énoncé restent hors de portée.</a:t>
            </a:r>
          </a:p>
        </p:txBody>
      </p:sp>
      <p:sp>
        <p:nvSpPr>
          <p:cNvPr id="6" name="TextBox 5"/>
          <p:cNvSpPr txBox="1"/>
          <p:nvPr/>
        </p:nvSpPr>
        <p:spPr>
          <a:xfrm>
            <a:off x="8229600" y="1737360"/>
            <a:ext cx="3566160" cy="2743200"/>
          </a:xfrm>
          <a:prstGeom prst="rect">
            <a:avLst/>
          </a:prstGeom>
          <a:noFill/>
        </p:spPr>
        <p:txBody>
          <a:bodyPr wrap="square">
            <a:spAutoFit/>
          </a:bodyPr>
          <a:lstStyle/>
          <a:p>
            <a:pPr algn="l">
              <a:spcAft>
                <a:spcPts val="200"/>
              </a:spcAft>
            </a:pPr>
            <a:r>
              <a:rPr sz="1200" b="1">
                <a:solidFill>
                  <a:srgbClr val="6366F1"/>
                </a:solidFill>
                <a:latin typeface="Calibri"/>
              </a:rPr>
              <a:t>Nomenclature absente</a:t>
            </a:r>
          </a:p>
          <a:p>
            <a:pPr algn="l">
              <a:spcAft>
                <a:spcPts val="500"/>
              </a:spcAft>
            </a:pPr>
            <a:r>
              <a:rPr sz="1000" b="0">
                <a:solidFill>
                  <a:srgbClr val="94A3B8"/>
                </a:solidFill>
                <a:latin typeface="Calibri"/>
              </a:rPr>
              <a:t>Quelle part de filières scientifiques ?</a:t>
            </a:r>
          </a:p>
          <a:p>
            <a:pPr algn="l">
              <a:spcAft>
                <a:spcPts val="400"/>
              </a:spcAft>
            </a:pPr>
            <a:r>
              <a:rPr sz="1300" b="1">
                <a:solidFill>
                  <a:srgbClr val="0F172A"/>
                </a:solidFill>
                <a:latin typeface="Calibri"/>
              </a:rPr>
              <a:t>Aucun référentiel de métiers</a:t>
            </a:r>
          </a:p>
          <a:p>
            <a:pPr algn="l">
              <a:spcAft>
                <a:spcPts val="0"/>
              </a:spcAft>
            </a:pPr>
            <a:r>
              <a:rPr sz="950" b="0">
                <a:solidFill>
                  <a:srgbClr val="475569"/>
                </a:solidFill>
                <a:latin typeface="Calibri"/>
              </a:rPr>
              <a:t>Le remède est un RÉFÉRENTIEL national. Sans lui, le dénominateur n'existe pas.</a:t>
            </a:r>
          </a:p>
        </p:txBody>
      </p:sp>
      <p:sp>
        <p:nvSpPr>
          <p:cNvPr id="7" name="TextBox 6"/>
          <p:cNvSpPr txBox="1"/>
          <p:nvPr/>
        </p:nvSpPr>
        <p:spPr>
          <a:xfrm>
            <a:off x="640080" y="4754880"/>
            <a:ext cx="10881360" cy="1005840"/>
          </a:xfrm>
          <a:prstGeom prst="rect">
            <a:avLst/>
          </a:prstGeom>
          <a:noFill/>
        </p:spPr>
        <p:txBody>
          <a:bodyPr wrap="square">
            <a:spAutoFit/>
          </a:bodyPr>
          <a:lstStyle/>
          <a:p>
            <a:pPr>
              <a:spcAft>
                <a:spcPts val="1000"/>
              </a:spcAft>
            </a:pPr>
            <a:r>
              <a:rPr b="1" sz="1300">
                <a:solidFill>
                  <a:srgbClr val="0F172A"/>
                </a:solidFill>
                <a:latin typeface="Calibri"/>
              </a:rPr>
              <a:t>·  Un indicateur absent</a:t>
            </a:r>
            <a:r>
              <a:rPr sz="1300">
                <a:solidFill>
                  <a:srgbClr val="475569"/>
                </a:solidFill>
                <a:latin typeface="Calibri"/>
              </a:rPr>
              <a:t>   signifie toujours ABSENT DU CORPUS RETENU, jamais inexistant — la nuance change la recommandation</a:t>
            </a:r>
          </a:p>
        </p:txBody>
      </p:sp>
      <p:sp>
        <p:nvSpPr>
          <p:cNvPr id="8" name="TextBox 7"/>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12 · Comment tout cela se vérifie</a:t>
            </a:r>
          </a:p>
          <a:p>
            <a:pPr algn="l">
              <a:spcAft>
                <a:spcPts val="0"/>
              </a:spcAft>
            </a:pPr>
            <a:r>
              <a:rPr sz="1300" b="0">
                <a:solidFill>
                  <a:srgbClr val="94A3B8"/>
                </a:solidFill>
                <a:latin typeface="Calibri"/>
              </a:rPr>
              <a:t>Le travail est fait pour être contredit — encore faut-il pouvoir le refaire</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10881360" cy="4023360"/>
          </a:xfrm>
          <a:prstGeom prst="rect">
            <a:avLst/>
          </a:prstGeom>
          <a:noFill/>
        </p:spPr>
        <p:txBody>
          <a:bodyPr wrap="square">
            <a:spAutoFit/>
          </a:bodyPr>
          <a:lstStyle/>
          <a:p>
            <a:pPr>
              <a:spcAft>
                <a:spcPts val="1000"/>
              </a:spcAft>
            </a:pPr>
            <a:r>
              <a:rPr b="1" sz="1250">
                <a:solidFill>
                  <a:srgbClr val="0F172A"/>
                </a:solidFill>
                <a:latin typeface="Calibri"/>
              </a:rPr>
              <a:t>·  Un chiffre, une source</a:t>
            </a:r>
            <a:r>
              <a:rPr sz="1250">
                <a:solidFill>
                  <a:srgbClr val="475569"/>
                </a:solidFill>
                <a:latin typeface="Calibri"/>
              </a:rPr>
              <a:t>   les commentaires sous les graphes se recalculent sur la sélection : aucun nombre n'est figé dans un texte</a:t>
            </a:r>
          </a:p>
          <a:p>
            <a:pPr>
              <a:spcAft>
                <a:spcPts val="1000"/>
              </a:spcAft>
            </a:pPr>
            <a:r>
              <a:rPr b="1" sz="1250">
                <a:solidFill>
                  <a:srgbClr val="0F172A"/>
                </a:solidFill>
                <a:latin typeface="Calibri"/>
              </a:rPr>
              <a:t>·  Le rapport ne peut pas diverger de l'écran</a:t>
            </a:r>
            <a:r>
              <a:rPr sz="1250">
                <a:solidFill>
                  <a:srgbClr val="475569"/>
                </a:solidFill>
                <a:latin typeface="Calibri"/>
              </a:rPr>
              <a:t>   il est produit par les mêmes fonctions, à partir des mêmes données, en une seule collecte</a:t>
            </a:r>
          </a:p>
          <a:p>
            <a:pPr>
              <a:spcAft>
                <a:spcPts val="1000"/>
              </a:spcAft>
            </a:pPr>
            <a:r>
              <a:rPr b="1" sz="1250">
                <a:solidFill>
                  <a:srgbClr val="0F172A"/>
                </a:solidFill>
                <a:latin typeface="Calibri"/>
              </a:rPr>
              <a:t>·  L'archive contient les données brutes</a:t>
            </a:r>
            <a:r>
              <a:rPr sz="1250">
                <a:solidFill>
                  <a:srgbClr val="475569"/>
                </a:solidFill>
                <a:latin typeface="Calibri"/>
              </a:rPr>
              <a:t>   telles que téléchargées du portail, non modifiées</a:t>
            </a:r>
          </a:p>
          <a:p>
            <a:pPr>
              <a:spcAft>
                <a:spcPts val="1000"/>
              </a:spcAft>
            </a:pPr>
            <a:r>
              <a:rPr b="1" sz="1250">
                <a:solidFill>
                  <a:srgbClr val="0F172A"/>
                </a:solidFill>
                <a:latin typeface="Calibri"/>
              </a:rPr>
              <a:t>·  Un diagnostic livré</a:t>
            </a:r>
            <a:r>
              <a:rPr sz="1250">
                <a:solidFill>
                  <a:srgbClr val="475569"/>
                </a:solidFill>
                <a:latin typeface="Calibri"/>
              </a:rPr>
              <a:t>   une commande contrôle la version de Python, les bibliothèques et les fichiers avant tout lancement</a:t>
            </a:r>
          </a:p>
          <a:p>
            <a:pPr>
              <a:spcAft>
                <a:spcPts val="1000"/>
              </a:spcAft>
            </a:pPr>
            <a:r>
              <a:rPr b="1" sz="1250">
                <a:solidFill>
                  <a:srgbClr val="0F172A"/>
                </a:solidFill>
                <a:latin typeface="Calibri"/>
              </a:rPr>
              <a:t>·  Le tableau de bord est en ligne</a:t>
            </a:r>
            <a:r>
              <a:rPr sz="1250">
                <a:solidFill>
                  <a:srgbClr val="475569"/>
                </a:solidFill>
                <a:latin typeface="Calibri"/>
              </a:rPr>
              <a:t>   tg-datalab-education-challenge2.bernardpip.com — rien à installer pour le juger</a:t>
            </a:r>
          </a:p>
        </p:txBody>
      </p:sp>
      <p:sp>
        <p:nvSpPr>
          <p:cNvPr id="5" name="TextBox 4"/>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13 · Des constats aux recommandations</a:t>
            </a:r>
          </a:p>
          <a:p>
            <a:pPr algn="l">
              <a:spcAft>
                <a:spcPts val="0"/>
              </a:spcAft>
            </a:pPr>
            <a:r>
              <a:rPr sz="1300" b="0">
                <a:solidFill>
                  <a:srgbClr val="94A3B8"/>
                </a:solidFill>
                <a:latin typeface="Calibri"/>
              </a:rPr>
              <a:t>26 leviers, 5 axes — chacun part d'un chiffre, aucun d'une opinion</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5212080" cy="1463040"/>
          </a:xfrm>
          <a:prstGeom prst="rect">
            <a:avLst/>
          </a:prstGeom>
          <a:noFill/>
        </p:spPr>
        <p:txBody>
          <a:bodyPr wrap="square">
            <a:spAutoFit/>
          </a:bodyPr>
          <a:lstStyle/>
          <a:p>
            <a:pPr algn="l">
              <a:spcAft>
                <a:spcPts val="200"/>
              </a:spcAft>
            </a:pPr>
            <a:r>
              <a:rPr sz="1100" b="0">
                <a:solidFill>
                  <a:srgbClr val="94A3B8"/>
                </a:solidFill>
                <a:latin typeface="Calibri"/>
              </a:rPr>
              <a:t>Leviers d'action</a:t>
            </a:r>
          </a:p>
          <a:p>
            <a:pPr algn="l">
              <a:spcAft>
                <a:spcPts val="200"/>
              </a:spcAft>
            </a:pPr>
            <a:r>
              <a:rPr sz="3200" b="1">
                <a:solidFill>
                  <a:srgbClr val="6366F1"/>
                </a:solidFill>
                <a:latin typeface="Calibri"/>
              </a:rPr>
              <a:t>26</a:t>
            </a:r>
          </a:p>
          <a:p>
            <a:pPr algn="l">
              <a:spcAft>
                <a:spcPts val="0"/>
              </a:spcAft>
            </a:pPr>
            <a:r>
              <a:rPr sz="1000" b="0">
                <a:solidFill>
                  <a:srgbClr val="475569"/>
                </a:solidFill>
                <a:latin typeface="Calibri"/>
              </a:rPr>
              <a:t>chacun renvoie à la vue qui l'établit</a:t>
            </a:r>
          </a:p>
        </p:txBody>
      </p:sp>
      <p:sp>
        <p:nvSpPr>
          <p:cNvPr id="5" name="TextBox 4"/>
          <p:cNvSpPr txBox="1"/>
          <p:nvPr/>
        </p:nvSpPr>
        <p:spPr>
          <a:xfrm>
            <a:off x="6309360" y="1737360"/>
            <a:ext cx="5212080" cy="1463040"/>
          </a:xfrm>
          <a:prstGeom prst="rect">
            <a:avLst/>
          </a:prstGeom>
          <a:noFill/>
        </p:spPr>
        <p:txBody>
          <a:bodyPr wrap="square">
            <a:spAutoFit/>
          </a:bodyPr>
          <a:lstStyle/>
          <a:p>
            <a:pPr algn="l">
              <a:spcAft>
                <a:spcPts val="200"/>
              </a:spcAft>
            </a:pPr>
            <a:r>
              <a:rPr sz="1100" b="0">
                <a:solidFill>
                  <a:srgbClr val="94A3B8"/>
                </a:solidFill>
                <a:latin typeface="Calibri"/>
              </a:rPr>
              <a:t>Première décision recommandée</a:t>
            </a:r>
          </a:p>
          <a:p>
            <a:pPr algn="l">
              <a:spcAft>
                <a:spcPts val="200"/>
              </a:spcAft>
            </a:pPr>
            <a:r>
              <a:rPr sz="3200" b="1">
                <a:solidFill>
                  <a:srgbClr val="6366F1"/>
                </a:solidFill>
                <a:latin typeface="Calibri"/>
              </a:rPr>
              <a:t>1</a:t>
            </a:r>
          </a:p>
          <a:p>
            <a:pPr algn="l">
              <a:spcAft>
                <a:spcPts val="0"/>
              </a:spcAft>
            </a:pPr>
            <a:r>
              <a:rPr sz="1000" b="0">
                <a:solidFill>
                  <a:srgbClr val="475569"/>
                </a:solidFill>
                <a:latin typeface="Calibri"/>
              </a:rPr>
              <a:t>elle est informationnelle, pas budgétaire</a:t>
            </a:r>
          </a:p>
        </p:txBody>
      </p:sp>
      <p:sp>
        <p:nvSpPr>
          <p:cNvPr id="6" name="TextBox 5"/>
          <p:cNvSpPr txBox="1"/>
          <p:nvPr/>
        </p:nvSpPr>
        <p:spPr>
          <a:xfrm>
            <a:off x="640080" y="3474720"/>
            <a:ext cx="10881360" cy="2194560"/>
          </a:xfrm>
          <a:prstGeom prst="rect">
            <a:avLst/>
          </a:prstGeom>
          <a:noFill/>
        </p:spPr>
        <p:txBody>
          <a:bodyPr wrap="square">
            <a:spAutoFit/>
          </a:bodyPr>
          <a:lstStyle/>
          <a:p>
            <a:pPr algn="l">
              <a:spcAft>
                <a:spcPts val="200"/>
              </a:spcAft>
            </a:pPr>
            <a:r>
              <a:rPr sz="1200" b="1">
                <a:solidFill>
                  <a:srgbClr val="6366F1"/>
                </a:solidFill>
                <a:latin typeface="Calibri"/>
              </a:rPr>
              <a:t>La règle de rédaction</a:t>
            </a:r>
          </a:p>
          <a:p>
            <a:pPr algn="l">
              <a:spcAft>
                <a:spcPts val="500"/>
              </a:spcAft>
            </a:pPr>
            <a:r>
              <a:rPr sz="1000" b="0">
                <a:solidFill>
                  <a:srgbClr val="94A3B8"/>
                </a:solidFill>
                <a:latin typeface="Calibri"/>
              </a:rPr>
              <a:t>Qu'est-ce qui distingue un levier d'un vœu ?</a:t>
            </a:r>
          </a:p>
          <a:p>
            <a:pPr algn="l">
              <a:spcAft>
                <a:spcPts val="400"/>
              </a:spcAft>
            </a:pPr>
            <a:r>
              <a:rPr sz="1300" b="1">
                <a:solidFill>
                  <a:srgbClr val="0F172A"/>
                </a:solidFill>
                <a:latin typeface="Calibri"/>
              </a:rPr>
              <a:t>Un constat chiffré, et une vue qui le porte</a:t>
            </a:r>
          </a:p>
          <a:p>
            <a:pPr algn="l">
              <a:spcAft>
                <a:spcPts val="0"/>
              </a:spcAft>
            </a:pPr>
            <a:r>
              <a:rPr sz="950" b="0">
                <a:solidFill>
                  <a:srgbClr val="475569"/>
                </a:solidFill>
                <a:latin typeface="Calibri"/>
              </a:rPr>
              <a:t>Chaque levier commence par le chiffre qui le motive et renvoie à l'onglet où ce chiffre se vérifie. Aucun n'est une recommandation générique du type « renforcer la coordination ». Et la toute première n'est pas de dépenser : c'est de publier les 201 champs déjà collectés — parce que sans eux, on pilote à l'aveugle.</a:t>
            </a:r>
          </a:p>
        </p:txBody>
      </p:sp>
      <p:sp>
        <p:nvSpPr>
          <p:cNvPr id="7" name="TextBox 6"/>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14 · Ce qui est réutilisable</a:t>
            </a:r>
          </a:p>
          <a:p>
            <a:pPr algn="l">
              <a:spcAft>
                <a:spcPts val="0"/>
              </a:spcAft>
            </a:pPr>
            <a:r>
              <a:rPr sz="1300" b="0">
                <a:solidFill>
                  <a:srgbClr val="94A3B8"/>
                </a:solidFill>
                <a:latin typeface="Calibri"/>
              </a:rPr>
              <a:t>La méthode a été rejouée sur un second défi, en quelques jours</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10881360" cy="4023360"/>
          </a:xfrm>
          <a:prstGeom prst="rect">
            <a:avLst/>
          </a:prstGeom>
          <a:noFill/>
        </p:spPr>
        <p:txBody>
          <a:bodyPr wrap="square">
            <a:spAutoFit/>
          </a:bodyPr>
          <a:lstStyle/>
          <a:p>
            <a:pPr>
              <a:spcAft>
                <a:spcPts val="1000"/>
              </a:spcAft>
            </a:pPr>
            <a:r>
              <a:rPr b="1" sz="1250">
                <a:solidFill>
                  <a:srgbClr val="0F172A"/>
                </a:solidFill>
                <a:latin typeface="Calibri"/>
              </a:rPr>
              <a:t>·  Un socle partagé</a:t>
            </a:r>
            <a:r>
              <a:rPr sz="1250">
                <a:solidFill>
                  <a:srgbClr val="475569"/>
                </a:solidFill>
                <a:latin typeface="Calibri"/>
              </a:rPr>
              <a:t>   coquille, charte, graphes, cartes, i18n, économétrie — le défi n'écrit que ses analyses</a:t>
            </a:r>
          </a:p>
          <a:p>
            <a:pPr>
              <a:spcAft>
                <a:spcPts val="1000"/>
              </a:spcAft>
            </a:pPr>
            <a:r>
              <a:rPr b="1" sz="1250">
                <a:solidFill>
                  <a:srgbClr val="0F172A"/>
                </a:solidFill>
                <a:latin typeface="Calibri"/>
              </a:rPr>
              <a:t>·  Les mêmes règles de rigueur</a:t>
            </a:r>
            <a:r>
              <a:rPr sz="1250">
                <a:solidFill>
                  <a:srgbClr val="475569"/>
                </a:solidFill>
                <a:latin typeface="Calibri"/>
              </a:rPr>
              <a:t>   aucune donnée fabriquée, aucun croisement non autorisé, le non-significatif affiché</a:t>
            </a:r>
          </a:p>
          <a:p>
            <a:pPr>
              <a:spcAft>
                <a:spcPts val="1000"/>
              </a:spcAft>
            </a:pPr>
            <a:r>
              <a:rPr b="1" sz="1250">
                <a:solidFill>
                  <a:srgbClr val="0F172A"/>
                </a:solidFill>
                <a:latin typeface="Calibri"/>
              </a:rPr>
              <a:t>·  La même chaîne de livraison</a:t>
            </a:r>
            <a:r>
              <a:rPr sz="1250">
                <a:solidFill>
                  <a:srgbClr val="475569"/>
                </a:solidFill>
                <a:latin typeface="Calibri"/>
              </a:rPr>
              <a:t>   tableau de bord bilingue, rapport, archive reconstructible, diagnostic</a:t>
            </a:r>
          </a:p>
          <a:p>
            <a:pPr>
              <a:spcAft>
                <a:spcPts val="1000"/>
              </a:spcAft>
            </a:pPr>
            <a:r>
              <a:rPr b="1" sz="1250">
                <a:solidFill>
                  <a:srgbClr val="0F172A"/>
                </a:solidFill>
                <a:latin typeface="Calibri"/>
              </a:rPr>
              <a:t>·  Preuve par l'usage</a:t>
            </a:r>
            <a:r>
              <a:rPr sz="1250">
                <a:solidFill>
                  <a:srgbClr val="475569"/>
                </a:solidFill>
                <a:latin typeface="Calibri"/>
              </a:rPr>
              <a:t>   le défi Environnement — eau et hydraulique — a été construit sur ce socle, avec ses propres analyses</a:t>
            </a:r>
          </a:p>
        </p:txBody>
      </p:sp>
      <p:sp>
        <p:nvSpPr>
          <p:cNvPr id="5" name="TextBox 4"/>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15 · Conclusion</a:t>
            </a:r>
          </a:p>
          <a:p>
            <a:pPr algn="l">
              <a:spcAft>
                <a:spcPts val="0"/>
              </a:spcAft>
            </a:pPr>
            <a:r>
              <a:rPr sz="1300" b="0">
                <a:solidFill>
                  <a:srgbClr val="94A3B8"/>
                </a:solidFill>
                <a:latin typeface="Calibri"/>
              </a:rPr>
              <a:t>Ce que ce travail établit, et ce qu'il laisse ouvert</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640080" y="1737360"/>
            <a:ext cx="5394960" cy="2286000"/>
          </a:xfrm>
          <a:prstGeom prst="rect">
            <a:avLst/>
          </a:prstGeom>
          <a:noFill/>
        </p:spPr>
        <p:txBody>
          <a:bodyPr wrap="square">
            <a:spAutoFit/>
          </a:bodyPr>
          <a:lstStyle/>
          <a:p>
            <a:pPr algn="l">
              <a:spcAft>
                <a:spcPts val="200"/>
              </a:spcAft>
            </a:pPr>
            <a:r>
              <a:rPr sz="1200" b="1">
                <a:solidFill>
                  <a:srgbClr val="6366F1"/>
                </a:solidFill>
                <a:latin typeface="Calibri"/>
              </a:rPr>
              <a:t>Ce qui est établi</a:t>
            </a:r>
          </a:p>
          <a:p>
            <a:pPr algn="l">
              <a:spcAft>
                <a:spcPts val="500"/>
              </a:spcAft>
            </a:pPr>
            <a:r>
              <a:rPr sz="1000" b="0">
                <a:solidFill>
                  <a:srgbClr val="94A3B8"/>
                </a:solidFill>
                <a:latin typeface="Calibri"/>
              </a:rPr>
              <a:t>L'alignement est-il réalisé ?</a:t>
            </a:r>
          </a:p>
          <a:p>
            <a:pPr algn="l">
              <a:spcAft>
                <a:spcPts val="400"/>
              </a:spcAft>
            </a:pPr>
            <a:r>
              <a:rPr sz="1300" b="1">
                <a:solidFill>
                  <a:srgbClr val="0F172A"/>
                </a:solidFill>
                <a:latin typeface="Calibri"/>
              </a:rPr>
              <a:t>Non, sur les trois écarts mesurés</a:t>
            </a:r>
          </a:p>
          <a:p>
            <a:pPr algn="l">
              <a:spcAft>
                <a:spcPts val="0"/>
              </a:spcAft>
            </a:pPr>
            <a:r>
              <a:rPr sz="950" b="0">
                <a:solidFill>
                  <a:srgbClr val="475569"/>
                </a:solidFill>
                <a:latin typeface="Calibri"/>
              </a:rPr>
              <a:t>L'offre est concentrée sur un territoire, l'accès progresse quand les moyens par étudiant reculent, et l'insertion ne peut pas être suivie faute de donnée locale. Les deux premiers écarts sont mesurés ; le troisième est un manque, et c'en est un résultat.</a:t>
            </a:r>
          </a:p>
        </p:txBody>
      </p:sp>
      <p:sp>
        <p:nvSpPr>
          <p:cNvPr id="5" name="TextBox 4"/>
          <p:cNvSpPr txBox="1"/>
          <p:nvPr/>
        </p:nvSpPr>
        <p:spPr>
          <a:xfrm>
            <a:off x="6309360" y="1737360"/>
            <a:ext cx="5212080" cy="2286000"/>
          </a:xfrm>
          <a:prstGeom prst="rect">
            <a:avLst/>
          </a:prstGeom>
          <a:noFill/>
        </p:spPr>
        <p:txBody>
          <a:bodyPr wrap="square">
            <a:spAutoFit/>
          </a:bodyPr>
          <a:lstStyle/>
          <a:p>
            <a:pPr algn="l">
              <a:spcAft>
                <a:spcPts val="200"/>
              </a:spcAft>
            </a:pPr>
            <a:r>
              <a:rPr sz="1200" b="1">
                <a:solidFill>
                  <a:srgbClr val="6366F1"/>
                </a:solidFill>
                <a:latin typeface="Calibri"/>
              </a:rPr>
              <a:t>Ce qui reste ouvert</a:t>
            </a:r>
          </a:p>
          <a:p>
            <a:pPr algn="l">
              <a:spcAft>
                <a:spcPts val="500"/>
              </a:spcAft>
            </a:pPr>
            <a:r>
              <a:rPr sz="1000" b="0">
                <a:solidFill>
                  <a:srgbClr val="94A3B8"/>
                </a:solidFill>
                <a:latin typeface="Calibri"/>
              </a:rPr>
              <a:t>Que faudrait-il pour aller plus loin ?</a:t>
            </a:r>
          </a:p>
          <a:p>
            <a:pPr algn="l">
              <a:spcAft>
                <a:spcPts val="400"/>
              </a:spcAft>
            </a:pPr>
            <a:r>
              <a:rPr sz="1300" b="1">
                <a:solidFill>
                  <a:srgbClr val="0F172A"/>
                </a:solidFill>
                <a:latin typeface="Calibri"/>
              </a:rPr>
              <a:t>Trois gestes, dans cet ordre</a:t>
            </a:r>
          </a:p>
          <a:p>
            <a:pPr algn="l">
              <a:spcAft>
                <a:spcPts val="0"/>
              </a:spcAft>
            </a:pPr>
            <a:r>
              <a:rPr sz="950" b="0">
                <a:solidFill>
                  <a:srgbClr val="475569"/>
                </a:solidFill>
                <a:latin typeface="Calibri"/>
              </a:rPr>
              <a:t>Publier les 201 champs collectés. Lancer une enquête d'insertion ventilée par filière et par région. Établir un référentiel national des métiers. Aucun des trois n'est un travail de statisticien : ce sont des décisions.</a:t>
            </a:r>
          </a:p>
        </p:txBody>
      </p:sp>
      <p:sp>
        <p:nvSpPr>
          <p:cNvPr id="6" name="TextBox 5"/>
          <p:cNvSpPr txBox="1"/>
          <p:nvPr/>
        </p:nvSpPr>
        <p:spPr>
          <a:xfrm>
            <a:off x="640080" y="4297680"/>
            <a:ext cx="10881360" cy="1463040"/>
          </a:xfrm>
          <a:prstGeom prst="rect">
            <a:avLst/>
          </a:prstGeom>
          <a:noFill/>
        </p:spPr>
        <p:txBody>
          <a:bodyPr wrap="square">
            <a:spAutoFit/>
          </a:bodyPr>
          <a:lstStyle/>
          <a:p>
            <a:pPr>
              <a:spcAft>
                <a:spcPts val="1000"/>
              </a:spcAft>
            </a:pPr>
            <a:r>
              <a:rPr b="1" sz="1300">
                <a:solidFill>
                  <a:srgbClr val="0F172A"/>
                </a:solidFill>
                <a:latin typeface="Calibri"/>
              </a:rPr>
              <a:t>·  La phrase que je retiens</a:t>
            </a:r>
            <a:r>
              <a:rPr sz="1300">
                <a:solidFill>
                  <a:srgbClr val="475569"/>
                </a:solidFill>
                <a:latin typeface="Calibri"/>
              </a:rPr>
              <a:t>   un tableau de bord honnête montre d'abord ce qu'il ne peut pas montrer — c'est à cela qu'on voit qu'il n'a rien inventé</a:t>
            </a:r>
          </a:p>
        </p:txBody>
      </p:sp>
      <p:sp>
        <p:nvSpPr>
          <p:cNvPr id="7" name="TextBox 6"/>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Adéquation formation-emploi au Togo · soutenance · planche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