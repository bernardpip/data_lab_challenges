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Établissements</c:v>
                </c:pt>
              </c:strCache>
            </c:strRef>
          </c:tx>
          <c:spPr>
            <a:solidFill>
              <a:srgbClr val="2A78D6"/>
            </a:solidFill>
          </c:spPr>
          <c:cat>
            <c:strRef>
              <c:f>Sheet1!$A$2:$A$6</c:f>
              <c:strCache>
                <c:ptCount val="5"/>
                <c:pt idx="0">
                  <c:v>Maritime</c:v>
                </c:pt>
                <c:pt idx="1">
                  <c:v>Kara</c:v>
                </c:pt>
                <c:pt idx="2">
                  <c:v>Plateaux</c:v>
                </c:pt>
                <c:pt idx="3">
                  <c:v>Centrale</c:v>
                </c:pt>
                <c:pt idx="4">
                  <c:v>Savanes</c:v>
                </c:pt>
              </c:strCache>
            </c:strRef>
          </c:cat>
          <c:val>
            <c:numRef>
              <c:f>Sheet1!$B$2:$B$6</c:f>
              <c:numCache>
                <c:formatCode>General</c:formatCode>
                <c:ptCount val="5"/>
                <c:pt idx="0">
                  <c:v>154</c:v>
                </c:pt>
                <c:pt idx="1">
                  <c:v>37</c:v>
                </c:pt>
                <c:pt idx="2">
                  <c:v>37</c:v>
                </c:pt>
                <c:pt idx="3">
                  <c:v>20</c:v>
                </c:pt>
                <c:pt idx="4">
                  <c:v>8</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solidFill>
            <a:srgbClr val="47556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Créations</c:v>
                </c:pt>
              </c:strCache>
            </c:strRef>
          </c:tx>
          <c:spPr>
            <a:solidFill>
              <a:srgbClr val="2A78D6"/>
            </a:solidFill>
          </c:spPr>
          <c:cat>
            <c:strRef>
              <c:f>Sheet1!$A$2:$A$10</c:f>
              <c:strCache>
                <c:ptCount val="9"/>
                <c:pt idx="0">
                  <c:v>1920s</c:v>
                </c:pt>
                <c:pt idx="1">
                  <c:v>1950s</c:v>
                </c:pt>
                <c:pt idx="2">
                  <c:v>1960s</c:v>
                </c:pt>
                <c:pt idx="3">
                  <c:v>1970s</c:v>
                </c:pt>
                <c:pt idx="4">
                  <c:v>1980s</c:v>
                </c:pt>
                <c:pt idx="5">
                  <c:v>1990s</c:v>
                </c:pt>
                <c:pt idx="6">
                  <c:v>2000s</c:v>
                </c:pt>
                <c:pt idx="7">
                  <c:v>2010s</c:v>
                </c:pt>
                <c:pt idx="8">
                  <c:v>2020s</c:v>
                </c:pt>
              </c:strCache>
            </c:strRef>
          </c:cat>
          <c:val>
            <c:numRef>
              <c:f>Sheet1!$B$2:$B$10</c:f>
              <c:numCache>
                <c:formatCode>General</c:formatCode>
                <c:ptCount val="9"/>
                <c:pt idx="0">
                  <c:v>1</c:v>
                </c:pt>
                <c:pt idx="1">
                  <c:v>1</c:v>
                </c:pt>
                <c:pt idx="2">
                  <c:v>3</c:v>
                </c:pt>
                <c:pt idx="3">
                  <c:v>13</c:v>
                </c:pt>
                <c:pt idx="4">
                  <c:v>7</c:v>
                </c:pt>
                <c:pt idx="5">
                  <c:v>27</c:v>
                </c:pt>
                <c:pt idx="6">
                  <c:v>60</c:v>
                </c:pt>
                <c:pt idx="7">
                  <c:v>92</c:v>
                </c:pt>
                <c:pt idx="8">
                  <c:v>21</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47556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Inscriptions dans le supérieur</c:v>
                </c:pt>
              </c:strCache>
            </c:strRef>
          </c:tx>
          <c:spPr>
            <a:ln w="28575">
              <a:solidFill>
                <a:srgbClr val="2A78D6"/>
              </a:solidFill>
            </a:ln>
          </c:spPr>
          <c:cat>
            <c:numRef>
              <c:f>Sheet1!$A$2:$A$15</c:f>
              <c:numCache>
                <c:formatCode>General</c:formatCode>
                <c:ptCount val="14"/>
                <c:pt idx="0">
                  <c:v>1998</c:v>
                </c:pt>
                <c:pt idx="1">
                  <c:v>2006</c:v>
                </c:pt>
                <c:pt idx="2">
                  <c:v>2007</c:v>
                </c:pt>
                <c:pt idx="3">
                  <c:v>2010</c:v>
                </c:pt>
                <c:pt idx="4">
                  <c:v>2011</c:v>
                </c:pt>
                <c:pt idx="5">
                  <c:v>2012</c:v>
                </c:pt>
                <c:pt idx="6">
                  <c:v>2013</c:v>
                </c:pt>
                <c:pt idx="7">
                  <c:v>2014</c:v>
                </c:pt>
                <c:pt idx="8">
                  <c:v>2015</c:v>
                </c:pt>
                <c:pt idx="9">
                  <c:v>2016</c:v>
                </c:pt>
                <c:pt idx="10">
                  <c:v>2017</c:v>
                </c:pt>
                <c:pt idx="11">
                  <c:v>2018</c:v>
                </c:pt>
                <c:pt idx="12">
                  <c:v>2019</c:v>
                </c:pt>
                <c:pt idx="13">
                  <c:v>2020</c:v>
                </c:pt>
              </c:numCache>
            </c:numRef>
          </c:cat>
          <c:val>
            <c:numRef>
              <c:f>Sheet1!$B$2:$B$15</c:f>
              <c:numCache>
                <c:formatCode>General</c:formatCode>
                <c:ptCount val="14"/>
                <c:pt idx="0">
                  <c:v>100.0</c:v>
                </c:pt>
                <c:pt idx="1">
                  <c:v>159.3</c:v>
                </c:pt>
                <c:pt idx="2">
                  <c:v>178.7</c:v>
                </c:pt>
                <c:pt idx="3">
                  <c:v>285.9</c:v>
                </c:pt>
                <c:pt idx="4">
                  <c:v>310.3</c:v>
                </c:pt>
                <c:pt idx="5">
                  <c:v>343.5</c:v>
                </c:pt>
                <c:pt idx="6">
                  <c:v>347.6</c:v>
                </c:pt>
                <c:pt idx="7">
                  <c:v>337.5</c:v>
                </c:pt>
                <c:pt idx="8">
                  <c:v>345.9</c:v>
                </c:pt>
                <c:pt idx="9">
                  <c:v>386.2</c:v>
                </c:pt>
                <c:pt idx="10">
                  <c:v>392.4</c:v>
                </c:pt>
                <c:pt idx="11">
                  <c:v>410.4</c:v>
                </c:pt>
                <c:pt idx="12">
                  <c:v>417.5</c:v>
                </c:pt>
                <c:pt idx="13">
                  <c:v>472.1</c:v>
                </c:pt>
              </c:numCache>
            </c:numRef>
          </c:val>
          <c:smooth val="0"/>
        </c:ser>
        <c:ser>
          <c:idx val="1"/>
          <c:order val="1"/>
          <c:tx>
            <c:strRef>
              <c:f>Sheet1!$C$1</c:f>
              <c:strCache>
                <c:ptCount val="1"/>
                <c:pt idx="0">
                  <c:v>Dépense publique par étudiant</c:v>
                </c:pt>
              </c:strCache>
            </c:strRef>
          </c:tx>
          <c:spPr>
            <a:ln w="28575">
              <a:solidFill>
                <a:srgbClr val="EB6834"/>
              </a:solidFill>
            </a:ln>
          </c:spPr>
          <c:cat>
            <c:numRef>
              <c:f>Sheet1!$A$2:$A$15</c:f>
              <c:numCache>
                <c:formatCode>General</c:formatCode>
                <c:ptCount val="14"/>
                <c:pt idx="0">
                  <c:v>1998</c:v>
                </c:pt>
                <c:pt idx="1">
                  <c:v>2006</c:v>
                </c:pt>
                <c:pt idx="2">
                  <c:v>2007</c:v>
                </c:pt>
                <c:pt idx="3">
                  <c:v>2010</c:v>
                </c:pt>
                <c:pt idx="4">
                  <c:v>2011</c:v>
                </c:pt>
                <c:pt idx="5">
                  <c:v>2012</c:v>
                </c:pt>
                <c:pt idx="6">
                  <c:v>2013</c:v>
                </c:pt>
                <c:pt idx="7">
                  <c:v>2014</c:v>
                </c:pt>
                <c:pt idx="8">
                  <c:v>2015</c:v>
                </c:pt>
                <c:pt idx="9">
                  <c:v>2016</c:v>
                </c:pt>
                <c:pt idx="10">
                  <c:v>2017</c:v>
                </c:pt>
                <c:pt idx="11">
                  <c:v>2018</c:v>
                </c:pt>
                <c:pt idx="12">
                  <c:v>2019</c:v>
                </c:pt>
                <c:pt idx="13">
                  <c:v>2020</c:v>
                </c:pt>
              </c:numCache>
            </c:numRef>
          </c:cat>
          <c:val>
            <c:numRef>
              <c:f>Sheet1!$C$2:$C$11</c:f>
              <c:numCache>
                <c:formatCode>General</c:formatCode>
                <c:ptCount val="10"/>
                <c:pt idx="0">
                  <c:v>100.0</c:v>
                </c:pt>
                <c:pt idx="1">
                  <c:v>48.8</c:v>
                </c:pt>
                <c:pt idx="2">
                  <c:v>28.0</c:v>
                </c:pt>
                <c:pt idx="3">
                  <c:v>25.5</c:v>
                </c:pt>
                <c:pt idx="4">
                  <c:v>31.8</c:v>
                </c:pt>
                <c:pt idx="5">
                  <c:v>35.3</c:v>
                </c:pt>
                <c:pt idx="6">
                  <c:v>39.7</c:v>
                </c:pt>
                <c:pt idx="7">
                  <c:v>32.5</c:v>
                </c:pt>
                <c:pt idx="8">
                  <c:v>29.1</c:v>
                </c:pt>
                <c:pt idx="9">
                  <c:v>27.5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000">
          <a:solidFill>
            <a:srgbClr val="475569"/>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Enseignement supérieur</c:v>
                </c:pt>
              </c:strCache>
            </c:strRef>
          </c:tx>
          <c:spPr>
            <a:ln w="28575">
              <a:solidFill>
                <a:srgbClr val="2A78D6"/>
              </a:solidFill>
            </a:ln>
          </c:spPr>
          <c:cat>
            <c:numRef>
              <c:f>Sheet1!$A$2:$A$7</c:f>
              <c:numCache>
                <c:formatCode>General</c:formatCode>
                <c:ptCount val="6"/>
                <c:pt idx="0">
                  <c:v>2013</c:v>
                </c:pt>
                <c:pt idx="1">
                  <c:v>2014</c:v>
                </c:pt>
                <c:pt idx="2">
                  <c:v>2015</c:v>
                </c:pt>
                <c:pt idx="3">
                  <c:v>2016</c:v>
                </c:pt>
                <c:pt idx="4">
                  <c:v>2017</c:v>
                </c:pt>
                <c:pt idx="5">
                  <c:v>2018</c:v>
                </c:pt>
              </c:numCache>
            </c:numRef>
          </c:cat>
          <c:val>
            <c:numRef>
              <c:f>Sheet1!$B$2:$B$7</c:f>
              <c:numCache>
                <c:formatCode>General</c:formatCode>
                <c:ptCount val="6"/>
                <c:pt idx="0">
                  <c:v>92.2</c:v>
                </c:pt>
                <c:pt idx="1">
                  <c:v>94.0</c:v>
                </c:pt>
                <c:pt idx="2">
                  <c:v>92.3</c:v>
                </c:pt>
                <c:pt idx="3">
                  <c:v>99.0</c:v>
                </c:pt>
                <c:pt idx="4">
                  <c:v>95.8</c:v>
                </c:pt>
                <c:pt idx="5">
                  <c:v>84.4</c:v>
                </c:pt>
              </c:numCache>
            </c:numRef>
          </c:val>
          <c:smooth val="0"/>
        </c:ser>
        <c:ser>
          <c:idx val="1"/>
          <c:order val="1"/>
          <c:tx>
            <c:strRef>
              <c:f>Sheet1!$C$1</c:f>
              <c:strCache>
                <c:ptCount val="1"/>
                <c:pt idx="0">
                  <c:v>Secteur éducation</c:v>
                </c:pt>
              </c:strCache>
            </c:strRef>
          </c:tx>
          <c:spPr>
            <a:ln w="28575">
              <a:solidFill>
                <a:srgbClr val="EB6834"/>
              </a:solidFill>
            </a:ln>
          </c:spPr>
          <c:cat>
            <c:numRef>
              <c:f>Sheet1!$A$2:$A$7</c:f>
              <c:numCache>
                <c:formatCode>General</c:formatCode>
                <c:ptCount val="6"/>
                <c:pt idx="0">
                  <c:v>2013</c:v>
                </c:pt>
                <c:pt idx="1">
                  <c:v>2014</c:v>
                </c:pt>
                <c:pt idx="2">
                  <c:v>2015</c:v>
                </c:pt>
                <c:pt idx="3">
                  <c:v>2016</c:v>
                </c:pt>
                <c:pt idx="4">
                  <c:v>2017</c:v>
                </c:pt>
                <c:pt idx="5">
                  <c:v>2018</c:v>
                </c:pt>
              </c:numCache>
            </c:numRef>
          </c:cat>
          <c:val>
            <c:numRef>
              <c:f>Sheet1!$C$2:$C$7</c:f>
              <c:numCache>
                <c:formatCode>General</c:formatCode>
                <c:ptCount val="6"/>
                <c:pt idx="0">
                  <c:v>86.7</c:v>
                </c:pt>
                <c:pt idx="1">
                  <c:v>87.8</c:v>
                </c:pt>
                <c:pt idx="2">
                  <c:v>103.7</c:v>
                </c:pt>
                <c:pt idx="3">
                  <c:v>101.0</c:v>
                </c:pt>
                <c:pt idx="4">
                  <c:v>96.6</c:v>
                </c:pt>
                <c:pt idx="5">
                  <c:v>90.2</c:v>
                </c:pt>
              </c:numCache>
            </c:numRef>
          </c:val>
          <c:smooth val="0"/>
        </c:ser>
        <c:ser>
          <c:idx val="2"/>
          <c:order val="2"/>
          <c:tx>
            <c:strRef>
              <c:f>Sheet1!$D$1</c:f>
              <c:strCache>
                <c:ptCount val="1"/>
                <c:pt idx="0">
                  <c:v>Budget national</c:v>
                </c:pt>
              </c:strCache>
            </c:strRef>
          </c:tx>
          <c:spPr>
            <a:ln w="28575">
              <a:solidFill>
                <a:srgbClr val="94A3B8"/>
              </a:solidFill>
            </a:ln>
          </c:spPr>
          <c:cat>
            <c:numRef>
              <c:f>Sheet1!$A$2:$A$7</c:f>
              <c:numCache>
                <c:formatCode>General</c:formatCode>
                <c:ptCount val="6"/>
                <c:pt idx="0">
                  <c:v>2013</c:v>
                </c:pt>
                <c:pt idx="1">
                  <c:v>2014</c:v>
                </c:pt>
                <c:pt idx="2">
                  <c:v>2015</c:v>
                </c:pt>
                <c:pt idx="3">
                  <c:v>2016</c:v>
                </c:pt>
                <c:pt idx="4">
                  <c:v>2017</c:v>
                </c:pt>
                <c:pt idx="5">
                  <c:v>2018</c:v>
                </c:pt>
              </c:numCache>
            </c:numRef>
          </c:cat>
          <c:val>
            <c:numRef>
              <c:f>Sheet1!$D$2:$D$7</c:f>
              <c:numCache>
                <c:formatCode>General</c:formatCode>
                <c:ptCount val="6"/>
                <c:pt idx="0">
                  <c:v>72.8</c:v>
                </c:pt>
                <c:pt idx="1">
                  <c:v>67.7</c:v>
                </c:pt>
                <c:pt idx="2">
                  <c:v>85.4</c:v>
                </c:pt>
                <c:pt idx="3">
                  <c:v>91.1</c:v>
                </c:pt>
                <c:pt idx="4">
                  <c:v>72.3</c:v>
                </c:pt>
                <c:pt idx="5">
                  <c:v>68.9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000">
          <a:solidFill>
            <a:srgbClr val="475569"/>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28800"/>
            <a:ext cx="10515600" cy="2926080"/>
          </a:xfrm>
          <a:prstGeom prst="rect">
            <a:avLst/>
          </a:prstGeom>
          <a:noFill/>
        </p:spPr>
        <p:txBody>
          <a:bodyPr wrap="square">
            <a:spAutoFit/>
          </a:bodyPr>
          <a:lstStyle/>
          <a:p>
            <a:pPr algn="l">
              <a:spcAft>
                <a:spcPts val="1400"/>
              </a:spcAft>
            </a:pPr>
            <a:r>
              <a:rPr sz="1400" b="1">
                <a:solidFill>
                  <a:srgbClr val="006A4E"/>
                </a:solidFill>
                <a:latin typeface="Calibri"/>
              </a:rPr>
              <a:t>🇹🇬  RÉPUBLIQUE TOGOLAISE</a:t>
            </a:r>
          </a:p>
          <a:p>
            <a:pPr algn="l">
              <a:spcAft>
                <a:spcPts val="800"/>
              </a:spcAft>
            </a:pPr>
            <a:r>
              <a:rPr sz="4000" b="1">
                <a:solidFill>
                  <a:srgbClr val="0F172A"/>
                </a:solidFill>
                <a:latin typeface="Calibri"/>
              </a:rPr>
              <a:t>Adéquation formation-emploi au Togo</a:t>
            </a:r>
          </a:p>
          <a:p>
            <a:pPr algn="l">
              <a:spcAft>
                <a:spcPts val="2600"/>
              </a:spcAft>
            </a:pPr>
            <a:r>
              <a:rPr sz="1700" b="0">
                <a:solidFill>
                  <a:srgbClr val="475569"/>
                </a:solidFill>
                <a:latin typeface="Calibri"/>
              </a:rPr>
              <a:t>Mesurer l'alignement entre l'offre de formation, les moyens publics et l'insertion professionnelle</a:t>
            </a:r>
          </a:p>
          <a:p>
            <a:pPr algn="l">
              <a:spcAft>
                <a:spcPts val="600"/>
              </a:spcAft>
            </a:pPr>
            <a:r>
              <a:rPr sz="1300" b="0">
                <a:solidFill>
                  <a:srgbClr val="94A3B8"/>
                </a:solidFill>
                <a:latin typeface="Calibri"/>
              </a:rPr>
              <a:t>9 jeux de données ouvertes  ·  256 établissements techniques géolocalisés  ·  séries 1971-2025</a:t>
            </a:r>
          </a:p>
          <a:p>
            <a:pPr algn="l">
              <a:spcAft>
                <a:spcPts val="0"/>
              </a:spcAft>
            </a:pPr>
            <a:r>
              <a:rPr sz="1200" b="0">
                <a:solidFill>
                  <a:srgbClr val="475569"/>
                </a:solidFill>
                <a:latin typeface="Calibri"/>
              </a:rPr>
              <a:t>Data AI Lab  ·  Réalisé par Kokou PIPI  ·  Source : opendata.gouv.tg</a:t>
            </a:r>
          </a:p>
        </p:txBody>
      </p:sp>
      <p:sp>
        <p:nvSpPr>
          <p:cNvPr id="3" name="TextBox 2"/>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1 · Données, nettoyage et démarche</a:t>
            </a:r>
          </a:p>
          <a:p>
            <a:pPr algn="l">
              <a:spcAft>
                <a:spcPts val="0"/>
              </a:spcAft>
            </a:pPr>
            <a:r>
              <a:rPr sz="1300" b="0">
                <a:solidFill>
                  <a:srgbClr val="94A3B8"/>
                </a:solidFill>
                <a:latin typeface="Calibri"/>
              </a:rPr>
              <a:t>Ce que le corpus contient, ce qu'il a fallu corriger, et ce qu'il interdit d'affirmer</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417320"/>
            <a:ext cx="3657600" cy="4754880"/>
          </a:xfrm>
          <a:prstGeom prst="rect">
            <a:avLst/>
          </a:prstGeom>
          <a:noFill/>
        </p:spPr>
        <p:txBody>
          <a:bodyPr wrap="square">
            <a:spAutoFit/>
          </a:bodyPr>
          <a:lstStyle/>
          <a:p>
            <a:pPr algn="l">
              <a:spcAft>
                <a:spcPts val="500"/>
              </a:spcAft>
            </a:pPr>
            <a:r>
              <a:rPr sz="1400" b="1">
                <a:solidFill>
                  <a:srgbClr val="0F172A"/>
                </a:solidFill>
                <a:latin typeface="Calibri"/>
              </a:rPr>
              <a:t>La question</a:t>
            </a:r>
          </a:p>
          <a:p>
            <a:pPr algn="l">
              <a:spcAft>
                <a:spcPts val="1400"/>
              </a:spcAft>
            </a:pPr>
            <a:r>
              <a:rPr sz="1100" b="0">
                <a:solidFill>
                  <a:srgbClr val="475569"/>
                </a:solidFill>
                <a:latin typeface="Calibri"/>
              </a:rPr>
              <a:t>L'offre de formation, les moyens publics qui la financent et l'insertion des diplômés sont-ils alignés ?</a:t>
            </a:r>
          </a:p>
          <a:p>
            <a:pPr algn="l">
              <a:spcAft>
                <a:spcPts val="500"/>
              </a:spcAft>
            </a:pPr>
            <a:r>
              <a:rPr sz="1400" b="1">
                <a:solidFill>
                  <a:srgbClr val="0F172A"/>
                </a:solidFill>
                <a:latin typeface="Calibri"/>
              </a:rPr>
              <a:t>Le matériau : 9 ressources</a:t>
            </a:r>
          </a:p>
          <a:p>
            <a:pPr algn="l">
              <a:spcAft>
                <a:spcPts val="400"/>
              </a:spcAft>
            </a:pPr>
            <a:r>
              <a:rPr sz="1000" b="0">
                <a:solidFill>
                  <a:srgbClr val="475569"/>
                </a:solidFill>
                <a:latin typeface="Calibri"/>
              </a:rPr>
              <a:t>• Formations techniques — 3 ressources, établissement géolocalisé (2025)</a:t>
            </a:r>
          </a:p>
          <a:p>
            <a:pPr algn="l">
              <a:spcAft>
                <a:spcPts val="400"/>
              </a:spcAft>
            </a:pPr>
            <a:r>
              <a:rPr sz="1000" b="0">
                <a:solidFill>
                  <a:srgbClr val="475569"/>
                </a:solidFill>
                <a:latin typeface="Calibri"/>
              </a:rPr>
              <a:t>• Établissements du supérieur — ville × type × statut (2018)</a:t>
            </a:r>
          </a:p>
          <a:p>
            <a:pPr algn="l">
              <a:spcAft>
                <a:spcPts val="400"/>
              </a:spcAft>
            </a:pPr>
            <a:r>
              <a:rPr sz="1000" b="0">
                <a:solidFill>
                  <a:srgbClr val="475569"/>
                </a:solidFill>
                <a:latin typeface="Calibri"/>
              </a:rPr>
              <a:t>• Budget voté et exécuté — national (2013-2018)</a:t>
            </a:r>
          </a:p>
          <a:p>
            <a:pPr algn="l">
              <a:spcAft>
                <a:spcPts val="400"/>
              </a:spcAft>
            </a:pPr>
            <a:r>
              <a:rPr sz="1000" b="0">
                <a:solidFill>
                  <a:srgbClr val="475569"/>
                </a:solidFill>
                <a:latin typeface="Calibri"/>
              </a:rPr>
              <a:t>• Inscriptions, dépense/étudiant, chômage — national (1971-2022)</a:t>
            </a:r>
          </a:p>
          <a:p>
            <a:pPr algn="l">
              <a:spcAft>
                <a:spcPts val="400"/>
              </a:spcAft>
            </a:pPr>
            <a:r>
              <a:rPr sz="1000" b="0">
                <a:solidFill>
                  <a:srgbClr val="475569"/>
                </a:solidFill>
                <a:latin typeface="Calibri"/>
              </a:rPr>
              <a:t>• Indicateurs clés du supérieur — effectifs, féminisation, filières (2014-2019)</a:t>
            </a:r>
          </a:p>
          <a:p>
            <a:pPr algn="l">
              <a:spcAft>
                <a:spcPts val="600"/>
              </a:spcAft>
            </a:pPr>
            <a:r>
              <a:rPr sz="500" b="0">
                <a:solidFill>
                  <a:srgbClr val="0F172A"/>
                </a:solidFill>
                <a:latin typeface="Calibri"/>
              </a:rPr>
              <a:t/>
            </a:r>
          </a:p>
          <a:p>
            <a:pPr algn="l">
              <a:spcAft>
                <a:spcPts val="500"/>
              </a:spcAft>
            </a:pPr>
            <a:r>
              <a:rPr sz="1400" b="1">
                <a:solidFill>
                  <a:srgbClr val="0F172A"/>
                </a:solidFill>
                <a:latin typeface="Calibri"/>
              </a:rPr>
              <a:t>Asymétrie déterminante</a:t>
            </a:r>
          </a:p>
          <a:p>
            <a:pPr algn="l">
              <a:spcAft>
                <a:spcPts val="0"/>
              </a:spcAft>
            </a:pPr>
            <a:r>
              <a:rPr sz="1000" b="0">
                <a:solidFill>
                  <a:srgbClr val="475569"/>
                </a:solidFill>
                <a:latin typeface="Calibri"/>
              </a:rPr>
              <a:t>Une seule source est fine et régionale : le recensement des établissements techniques. Tout le reste est national. Cette asymétrie borne ce que le travail peut conclure.</a:t>
            </a:r>
          </a:p>
        </p:txBody>
      </p:sp>
      <p:sp>
        <p:nvSpPr>
          <p:cNvPr id="5" name="TextBox 4"/>
          <p:cNvSpPr txBox="1"/>
          <p:nvPr/>
        </p:nvSpPr>
        <p:spPr>
          <a:xfrm>
            <a:off x="4434840" y="1417320"/>
            <a:ext cx="3657600" cy="4754880"/>
          </a:xfrm>
          <a:prstGeom prst="rect">
            <a:avLst/>
          </a:prstGeom>
          <a:noFill/>
        </p:spPr>
        <p:txBody>
          <a:bodyPr wrap="square">
            <a:spAutoFit/>
          </a:bodyPr>
          <a:lstStyle/>
          <a:p>
            <a:pPr algn="l">
              <a:spcAft>
                <a:spcPts val="300"/>
              </a:spcAft>
            </a:pPr>
            <a:r>
              <a:rPr sz="1400" b="1">
                <a:solidFill>
                  <a:srgbClr val="0F172A"/>
                </a:solidFill>
                <a:latin typeface="Calibri"/>
              </a:rPr>
              <a:t>Le nettoyage appliqué</a:t>
            </a:r>
          </a:p>
          <a:p>
            <a:pPr algn="l">
              <a:spcAft>
                <a:spcPts val="800"/>
              </a:spcAft>
            </a:pPr>
            <a:r>
              <a:rPr sz="1000" b="0">
                <a:solidFill>
                  <a:srgbClr val="94A3B8"/>
                </a:solidFill>
                <a:latin typeface="Calibri"/>
              </a:rPr>
              <a:t>La moitié des colonnes du fichier des établissements n'était pas exploitable en l'état.</a:t>
            </a:r>
          </a:p>
          <a:p>
            <a:pPr algn="l">
              <a:spcAft>
                <a:spcPts val="100"/>
              </a:spcAft>
            </a:pPr>
            <a:r>
              <a:rPr sz="1100" b="1">
                <a:solidFill>
                  <a:srgbClr val="0F172A"/>
                </a:solidFill>
                <a:latin typeface="Calibri"/>
              </a:rPr>
              <a:t>Statut d'activité</a:t>
            </a:r>
          </a:p>
          <a:p>
            <a:pPr algn="l">
              <a:spcAft>
                <a:spcPts val="700"/>
              </a:spcAft>
            </a:pPr>
            <a:r>
              <a:rPr sz="950" b="0">
                <a:solidFill>
                  <a:srgbClr val="475569"/>
                </a:solidFill>
                <a:latin typeface="Calibri"/>
              </a:rPr>
              <a:t>Champ à valeurs multiples : 12 combinaisons pour 5 états réels. Chaque établissement ramené à son état le plus avancé.</a:t>
            </a:r>
          </a:p>
          <a:p>
            <a:pPr algn="l">
              <a:spcAft>
                <a:spcPts val="100"/>
              </a:spcAft>
            </a:pPr>
            <a:r>
              <a:rPr sz="1100" b="1">
                <a:solidFill>
                  <a:srgbClr val="0F172A"/>
                </a:solidFill>
                <a:latin typeface="Calibri"/>
              </a:rPr>
              <a:t>Filière</a:t>
            </a:r>
          </a:p>
          <a:p>
            <a:pPr algn="l">
              <a:spcAft>
                <a:spcPts val="700"/>
              </a:spcAft>
            </a:pPr>
            <a:r>
              <a:rPr sz="950" b="0">
                <a:solidFill>
                  <a:srgbClr val="475569"/>
                </a:solidFill>
                <a:latin typeface="Calibri"/>
              </a:rPr>
              <a:t>Doublon de casse et coquille (« profesionnelle ») comptés comme deux filières distinctes. Fusionnés.</a:t>
            </a:r>
          </a:p>
          <a:p>
            <a:pPr algn="l">
              <a:spcAft>
                <a:spcPts val="100"/>
              </a:spcAft>
            </a:pPr>
            <a:r>
              <a:rPr sz="1100" b="1">
                <a:solidFill>
                  <a:srgbClr val="0F172A"/>
                </a:solidFill>
                <a:latin typeface="Calibri"/>
              </a:rPr>
              <a:t>Non-réponses</a:t>
            </a:r>
          </a:p>
          <a:p>
            <a:pPr algn="l">
              <a:spcAft>
                <a:spcPts val="700"/>
              </a:spcAft>
            </a:pPr>
            <a:r>
              <a:rPr sz="950" b="0">
                <a:solidFill>
                  <a:srgbClr val="475569"/>
                </a:solidFill>
                <a:latin typeface="Calibri"/>
              </a:rPr>
              <a:t>« Nsp », « N/a », « Neant » mêlés aux vraies modalités. Regroupés en « Non renseigné » et CONSERVÉS, jamais supprimés.</a:t>
            </a:r>
          </a:p>
          <a:p>
            <a:pPr algn="l">
              <a:spcAft>
                <a:spcPts val="100"/>
              </a:spcAft>
            </a:pPr>
            <a:r>
              <a:rPr sz="1100" b="1">
                <a:solidFill>
                  <a:srgbClr val="0F172A"/>
                </a:solidFill>
                <a:latin typeface="Calibri"/>
              </a:rPr>
              <a:t>Année de création</a:t>
            </a:r>
          </a:p>
          <a:p>
            <a:pPr algn="l">
              <a:spcAft>
                <a:spcPts val="700"/>
              </a:spcAft>
            </a:pPr>
            <a:r>
              <a:rPr sz="950" b="0">
                <a:solidFill>
                  <a:srgbClr val="475569"/>
                </a:solidFill>
                <a:latin typeface="Calibri"/>
              </a:rPr>
              <a:t>Années mêlées à du texte dans la même colonne. Converties, valeurs hors bornes écartées.</a:t>
            </a:r>
          </a:p>
          <a:p>
            <a:pPr algn="l">
              <a:spcAft>
                <a:spcPts val="100"/>
              </a:spcAft>
            </a:pPr>
            <a:r>
              <a:rPr sz="1100" b="1">
                <a:solidFill>
                  <a:srgbClr val="0F172A"/>
                </a:solidFill>
                <a:latin typeface="Calibri"/>
              </a:rPr>
              <a:t>Coordonnées</a:t>
            </a:r>
          </a:p>
          <a:p>
            <a:pPr algn="l">
              <a:spcAft>
                <a:spcPts val="700"/>
              </a:spcAft>
            </a:pPr>
            <a:r>
              <a:rPr sz="950" b="0">
                <a:solidFill>
                  <a:srgbClr val="475569"/>
                </a:solidFill>
                <a:latin typeface="Calibri"/>
              </a:rPr>
              <a:t>Position stockée en texte. Extraite en latitude / longitude pour permettre la carte.</a:t>
            </a:r>
          </a:p>
          <a:p>
            <a:pPr algn="l">
              <a:spcAft>
                <a:spcPts val="100"/>
              </a:spcAft>
            </a:pPr>
            <a:r>
              <a:rPr sz="1100" b="1">
                <a:solidFill>
                  <a:srgbClr val="0F172A"/>
                </a:solidFill>
                <a:latin typeface="Calibri"/>
              </a:rPr>
              <a:t>Totaux du fichier supérieur</a:t>
            </a:r>
          </a:p>
          <a:p>
            <a:pPr algn="l">
              <a:spcAft>
                <a:spcPts val="700"/>
              </a:spcAft>
            </a:pPr>
            <a:r>
              <a:rPr sz="950" b="0">
                <a:solidFill>
                  <a:srgbClr val="475569"/>
                </a:solidFill>
                <a:latin typeface="Calibri"/>
              </a:rPr>
              <a:t>Lignes d'agrégat contradictoires avec le détail (14 annoncés contre 65 comptés). Écartées, totaux recalculés.</a:t>
            </a:r>
          </a:p>
        </p:txBody>
      </p:sp>
      <p:sp>
        <p:nvSpPr>
          <p:cNvPr id="6" name="TextBox 5"/>
          <p:cNvSpPr txBox="1"/>
          <p:nvPr/>
        </p:nvSpPr>
        <p:spPr>
          <a:xfrm>
            <a:off x="8321040" y="1417320"/>
            <a:ext cx="3337560" cy="4754880"/>
          </a:xfrm>
          <a:prstGeom prst="rect">
            <a:avLst/>
          </a:prstGeom>
          <a:noFill/>
        </p:spPr>
        <p:txBody>
          <a:bodyPr wrap="square">
            <a:spAutoFit/>
          </a:bodyPr>
          <a:lstStyle/>
          <a:p>
            <a:pPr algn="l">
              <a:spcAft>
                <a:spcPts val="700"/>
              </a:spcAft>
            </a:pPr>
            <a:r>
              <a:rPr sz="1400" b="1">
                <a:solidFill>
                  <a:srgbClr val="0F172A"/>
                </a:solidFill>
                <a:latin typeface="Calibri"/>
              </a:rPr>
              <a:t>Trois principes de rigueur</a:t>
            </a:r>
          </a:p>
          <a:p>
            <a:pPr algn="l">
              <a:spcAft>
                <a:spcPts val="100"/>
              </a:spcAft>
            </a:pPr>
            <a:r>
              <a:rPr sz="1100" b="1">
                <a:solidFill>
                  <a:srgbClr val="0F172A"/>
                </a:solidFill>
                <a:latin typeface="Calibri"/>
              </a:rPr>
              <a:t>Aucune donnée fabriquée</a:t>
            </a:r>
          </a:p>
          <a:p>
            <a:pPr algn="l">
              <a:spcAft>
                <a:spcPts val="900"/>
              </a:spcAft>
            </a:pPr>
            <a:r>
              <a:rPr sz="950" b="0">
                <a:solidFill>
                  <a:srgbClr val="475569"/>
                </a:solidFill>
                <a:latin typeface="Calibri"/>
              </a:rPr>
              <a:t>Séries lacunaires non interpolées ; non-réponses conservées comme modalité.</a:t>
            </a:r>
          </a:p>
          <a:p>
            <a:pPr algn="l">
              <a:spcAft>
                <a:spcPts val="100"/>
              </a:spcAft>
            </a:pPr>
            <a:r>
              <a:rPr sz="1100" b="1">
                <a:solidFill>
                  <a:srgbClr val="0F172A"/>
                </a:solidFill>
                <a:latin typeface="Calibri"/>
              </a:rPr>
              <a:t>Aucun croisement non autorisé</a:t>
            </a:r>
          </a:p>
          <a:p>
            <a:pPr algn="l">
              <a:spcAft>
                <a:spcPts val="900"/>
              </a:spcAft>
            </a:pPr>
            <a:r>
              <a:rPr sz="950" b="0">
                <a:solidFill>
                  <a:srgbClr val="475569"/>
                </a:solidFill>
                <a:latin typeface="Calibri"/>
              </a:rPr>
              <a:t>Le chômage n'existe qu'au niveau national : il n'entre dans aucun score régional.</a:t>
            </a:r>
          </a:p>
          <a:p>
            <a:pPr algn="l">
              <a:spcAft>
                <a:spcPts val="100"/>
              </a:spcAft>
            </a:pPr>
            <a:r>
              <a:rPr sz="1100" b="1">
                <a:solidFill>
                  <a:srgbClr val="0F172A"/>
                </a:solidFill>
                <a:latin typeface="Calibri"/>
              </a:rPr>
              <a:t>Contexte externe séparé</a:t>
            </a:r>
          </a:p>
          <a:p>
            <a:pPr algn="l">
              <a:spcAft>
                <a:spcPts val="900"/>
              </a:spcAft>
            </a:pPr>
            <a:r>
              <a:rPr sz="950" b="0">
                <a:solidFill>
                  <a:srgbClr val="475569"/>
                </a:solidFill>
                <a:latin typeface="Calibri"/>
              </a:rPr>
              <a:t>Les repères INSEED et Afrobarometer sont signalés et sourcés, jamais mêlés aux graphes du portail.</a:t>
            </a:r>
          </a:p>
          <a:p>
            <a:pPr algn="l">
              <a:spcAft>
                <a:spcPts val="300"/>
              </a:spcAft>
            </a:pPr>
            <a:r>
              <a:rPr sz="1200" b="1">
                <a:solidFill>
                  <a:srgbClr val="6366F1"/>
                </a:solidFill>
                <a:latin typeface="Calibri"/>
              </a:rPr>
              <a:t>Ce que la 9e ressource a débloqué</a:t>
            </a:r>
          </a:p>
          <a:p>
            <a:pPr algn="l">
              <a:spcAft>
                <a:spcPts val="0"/>
              </a:spcAft>
            </a:pPr>
            <a:r>
              <a:rPr sz="950" b="0">
                <a:solidFill>
                  <a:srgbClr val="475569"/>
                </a:solidFill>
                <a:latin typeface="Calibri"/>
              </a:rPr>
              <a:t>Effectifs, féminisation, filières scientifiques et ratio étudiant/enseignant ne figuraient dans aucune des huit premières ressources. Ils sont tous portés par la neuvième : la donnée existait, c'est l'inventaire qui était incomplet.</a:t>
            </a:r>
          </a:p>
        </p:txBody>
      </p:sp>
      <p:sp>
        <p:nvSpPr>
          <p:cNvPr id="7" name="TextBox 6"/>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2 · Constat 1 — une offre extrêmement concentrée</a:t>
            </a:r>
          </a:p>
          <a:p>
            <a:pPr algn="l">
              <a:spcAft>
                <a:spcPts val="0"/>
              </a:spcAft>
            </a:pPr>
            <a:r>
              <a:rPr sz="1300" b="0">
                <a:solidFill>
                  <a:srgbClr val="94A3B8"/>
                </a:solidFill>
                <a:latin typeface="Calibri"/>
              </a:rPr>
              <a:t>Répartition des établissements de formation technique par région</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417320"/>
            <a:ext cx="2651760" cy="1188720"/>
          </a:xfrm>
          <a:prstGeom prst="rect">
            <a:avLst/>
          </a:prstGeom>
          <a:noFill/>
        </p:spPr>
        <p:txBody>
          <a:bodyPr wrap="square">
            <a:spAutoFit/>
          </a:bodyPr>
          <a:lstStyle/>
          <a:p>
            <a:pPr algn="l">
              <a:spcAft>
                <a:spcPts val="200"/>
              </a:spcAft>
            </a:pPr>
            <a:r>
              <a:rPr sz="1100" b="0">
                <a:solidFill>
                  <a:srgbClr val="94A3B8"/>
                </a:solidFill>
                <a:latin typeface="Calibri"/>
              </a:rPr>
              <a:t>Concentration en Maritime</a:t>
            </a:r>
          </a:p>
          <a:p>
            <a:pPr algn="l">
              <a:spcAft>
                <a:spcPts val="200"/>
              </a:spcAft>
            </a:pPr>
            <a:r>
              <a:rPr sz="3200" b="1">
                <a:solidFill>
                  <a:srgbClr val="D03B3B"/>
                </a:solidFill>
                <a:latin typeface="Calibri"/>
              </a:rPr>
              <a:t>60,2 %</a:t>
            </a:r>
          </a:p>
          <a:p>
            <a:pPr algn="l">
              <a:spcAft>
                <a:spcPts val="0"/>
              </a:spcAft>
            </a:pPr>
            <a:r>
              <a:rPr sz="1000" b="0">
                <a:solidFill>
                  <a:srgbClr val="475569"/>
                </a:solidFill>
                <a:latin typeface="Calibri"/>
              </a:rPr>
              <a:t>58,6 % dans 2 préfectures</a:t>
            </a:r>
          </a:p>
        </p:txBody>
      </p:sp>
      <p:sp>
        <p:nvSpPr>
          <p:cNvPr id="5" name="TextBox 4"/>
          <p:cNvSpPr txBox="1"/>
          <p:nvPr/>
        </p:nvSpPr>
        <p:spPr>
          <a:xfrm>
            <a:off x="3383280" y="1417320"/>
            <a:ext cx="2651760" cy="1188720"/>
          </a:xfrm>
          <a:prstGeom prst="rect">
            <a:avLst/>
          </a:prstGeom>
          <a:noFill/>
        </p:spPr>
        <p:txBody>
          <a:bodyPr wrap="square">
            <a:spAutoFit/>
          </a:bodyPr>
          <a:lstStyle/>
          <a:p>
            <a:pPr algn="l">
              <a:spcAft>
                <a:spcPts val="200"/>
              </a:spcAft>
            </a:pPr>
            <a:r>
              <a:rPr sz="1100" b="0">
                <a:solidFill>
                  <a:srgbClr val="94A3B8"/>
                </a:solidFill>
                <a:latin typeface="Calibri"/>
              </a:rPr>
              <a:t>Établissements en Savanes</a:t>
            </a:r>
          </a:p>
          <a:p>
            <a:pPr algn="l">
              <a:spcAft>
                <a:spcPts val="200"/>
              </a:spcAft>
            </a:pPr>
            <a:r>
              <a:rPr sz="3200" b="1">
                <a:solidFill>
                  <a:srgbClr val="D03B3B"/>
                </a:solidFill>
                <a:latin typeface="Calibri"/>
              </a:rPr>
              <a:t>8</a:t>
            </a:r>
          </a:p>
          <a:p>
            <a:pPr algn="l">
              <a:spcAft>
                <a:spcPts val="0"/>
              </a:spcAft>
            </a:pPr>
            <a:r>
              <a:rPr sz="1000" b="0">
                <a:solidFill>
                  <a:srgbClr val="475569"/>
                </a:solidFill>
                <a:latin typeface="Calibri"/>
              </a:rPr>
              <a:t>région la moins dotée du pays</a:t>
            </a:r>
          </a:p>
        </p:txBody>
      </p:sp>
      <p:sp>
        <p:nvSpPr>
          <p:cNvPr id="6" name="TextBox 5"/>
          <p:cNvSpPr txBox="1"/>
          <p:nvPr/>
        </p:nvSpPr>
        <p:spPr>
          <a:xfrm>
            <a:off x="6217920" y="1417320"/>
            <a:ext cx="2651760" cy="1188720"/>
          </a:xfrm>
          <a:prstGeom prst="rect">
            <a:avLst/>
          </a:prstGeom>
          <a:noFill/>
        </p:spPr>
        <p:txBody>
          <a:bodyPr wrap="square">
            <a:spAutoFit/>
          </a:bodyPr>
          <a:lstStyle/>
          <a:p>
            <a:pPr algn="l">
              <a:spcAft>
                <a:spcPts val="200"/>
              </a:spcAft>
            </a:pPr>
            <a:r>
              <a:rPr sz="1100" b="0">
                <a:solidFill>
                  <a:srgbClr val="94A3B8"/>
                </a:solidFill>
                <a:latin typeface="Calibri"/>
              </a:rPr>
              <a:t>Indice Herfindahl</a:t>
            </a:r>
          </a:p>
          <a:p>
            <a:pPr algn="l">
              <a:spcAft>
                <a:spcPts val="200"/>
              </a:spcAft>
            </a:pPr>
            <a:r>
              <a:rPr sz="3200" b="1">
                <a:solidFill>
                  <a:srgbClr val="6366F1"/>
                </a:solidFill>
                <a:latin typeface="Calibri"/>
              </a:rPr>
              <a:t>0,411</a:t>
            </a:r>
          </a:p>
          <a:p>
            <a:pPr algn="l">
              <a:spcAft>
                <a:spcPts val="0"/>
              </a:spcAft>
            </a:pPr>
            <a:r>
              <a:rPr sz="1000" b="0">
                <a:solidFill>
                  <a:srgbClr val="475569"/>
                </a:solidFill>
                <a:latin typeface="Calibri"/>
              </a:rPr>
              <a:t>contre 0,20 si réparti également</a:t>
            </a:r>
          </a:p>
        </p:txBody>
      </p:sp>
      <p:sp>
        <p:nvSpPr>
          <p:cNvPr id="7" name="TextBox 6"/>
          <p:cNvSpPr txBox="1"/>
          <p:nvPr/>
        </p:nvSpPr>
        <p:spPr>
          <a:xfrm>
            <a:off x="9052560" y="1417320"/>
            <a:ext cx="2560320" cy="1188720"/>
          </a:xfrm>
          <a:prstGeom prst="rect">
            <a:avLst/>
          </a:prstGeom>
          <a:noFill/>
        </p:spPr>
        <p:txBody>
          <a:bodyPr wrap="square">
            <a:spAutoFit/>
          </a:bodyPr>
          <a:lstStyle/>
          <a:p>
            <a:pPr algn="l">
              <a:spcAft>
                <a:spcPts val="200"/>
              </a:spcAft>
            </a:pPr>
            <a:r>
              <a:rPr sz="1100" b="0">
                <a:solidFill>
                  <a:srgbClr val="94A3B8"/>
                </a:solidFill>
                <a:latin typeface="Calibri"/>
              </a:rPr>
              <a:t>Coefficient de Gini</a:t>
            </a:r>
          </a:p>
          <a:p>
            <a:pPr algn="l">
              <a:spcAft>
                <a:spcPts val="200"/>
              </a:spcAft>
            </a:pPr>
            <a:r>
              <a:rPr sz="3200" b="1">
                <a:solidFill>
                  <a:srgbClr val="6366F1"/>
                </a:solidFill>
                <a:latin typeface="Calibri"/>
              </a:rPr>
              <a:t>0,483</a:t>
            </a:r>
          </a:p>
          <a:p>
            <a:pPr algn="l">
              <a:spcAft>
                <a:spcPts val="0"/>
              </a:spcAft>
            </a:pPr>
            <a:r>
              <a:rPr sz="1000" b="0">
                <a:solidFill>
                  <a:srgbClr val="475569"/>
                </a:solidFill>
                <a:latin typeface="Calibri"/>
              </a:rPr>
              <a:t>inégalité de la répartition</a:t>
            </a:r>
          </a:p>
        </p:txBody>
      </p:sp>
      <p:graphicFrame>
        <p:nvGraphicFramePr>
          <p:cNvPr id="8" name="Chart 7"/>
          <p:cNvGraphicFramePr>
            <a:graphicFrameLocks noGrp="1"/>
          </p:cNvGraphicFramePr>
          <p:nvPr/>
        </p:nvGraphicFramePr>
        <p:xfrm>
          <a:off x="548640" y="2788920"/>
          <a:ext cx="5577840" cy="3291840"/>
        </p:xfrm>
        <a:graphic>
          <a:graphicData uri="http://schemas.openxmlformats.org/drawingml/2006/chart">
            <c:chart xmlns:c="http://schemas.openxmlformats.org/drawingml/2006/chart" r:id="rId2"/>
          </a:graphicData>
        </a:graphic>
      </p:graphicFrame>
      <p:sp>
        <p:nvSpPr>
          <p:cNvPr id="9" name="TextBox 8"/>
          <p:cNvSpPr txBox="1"/>
          <p:nvPr/>
        </p:nvSpPr>
        <p:spPr>
          <a:xfrm>
            <a:off x="6400800" y="2788920"/>
            <a:ext cx="5212080" cy="3291840"/>
          </a:xfrm>
          <a:prstGeom prst="rect">
            <a:avLst/>
          </a:prstGeom>
          <a:noFill/>
        </p:spPr>
        <p:txBody>
          <a:bodyPr wrap="square">
            <a:spAutoFit/>
          </a:bodyPr>
          <a:lstStyle/>
          <a:p>
            <a:pPr algn="l">
              <a:spcAft>
                <a:spcPts val="600"/>
              </a:spcAft>
            </a:pPr>
            <a:r>
              <a:rPr sz="1400" b="1">
                <a:solidFill>
                  <a:srgbClr val="0F172A"/>
                </a:solidFill>
                <a:latin typeface="Calibri"/>
              </a:rPr>
              <a:t>Lecture</a:t>
            </a:r>
          </a:p>
          <a:p>
            <a:pPr algn="l">
              <a:spcAft>
                <a:spcPts val="1200"/>
              </a:spcAft>
            </a:pPr>
            <a:r>
              <a:rPr sz="1100" b="0">
                <a:solidFill>
                  <a:srgbClr val="475569"/>
                </a:solidFill>
                <a:latin typeface="Calibri"/>
              </a:rPr>
              <a:t>La région Maritime concentre 60,2 % des établissements techniques ; Savanes n'en compte que 8. L'offre suit la démographie urbaine, pas le maillage administratif.</a:t>
            </a:r>
          </a:p>
          <a:p>
            <a:pPr algn="l">
              <a:spcAft>
                <a:spcPts val="600"/>
              </a:spcAft>
            </a:pPr>
            <a:r>
              <a:rPr sz="1400" b="1">
                <a:solidFill>
                  <a:srgbClr val="0F172A"/>
                </a:solidFill>
                <a:latin typeface="Calibri"/>
              </a:rPr>
              <a:t>Ce que la mesure ajoute</a:t>
            </a:r>
          </a:p>
          <a:p>
            <a:pPr algn="l">
              <a:spcAft>
                <a:spcPts val="1200"/>
              </a:spcAft>
            </a:pPr>
            <a:r>
              <a:rPr sz="1100" b="0">
                <a:solidFill>
                  <a:srgbClr val="475569"/>
                </a:solidFill>
                <a:latin typeface="Calibri"/>
              </a:rPr>
              <a:t>L'indice de Herfindahl-Hirschman est un indicateur de concentration : il mesure si une activité est répartie de manière équilibrée ou dominée par quelques régions. Pour 5 régions, une répartition parfaitement égale donnerait 0,20. On observe 0,411 : la concentration est donc deux fois celle d'un pays qui répartirait uniformément son offre.</a:t>
            </a:r>
          </a:p>
          <a:p>
            <a:pPr algn="l">
              <a:spcAft>
                <a:spcPts val="600"/>
              </a:spcAft>
            </a:pPr>
            <a:r>
              <a:rPr sz="1400" b="1">
                <a:solidFill>
                  <a:srgbClr val="0F172A"/>
                </a:solidFill>
                <a:latin typeface="Calibri"/>
              </a:rPr>
              <a:t>Et dans le supérieur</a:t>
            </a:r>
          </a:p>
          <a:p>
            <a:pPr algn="l">
              <a:spcAft>
                <a:spcPts val="0"/>
              </a:spcAft>
            </a:pPr>
            <a:r>
              <a:rPr sz="1100" b="0">
                <a:solidFill>
                  <a:srgbClr val="475569"/>
                </a:solidFill>
                <a:latin typeface="Calibri"/>
              </a:rPr>
              <a:t>78 % des établissements sont à Lomé et 92 % du réseau est privé.</a:t>
            </a:r>
          </a:p>
        </p:txBody>
      </p:sp>
      <p:sp>
        <p:nvSpPr>
          <p:cNvPr id="10" name="TextBox 9"/>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3 · Constat 2 — la concentration s'est reproduite, décennie après décennie</a:t>
            </a:r>
          </a:p>
          <a:p>
            <a:pPr algn="l">
              <a:spcAft>
                <a:spcPts val="0"/>
              </a:spcAft>
            </a:pPr>
            <a:r>
              <a:rPr sz="1300" b="0">
                <a:solidFill>
                  <a:srgbClr val="94A3B8"/>
                </a:solidFill>
                <a:latin typeface="Calibri"/>
              </a:rPr>
              <a:t>Créations d'établissements techniques par décennie (série datée, 1922-2021)</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graphicFrame>
        <p:nvGraphicFramePr>
          <p:cNvPr id="4" name="Chart 3"/>
          <p:cNvGraphicFramePr>
            <a:graphicFrameLocks noGrp="1"/>
          </p:cNvGraphicFramePr>
          <p:nvPr/>
        </p:nvGraphicFramePr>
        <p:xfrm>
          <a:off x="548640" y="1463040"/>
          <a:ext cx="67665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7589520" y="1463040"/>
            <a:ext cx="4023360" cy="4206240"/>
          </a:xfrm>
          <a:prstGeom prst="rect">
            <a:avLst/>
          </a:prstGeom>
          <a:noFill/>
        </p:spPr>
        <p:txBody>
          <a:bodyPr wrap="square">
            <a:spAutoFit/>
          </a:bodyPr>
          <a:lstStyle/>
          <a:p>
            <a:pPr algn="l">
              <a:spcAft>
                <a:spcPts val="600"/>
              </a:spcAft>
            </a:pPr>
            <a:r>
              <a:rPr sz="1400" b="1">
                <a:solidFill>
                  <a:srgbClr val="0F172A"/>
                </a:solidFill>
                <a:latin typeface="Calibri"/>
              </a:rPr>
              <a:t>Une offre récente</a:t>
            </a:r>
          </a:p>
          <a:p>
            <a:pPr algn="l">
              <a:spcAft>
                <a:spcPts val="1200"/>
              </a:spcAft>
            </a:pPr>
            <a:r>
              <a:rPr sz="1100" b="0">
                <a:solidFill>
                  <a:srgbClr val="475569"/>
                </a:solidFill>
                <a:latin typeface="Calibri"/>
              </a:rPr>
              <a:t>Plus de 80 % du parc daté a été créé depuis 1990. Les années 2010 concentrent à elles seules 92 créations.</a:t>
            </a:r>
          </a:p>
          <a:p>
            <a:pPr algn="l">
              <a:spcAft>
                <a:spcPts val="600"/>
              </a:spcAft>
            </a:pPr>
            <a:r>
              <a:rPr sz="1400" b="1">
                <a:solidFill>
                  <a:srgbClr val="0F172A"/>
                </a:solidFill>
                <a:latin typeface="Calibri"/>
              </a:rPr>
              <a:t>Le déséquilibre s'est reproduit</a:t>
            </a:r>
          </a:p>
          <a:p>
            <a:pPr algn="l">
              <a:spcAft>
                <a:spcPts val="1200"/>
              </a:spcAft>
            </a:pPr>
            <a:r>
              <a:rPr sz="1100" b="0">
                <a:solidFill>
                  <a:srgbClr val="475569"/>
                </a:solidFill>
                <a:latin typeface="Calibri"/>
              </a:rPr>
              <a:t>La région Maritime capte la majorité des créations à chaque décennie. Les Savanes n'enregistrent aucune création dans les années 2000. La concentration n'est donc pas un héritage ancien en voie de résorption : elle a été reconduite pendant toute la phase d'expansion.</a:t>
            </a:r>
          </a:p>
          <a:p>
            <a:pPr algn="l">
              <a:spcAft>
                <a:spcPts val="600"/>
              </a:spcAft>
            </a:pPr>
            <a:r>
              <a:rPr sz="1400" b="1">
                <a:solidFill>
                  <a:srgbClr val="006A4E"/>
                </a:solidFill>
                <a:latin typeface="Calibri"/>
              </a:rPr>
              <a:t>Une inflexion récente</a:t>
            </a:r>
          </a:p>
          <a:p>
            <a:pPr algn="l">
              <a:spcAft>
                <a:spcPts val="0"/>
              </a:spcAft>
            </a:pPr>
            <a:r>
              <a:rPr sz="1100" b="0">
                <a:solidFill>
                  <a:srgbClr val="475569"/>
                </a:solidFill>
                <a:latin typeface="Calibri"/>
              </a:rPr>
              <a:t>Sur 2020-2021, Maritime ne représente plus que 8 créations sur 21, contre 58 sur 92 dans les années 2010. Le rééquilibrage a commencé, mais il reste fragile et non consolidé.</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4 · Constat 3 — l'effet ciseaux</a:t>
            </a:r>
          </a:p>
          <a:p>
            <a:pPr algn="l">
              <a:spcAft>
                <a:spcPts val="0"/>
              </a:spcAft>
            </a:pPr>
            <a:r>
              <a:rPr sz="1300" b="0">
                <a:solidFill>
                  <a:srgbClr val="94A3B8"/>
                </a:solidFill>
                <a:latin typeface="Calibri"/>
              </a:rPr>
              <a:t>Accès au supérieur et dépense publique par étudiant, indexés base 100 en 1998</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graphicFrame>
        <p:nvGraphicFramePr>
          <p:cNvPr id="4" name="Chart 3"/>
          <p:cNvGraphicFramePr>
            <a:graphicFrameLocks noGrp="1"/>
          </p:cNvGraphicFramePr>
          <p:nvPr/>
        </p:nvGraphicFramePr>
        <p:xfrm>
          <a:off x="548640" y="1463040"/>
          <a:ext cx="67665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7589520" y="1463040"/>
            <a:ext cx="4023360" cy="4206240"/>
          </a:xfrm>
          <a:prstGeom prst="rect">
            <a:avLst/>
          </a:prstGeom>
          <a:noFill/>
        </p:spPr>
        <p:txBody>
          <a:bodyPr wrap="square">
            <a:spAutoFit/>
          </a:bodyPr>
          <a:lstStyle/>
          <a:p>
            <a:pPr algn="l">
              <a:spcAft>
                <a:spcPts val="600"/>
              </a:spcAft>
            </a:pPr>
            <a:r>
              <a:rPr sz="1400" b="1">
                <a:solidFill>
                  <a:srgbClr val="0F172A"/>
                </a:solidFill>
                <a:latin typeface="Calibri"/>
              </a:rPr>
              <a:t>Deux trajectoires opposées</a:t>
            </a:r>
          </a:p>
          <a:p>
            <a:pPr algn="l">
              <a:spcAft>
                <a:spcPts val="1200"/>
              </a:spcAft>
            </a:pPr>
            <a:r>
              <a:rPr sz="1100" b="0">
                <a:solidFill>
                  <a:srgbClr val="475569"/>
                </a:solidFill>
                <a:latin typeface="Calibri"/>
              </a:rPr>
              <a:t>Depuis 1998, l'accès au supérieur a été multiplié par 4,7 pendant que la dépense par étudiant perdait 73 % de sa valeur relative.</a:t>
            </a:r>
          </a:p>
          <a:p>
            <a:pPr algn="l">
              <a:spcAft>
                <a:spcPts val="600"/>
              </a:spcAft>
            </a:pPr>
            <a:r>
              <a:rPr sz="1400" b="1">
                <a:solidFill>
                  <a:srgbClr val="0F172A"/>
                </a:solidFill>
                <a:latin typeface="Calibri"/>
              </a:rPr>
              <a:t>Un seul axe, pas de double échelle</a:t>
            </a:r>
          </a:p>
          <a:p>
            <a:pPr algn="l">
              <a:spcAft>
                <a:spcPts val="1200"/>
              </a:spcAft>
            </a:pPr>
            <a:r>
              <a:rPr sz="1100" b="0">
                <a:solidFill>
                  <a:srgbClr val="475569"/>
                </a:solidFill>
                <a:latin typeface="Calibri"/>
              </a:rPr>
              <a:t>Les deux séries sont indexées à 100 sur la même année : l'écart est mesurable et non un artefact produit par un graphique à double axe.</a:t>
            </a:r>
          </a:p>
          <a:p>
            <a:pPr algn="l">
              <a:spcAft>
                <a:spcPts val="600"/>
              </a:spcAft>
            </a:pPr>
            <a:r>
              <a:rPr sz="1400" b="1">
                <a:solidFill>
                  <a:srgbClr val="6366F1"/>
                </a:solidFill>
                <a:latin typeface="Calibri"/>
              </a:rPr>
              <a:t>L'écart, mesuré</a:t>
            </a:r>
          </a:p>
          <a:p>
            <a:pPr algn="l">
              <a:spcAft>
                <a:spcPts val="0"/>
              </a:spcAft>
            </a:pPr>
            <a:r>
              <a:rPr sz="1100" b="0">
                <a:solidFill>
                  <a:srgbClr val="475569"/>
                </a:solidFill>
                <a:latin typeface="Calibri"/>
              </a:rPr>
              <a:t>Quand l'accès augmente de 1 %, la dépense par étudiant baisse de 0,86 %. Ce rapport, très proche de 1 pour 1, correspond à une enveloppe budgétaire globale restée quasi inchangée : chaque étudiant supplémentaire a dilué les moyens disponibles, sans que le total soit relevé à proportion.</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5 · Analyses réalisées et résultats obtenus</a:t>
            </a:r>
          </a:p>
          <a:p>
            <a:pPr algn="l">
              <a:spcAft>
                <a:spcPts val="0"/>
              </a:spcAft>
            </a:pPr>
            <a:r>
              <a:rPr sz="1300" b="0">
                <a:solidFill>
                  <a:srgbClr val="94A3B8"/>
                </a:solidFill>
                <a:latin typeface="Calibri"/>
              </a:rPr>
              <a:t>Cinq analyses statistiques, ce qu'elles cherchaient à établir et ce qu'elles montrent</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389888"/>
            <a:ext cx="5669280" cy="1051560"/>
          </a:xfrm>
          <a:prstGeom prst="rect">
            <a:avLst/>
          </a:prstGeom>
          <a:noFill/>
        </p:spPr>
        <p:txBody>
          <a:bodyPr wrap="square">
            <a:spAutoFit/>
          </a:bodyPr>
          <a:lstStyle/>
          <a:p>
            <a:pPr algn="l">
              <a:spcAft>
                <a:spcPts val="200"/>
              </a:spcAft>
            </a:pPr>
            <a:r>
              <a:rPr sz="1200" b="1">
                <a:solidFill>
                  <a:srgbClr val="6366F1"/>
                </a:solidFill>
                <a:latin typeface="Calibri"/>
              </a:rPr>
              <a:t>1 · Trajectoire de l'accès au supérieur</a:t>
            </a:r>
          </a:p>
          <a:p>
            <a:pPr algn="l">
              <a:spcAft>
                <a:spcPts val="500"/>
              </a:spcAft>
            </a:pPr>
            <a:r>
              <a:rPr sz="1000" b="0">
                <a:solidFill>
                  <a:srgbClr val="94A3B8"/>
                </a:solidFill>
                <a:latin typeface="Calibri"/>
              </a:rPr>
              <a:t>L'accès progresse-t-il, et à quel rythme ?</a:t>
            </a:r>
          </a:p>
          <a:p>
            <a:pPr algn="l">
              <a:spcAft>
                <a:spcPts val="400"/>
              </a:spcAft>
            </a:pPr>
            <a:r>
              <a:rPr sz="1300" b="1">
                <a:solidFill>
                  <a:srgbClr val="006A4E"/>
                </a:solidFill>
                <a:latin typeface="Calibri"/>
              </a:rPr>
              <a:t>+0,27 point par an sur 1971-2020</a:t>
            </a:r>
          </a:p>
          <a:p>
            <a:pPr algn="l">
              <a:spcAft>
                <a:spcPts val="0"/>
              </a:spcAft>
            </a:pPr>
            <a:r>
              <a:rPr sz="950" b="0">
                <a:solidFill>
                  <a:srgbClr val="475569"/>
                </a:solidFill>
                <a:latin typeface="Calibri"/>
              </a:rPr>
              <a:t>Progression régulière et très marquée, mesurée sur 38 années. C'est l'analyse la plus solide du travail : la tendance explique 88 % des variations observées.</a:t>
            </a:r>
          </a:p>
        </p:txBody>
      </p:sp>
      <p:sp>
        <p:nvSpPr>
          <p:cNvPr id="5" name="TextBox 4"/>
          <p:cNvSpPr txBox="1"/>
          <p:nvPr/>
        </p:nvSpPr>
        <p:spPr>
          <a:xfrm>
            <a:off x="548640" y="2468880"/>
            <a:ext cx="5669280" cy="1051560"/>
          </a:xfrm>
          <a:prstGeom prst="rect">
            <a:avLst/>
          </a:prstGeom>
          <a:noFill/>
        </p:spPr>
        <p:txBody>
          <a:bodyPr wrap="square">
            <a:spAutoFit/>
          </a:bodyPr>
          <a:lstStyle/>
          <a:p>
            <a:pPr algn="l">
              <a:spcAft>
                <a:spcPts val="200"/>
              </a:spcAft>
            </a:pPr>
            <a:r>
              <a:rPr sz="1200" b="1">
                <a:solidFill>
                  <a:srgbClr val="6366F1"/>
                </a:solidFill>
                <a:latin typeface="Calibri"/>
              </a:rPr>
              <a:t>2 · Trajectoire des moyens par étudiant</a:t>
            </a:r>
          </a:p>
          <a:p>
            <a:pPr algn="l">
              <a:spcAft>
                <a:spcPts val="500"/>
              </a:spcAft>
            </a:pPr>
            <a:r>
              <a:rPr sz="1000" b="0">
                <a:solidFill>
                  <a:srgbClr val="94A3B8"/>
                </a:solidFill>
                <a:latin typeface="Calibri"/>
              </a:rPr>
              <a:t>L'effort public par étudiant suit-il la hausse des effectifs ?</a:t>
            </a:r>
          </a:p>
          <a:p>
            <a:pPr algn="l">
              <a:spcAft>
                <a:spcPts val="400"/>
              </a:spcAft>
            </a:pPr>
            <a:r>
              <a:rPr sz="1300" b="1">
                <a:solidFill>
                  <a:srgbClr val="D03B3B"/>
                </a:solidFill>
                <a:latin typeface="Calibri"/>
              </a:rPr>
              <a:t>-10,0 points par an sur 1998-2017</a:t>
            </a:r>
          </a:p>
          <a:p>
            <a:pPr algn="l">
              <a:spcAft>
                <a:spcPts val="0"/>
              </a:spcAft>
            </a:pPr>
            <a:r>
              <a:rPr sz="950" b="0">
                <a:solidFill>
                  <a:srgbClr val="475569"/>
                </a:solidFill>
                <a:latin typeface="Calibri"/>
              </a:rPr>
              <a:t>La dépense par étudiant recule continûment sur toute la période. Le recul est établi et non un effet de bruit statistique, même si la série ne compte que 10 mesures sur 20 ans.</a:t>
            </a:r>
          </a:p>
        </p:txBody>
      </p:sp>
      <p:sp>
        <p:nvSpPr>
          <p:cNvPr id="6" name="TextBox 5"/>
          <p:cNvSpPr txBox="1"/>
          <p:nvPr/>
        </p:nvSpPr>
        <p:spPr>
          <a:xfrm>
            <a:off x="548640" y="3547872"/>
            <a:ext cx="5669280" cy="1051560"/>
          </a:xfrm>
          <a:prstGeom prst="rect">
            <a:avLst/>
          </a:prstGeom>
          <a:noFill/>
        </p:spPr>
        <p:txBody>
          <a:bodyPr wrap="square">
            <a:spAutoFit/>
          </a:bodyPr>
          <a:lstStyle/>
          <a:p>
            <a:pPr algn="l">
              <a:spcAft>
                <a:spcPts val="200"/>
              </a:spcAft>
            </a:pPr>
            <a:r>
              <a:rPr sz="1200" b="1">
                <a:solidFill>
                  <a:srgbClr val="6366F1"/>
                </a:solidFill>
                <a:latin typeface="Calibri"/>
              </a:rPr>
              <a:t>3 · Lien entre accès et moyens</a:t>
            </a:r>
          </a:p>
          <a:p>
            <a:pPr algn="l">
              <a:spcAft>
                <a:spcPts val="500"/>
              </a:spcAft>
            </a:pPr>
            <a:r>
              <a:rPr sz="1000" b="0">
                <a:solidFill>
                  <a:srgbClr val="94A3B8"/>
                </a:solidFill>
                <a:latin typeface="Calibri"/>
              </a:rPr>
              <a:t>De combien les moyens par étudiant reculent-ils quand l'accès s'élargit ?</a:t>
            </a:r>
          </a:p>
          <a:p>
            <a:pPr algn="l">
              <a:spcAft>
                <a:spcPts val="400"/>
              </a:spcAft>
            </a:pPr>
            <a:r>
              <a:rPr sz="1300" b="1">
                <a:solidFill>
                  <a:srgbClr val="D03B3B"/>
                </a:solidFill>
                <a:latin typeface="Calibri"/>
              </a:rPr>
              <a:t>Élasticité de -0,86 — quasi unitaire</a:t>
            </a:r>
          </a:p>
          <a:p>
            <a:pPr algn="l">
              <a:spcAft>
                <a:spcPts val="0"/>
              </a:spcAft>
            </a:pPr>
            <a:r>
              <a:rPr sz="950" b="0">
                <a:solidFill>
                  <a:srgbClr val="475569"/>
                </a:solidFill>
                <a:latin typeface="Calibri"/>
              </a:rPr>
              <a:t>Quand l'accès augmente de 1 %, la dépense par étudiant baisse de 0,86 %. Une valeur proche de −1 correspond à une enveloppe globale inchangée : la massification a été absorbée à moyens quasi constants.</a:t>
            </a:r>
          </a:p>
        </p:txBody>
      </p:sp>
      <p:sp>
        <p:nvSpPr>
          <p:cNvPr id="7" name="TextBox 6"/>
          <p:cNvSpPr txBox="1"/>
          <p:nvPr/>
        </p:nvSpPr>
        <p:spPr>
          <a:xfrm>
            <a:off x="6492240" y="1389888"/>
            <a:ext cx="5120640" cy="1600200"/>
          </a:xfrm>
          <a:prstGeom prst="rect">
            <a:avLst/>
          </a:prstGeom>
          <a:noFill/>
        </p:spPr>
        <p:txBody>
          <a:bodyPr wrap="square">
            <a:spAutoFit/>
          </a:bodyPr>
          <a:lstStyle/>
          <a:p>
            <a:pPr algn="l">
              <a:spcAft>
                <a:spcPts val="200"/>
              </a:spcAft>
            </a:pPr>
            <a:r>
              <a:rPr sz="1200" b="1">
                <a:solidFill>
                  <a:srgbClr val="6366F1"/>
                </a:solidFill>
                <a:latin typeface="Calibri"/>
              </a:rPr>
              <a:t>4 · Degré de concentration territoriale</a:t>
            </a:r>
          </a:p>
          <a:p>
            <a:pPr algn="l">
              <a:spcAft>
                <a:spcPts val="500"/>
              </a:spcAft>
            </a:pPr>
            <a:r>
              <a:rPr sz="1000" b="0">
                <a:solidFill>
                  <a:srgbClr val="94A3B8"/>
                </a:solidFill>
                <a:latin typeface="Calibri"/>
              </a:rPr>
              <a:t>L'offre est-elle répartie équitablement ou dominée par une région ?</a:t>
            </a:r>
          </a:p>
          <a:p>
            <a:pPr algn="l">
              <a:spcAft>
                <a:spcPts val="400"/>
              </a:spcAft>
            </a:pPr>
            <a:r>
              <a:rPr sz="1300" b="1">
                <a:solidFill>
                  <a:srgbClr val="D03B3B"/>
                </a:solidFill>
                <a:latin typeface="Calibri"/>
              </a:rPr>
              <a:t>Indice de concentration : 0,411</a:t>
            </a:r>
          </a:p>
          <a:p>
            <a:pPr algn="l">
              <a:spcAft>
                <a:spcPts val="0"/>
              </a:spcAft>
            </a:pPr>
            <a:r>
              <a:rPr sz="950" b="0">
                <a:solidFill>
                  <a:srgbClr val="475569"/>
                </a:solidFill>
                <a:latin typeface="Calibri"/>
              </a:rPr>
              <a:t>L'indice de Herfindahl-Hirschman mesure si une activité est répartie de manière équilibrée ou dominée par quelques régions. Pour 5 régions, une répartition parfaitement égale vaudrait 0,20. On observe 0,411, soit le double : la concentration est forte. Le coefficient de Gini (0,48) le confirme sur l'ensemble de la distribution.</a:t>
            </a:r>
          </a:p>
        </p:txBody>
      </p:sp>
      <p:sp>
        <p:nvSpPr>
          <p:cNvPr id="8" name="TextBox 7"/>
          <p:cNvSpPr txBox="1"/>
          <p:nvPr/>
        </p:nvSpPr>
        <p:spPr>
          <a:xfrm>
            <a:off x="6492240" y="3200400"/>
            <a:ext cx="5120640" cy="1417320"/>
          </a:xfrm>
          <a:prstGeom prst="rect">
            <a:avLst/>
          </a:prstGeom>
          <a:noFill/>
        </p:spPr>
        <p:txBody>
          <a:bodyPr wrap="square">
            <a:spAutoFit/>
          </a:bodyPr>
          <a:lstStyle/>
          <a:p>
            <a:pPr algn="l">
              <a:spcAft>
                <a:spcPts val="200"/>
              </a:spcAft>
            </a:pPr>
            <a:r>
              <a:rPr sz="1200" b="1">
                <a:solidFill>
                  <a:srgbClr val="6366F1"/>
                </a:solidFill>
                <a:latin typeface="Calibri"/>
              </a:rPr>
              <a:t>5 · Datation de l'accélération</a:t>
            </a:r>
          </a:p>
          <a:p>
            <a:pPr algn="l">
              <a:spcAft>
                <a:spcPts val="500"/>
              </a:spcAft>
            </a:pPr>
            <a:r>
              <a:rPr sz="1000" b="0">
                <a:solidFill>
                  <a:srgbClr val="94A3B8"/>
                </a:solidFill>
                <a:latin typeface="Calibri"/>
              </a:rPr>
              <a:t>Quand la massification a-t-elle vraiment démarré ?</a:t>
            </a:r>
          </a:p>
          <a:p>
            <a:pPr algn="l">
              <a:spcAft>
                <a:spcPts val="400"/>
              </a:spcAft>
            </a:pPr>
            <a:r>
              <a:rPr sz="1300" b="1">
                <a:solidFill>
                  <a:srgbClr val="006A4E"/>
                </a:solidFill>
                <a:latin typeface="Calibri"/>
              </a:rPr>
              <a:t>Rythme multiplié par 6,7 après 2000</a:t>
            </a:r>
          </a:p>
          <a:p>
            <a:pPr algn="l">
              <a:spcAft>
                <a:spcPts val="0"/>
              </a:spcAft>
            </a:pPr>
            <a:r>
              <a:rPr sz="950" b="0">
                <a:solidFill>
                  <a:srgbClr val="475569"/>
                </a:solidFill>
                <a:latin typeface="Calibri"/>
              </a:rPr>
              <a:t>En comparant la période antérieure et postérieure à 2000, le rythme de progression de l'accès passe de 0,09 à 0,63 point par an. L'accélération est objectivée, ce n'est pas une impression de lecture graphique.</a:t>
            </a:r>
          </a:p>
        </p:txBody>
      </p:sp>
      <p:sp>
        <p:nvSpPr>
          <p:cNvPr id="9" name="TextBox 8"/>
          <p:cNvSpPr txBox="1"/>
          <p:nvPr/>
        </p:nvSpPr>
        <p:spPr>
          <a:xfrm>
            <a:off x="548640" y="4709160"/>
            <a:ext cx="2194560" cy="1097280"/>
          </a:xfrm>
          <a:prstGeom prst="rect">
            <a:avLst/>
          </a:prstGeom>
          <a:noFill/>
        </p:spPr>
        <p:txBody>
          <a:bodyPr wrap="square">
            <a:spAutoFit/>
          </a:bodyPr>
          <a:lstStyle/>
          <a:p>
            <a:pPr algn="l">
              <a:spcAft>
                <a:spcPts val="100"/>
              </a:spcAft>
            </a:pPr>
            <a:r>
              <a:rPr sz="900" b="0">
                <a:solidFill>
                  <a:srgbClr val="94A3B8"/>
                </a:solidFill>
                <a:latin typeface="Calibri"/>
              </a:rPr>
              <a:t>Accès au supérieur</a:t>
            </a:r>
          </a:p>
          <a:p>
            <a:pPr algn="l">
              <a:spcAft>
                <a:spcPts val="100"/>
              </a:spcAft>
            </a:pPr>
            <a:r>
              <a:rPr sz="1500" b="1">
                <a:solidFill>
                  <a:srgbClr val="006A4E"/>
                </a:solidFill>
                <a:latin typeface="Calibri"/>
              </a:rPr>
              <a:t>Établi</a:t>
            </a:r>
          </a:p>
          <a:p>
            <a:pPr algn="l">
              <a:spcAft>
                <a:spcPts val="0"/>
              </a:spcAft>
            </a:pPr>
            <a:r>
              <a:rPr sz="800" b="0">
                <a:solidFill>
                  <a:srgbClr val="475569"/>
                </a:solidFill>
                <a:latin typeface="Calibri"/>
              </a:rPr>
              <a:t>38 années observées</a:t>
            </a:r>
          </a:p>
        </p:txBody>
      </p:sp>
      <p:sp>
        <p:nvSpPr>
          <p:cNvPr id="10" name="TextBox 9"/>
          <p:cNvSpPr txBox="1"/>
          <p:nvPr/>
        </p:nvSpPr>
        <p:spPr>
          <a:xfrm>
            <a:off x="2807208" y="4709160"/>
            <a:ext cx="2194560" cy="1097280"/>
          </a:xfrm>
          <a:prstGeom prst="rect">
            <a:avLst/>
          </a:prstGeom>
          <a:noFill/>
        </p:spPr>
        <p:txBody>
          <a:bodyPr wrap="square">
            <a:spAutoFit/>
          </a:bodyPr>
          <a:lstStyle/>
          <a:p>
            <a:pPr algn="l">
              <a:spcAft>
                <a:spcPts val="100"/>
              </a:spcAft>
            </a:pPr>
            <a:r>
              <a:rPr sz="900" b="0">
                <a:solidFill>
                  <a:srgbClr val="94A3B8"/>
                </a:solidFill>
                <a:latin typeface="Calibri"/>
              </a:rPr>
              <a:t>Moyens par étudiant</a:t>
            </a:r>
          </a:p>
          <a:p>
            <a:pPr algn="l">
              <a:spcAft>
                <a:spcPts val="100"/>
              </a:spcAft>
            </a:pPr>
            <a:r>
              <a:rPr sz="1500" b="1">
                <a:solidFill>
                  <a:srgbClr val="006A4E"/>
                </a:solidFill>
                <a:latin typeface="Calibri"/>
              </a:rPr>
              <a:t>Établi</a:t>
            </a:r>
          </a:p>
          <a:p>
            <a:pPr algn="l">
              <a:spcAft>
                <a:spcPts val="0"/>
              </a:spcAft>
            </a:pPr>
            <a:r>
              <a:rPr sz="800" b="0">
                <a:solidFill>
                  <a:srgbClr val="475569"/>
                </a:solidFill>
                <a:latin typeface="Calibri"/>
              </a:rPr>
              <a:t>10 mesures sur 20 ans</a:t>
            </a:r>
          </a:p>
        </p:txBody>
      </p:sp>
      <p:sp>
        <p:nvSpPr>
          <p:cNvPr id="11" name="TextBox 10"/>
          <p:cNvSpPr txBox="1"/>
          <p:nvPr/>
        </p:nvSpPr>
        <p:spPr>
          <a:xfrm>
            <a:off x="5065776" y="4709160"/>
            <a:ext cx="2194560" cy="1097280"/>
          </a:xfrm>
          <a:prstGeom prst="rect">
            <a:avLst/>
          </a:prstGeom>
          <a:noFill/>
        </p:spPr>
        <p:txBody>
          <a:bodyPr wrap="square">
            <a:spAutoFit/>
          </a:bodyPr>
          <a:lstStyle/>
          <a:p>
            <a:pPr algn="l">
              <a:spcAft>
                <a:spcPts val="100"/>
              </a:spcAft>
            </a:pPr>
            <a:r>
              <a:rPr sz="900" b="0">
                <a:solidFill>
                  <a:srgbClr val="94A3B8"/>
                </a:solidFill>
                <a:latin typeface="Calibri"/>
              </a:rPr>
              <a:t>Lien accès / moyens</a:t>
            </a:r>
          </a:p>
          <a:p>
            <a:pPr algn="l">
              <a:spcAft>
                <a:spcPts val="100"/>
              </a:spcAft>
            </a:pPr>
            <a:r>
              <a:rPr sz="1500" b="1">
                <a:solidFill>
                  <a:srgbClr val="006A4E"/>
                </a:solidFill>
                <a:latin typeface="Calibri"/>
              </a:rPr>
              <a:t>Établi</a:t>
            </a:r>
          </a:p>
          <a:p>
            <a:pPr algn="l">
              <a:spcAft>
                <a:spcPts val="0"/>
              </a:spcAft>
            </a:pPr>
            <a:r>
              <a:rPr sz="800" b="0">
                <a:solidFill>
                  <a:srgbClr val="475569"/>
                </a:solidFill>
                <a:latin typeface="Calibri"/>
              </a:rPr>
              <a:t>cohérent avec les deux analyses précédentes</a:t>
            </a:r>
          </a:p>
        </p:txBody>
      </p:sp>
      <p:sp>
        <p:nvSpPr>
          <p:cNvPr id="12" name="TextBox 11"/>
          <p:cNvSpPr txBox="1"/>
          <p:nvPr/>
        </p:nvSpPr>
        <p:spPr>
          <a:xfrm>
            <a:off x="7324344" y="4709160"/>
            <a:ext cx="2194560" cy="1097280"/>
          </a:xfrm>
          <a:prstGeom prst="rect">
            <a:avLst/>
          </a:prstGeom>
          <a:noFill/>
        </p:spPr>
        <p:txBody>
          <a:bodyPr wrap="square">
            <a:spAutoFit/>
          </a:bodyPr>
          <a:lstStyle/>
          <a:p>
            <a:pPr algn="l">
              <a:spcAft>
                <a:spcPts val="100"/>
              </a:spcAft>
            </a:pPr>
            <a:r>
              <a:rPr sz="900" b="0">
                <a:solidFill>
                  <a:srgbClr val="94A3B8"/>
                </a:solidFill>
                <a:latin typeface="Calibri"/>
              </a:rPr>
              <a:t>Accélération en 2000</a:t>
            </a:r>
          </a:p>
          <a:p>
            <a:pPr algn="l">
              <a:spcAft>
                <a:spcPts val="100"/>
              </a:spcAft>
            </a:pPr>
            <a:r>
              <a:rPr sz="1500" b="1">
                <a:solidFill>
                  <a:srgbClr val="006A4E"/>
                </a:solidFill>
                <a:latin typeface="Calibri"/>
              </a:rPr>
              <a:t>Établi</a:t>
            </a:r>
          </a:p>
          <a:p>
            <a:pPr algn="l">
              <a:spcAft>
                <a:spcPts val="0"/>
              </a:spcAft>
            </a:pPr>
            <a:r>
              <a:rPr sz="800" b="0">
                <a:solidFill>
                  <a:srgbClr val="475569"/>
                </a:solidFill>
                <a:latin typeface="Calibri"/>
              </a:rPr>
              <a:t>les deux périodes diffèrent nettement</a:t>
            </a:r>
          </a:p>
        </p:txBody>
      </p:sp>
      <p:sp>
        <p:nvSpPr>
          <p:cNvPr id="13" name="TextBox 12"/>
          <p:cNvSpPr txBox="1"/>
          <p:nvPr/>
        </p:nvSpPr>
        <p:spPr>
          <a:xfrm>
            <a:off x="9582912" y="4709160"/>
            <a:ext cx="2194560" cy="1097280"/>
          </a:xfrm>
          <a:prstGeom prst="rect">
            <a:avLst/>
          </a:prstGeom>
          <a:noFill/>
        </p:spPr>
        <p:txBody>
          <a:bodyPr wrap="square">
            <a:spAutoFit/>
          </a:bodyPr>
          <a:lstStyle/>
          <a:p>
            <a:pPr algn="l">
              <a:spcAft>
                <a:spcPts val="100"/>
              </a:spcAft>
            </a:pPr>
            <a:r>
              <a:rPr sz="900" b="0">
                <a:solidFill>
                  <a:srgbClr val="94A3B8"/>
                </a:solidFill>
                <a:latin typeface="Calibri"/>
              </a:rPr>
              <a:t>Effet d'une hausse de crédits</a:t>
            </a:r>
          </a:p>
          <a:p>
            <a:pPr algn="l">
              <a:spcAft>
                <a:spcPts val="100"/>
              </a:spcAft>
            </a:pPr>
            <a:r>
              <a:rPr sz="1500" b="1">
                <a:solidFill>
                  <a:srgbClr val="D03B3B"/>
                </a:solidFill>
                <a:latin typeface="Calibri"/>
              </a:rPr>
              <a:t>Non concluant</a:t>
            </a:r>
          </a:p>
          <a:p>
            <a:pPr algn="l">
              <a:spcAft>
                <a:spcPts val="0"/>
              </a:spcAft>
            </a:pPr>
            <a:r>
              <a:rPr sz="800" b="0">
                <a:solidFill>
                  <a:srgbClr val="475569"/>
                </a:solidFill>
                <a:latin typeface="Calibri"/>
              </a:rPr>
              <a:t>seulement 5 années comparables</a:t>
            </a:r>
          </a:p>
        </p:txBody>
      </p:sp>
      <p:sp>
        <p:nvSpPr>
          <p:cNvPr id="14" name="TextBox 13"/>
          <p:cNvSpPr txBox="1"/>
          <p:nvPr/>
        </p:nvSpPr>
        <p:spPr>
          <a:xfrm>
            <a:off x="548640" y="5897880"/>
            <a:ext cx="11064240" cy="457200"/>
          </a:xfrm>
          <a:prstGeom prst="rect">
            <a:avLst/>
          </a:prstGeom>
          <a:noFill/>
        </p:spPr>
        <p:txBody>
          <a:bodyPr wrap="square">
            <a:spAutoFit/>
          </a:bodyPr>
          <a:lstStyle/>
          <a:p>
            <a:pPr algn="l">
              <a:spcAft>
                <a:spcPts val="0"/>
              </a:spcAft>
            </a:pPr>
            <a:r>
              <a:rPr sz="1000" b="0">
                <a:solidFill>
                  <a:srgbClr val="475569"/>
                </a:solidFill>
                <a:latin typeface="Calibri"/>
              </a:rPr>
              <a:t>Une cinquième analyse a testé si une hausse brutale des crédits dégrade leur exécution. Avec seulement 5 années comparables, elle n'est pas concluante : le résultat est conservé et signalé comme tel, car un test non concluant reste une information — le lien demeure une hypothèse de gestion, pas un fait établi.</a:t>
            </a:r>
          </a:p>
        </p:txBody>
      </p:sp>
      <p:sp>
        <p:nvSpPr>
          <p:cNvPr id="15" name="TextBox 14"/>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6 · Constat 4 — le budget n'est pas le coupable évident</a:t>
            </a:r>
          </a:p>
          <a:p>
            <a:pPr algn="l">
              <a:spcAft>
                <a:spcPts val="0"/>
              </a:spcAft>
            </a:pPr>
            <a:r>
              <a:rPr sz="1300" b="0">
                <a:solidFill>
                  <a:srgbClr val="94A3B8"/>
                </a:solidFill>
                <a:latin typeface="Calibri"/>
              </a:rPr>
              <a:t>Taux d'exécution comparé : enseignement supérieur, éducation, budget national</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graphicFrame>
        <p:nvGraphicFramePr>
          <p:cNvPr id="4" name="Chart 3"/>
          <p:cNvGraphicFramePr>
            <a:graphicFrameLocks noGrp="1"/>
          </p:cNvGraphicFramePr>
          <p:nvPr/>
        </p:nvGraphicFramePr>
        <p:xfrm>
          <a:off x="548640" y="1463040"/>
          <a:ext cx="6766560" cy="3840480"/>
        </p:xfrm>
        <a:graphic>
          <a:graphicData uri="http://schemas.openxmlformats.org/drawingml/2006/chart">
            <c:chart xmlns:c="http://schemas.openxmlformats.org/drawingml/2006/chart" r:id="rId2"/>
          </a:graphicData>
        </a:graphic>
      </p:graphicFrame>
      <p:sp>
        <p:nvSpPr>
          <p:cNvPr id="5" name="TextBox 4"/>
          <p:cNvSpPr txBox="1"/>
          <p:nvPr/>
        </p:nvSpPr>
        <p:spPr>
          <a:xfrm>
            <a:off x="7589520" y="1463040"/>
            <a:ext cx="4023360" cy="4206240"/>
          </a:xfrm>
          <a:prstGeom prst="rect">
            <a:avLst/>
          </a:prstGeom>
          <a:noFill/>
        </p:spPr>
        <p:txBody>
          <a:bodyPr wrap="square">
            <a:spAutoFit/>
          </a:bodyPr>
          <a:lstStyle/>
          <a:p>
            <a:pPr algn="l">
              <a:spcAft>
                <a:spcPts val="600"/>
              </a:spcAft>
            </a:pPr>
            <a:r>
              <a:rPr sz="1400" b="1">
                <a:solidFill>
                  <a:srgbClr val="0F172A"/>
                </a:solidFill>
                <a:latin typeface="Calibri"/>
              </a:rPr>
              <a:t>Une lecture rapide serait fausse</a:t>
            </a:r>
          </a:p>
          <a:p>
            <a:pPr algn="l">
              <a:spcAft>
                <a:spcPts val="1200"/>
              </a:spcAft>
            </a:pPr>
            <a:r>
              <a:rPr sz="1100" b="0">
                <a:solidFill>
                  <a:srgbClr val="475569"/>
                </a:solidFill>
                <a:latin typeface="Calibri"/>
              </a:rPr>
              <a:t>Le supérieur exécute en moyenne 92,9 % de son enveloppe, contre 76,4 % pour le budget de l'État. Il exécute donc MIEUX que la moyenne nationale : il n'a pas de problème structurel de décaissement.</a:t>
            </a:r>
          </a:p>
          <a:p>
            <a:pPr algn="l">
              <a:spcAft>
                <a:spcPts val="600"/>
              </a:spcAft>
            </a:pPr>
            <a:r>
              <a:rPr sz="1400" b="1">
                <a:solidFill>
                  <a:srgbClr val="0F172A"/>
                </a:solidFill>
                <a:latin typeface="Calibri"/>
              </a:rPr>
              <a:t>Le vrai point d'alerte</a:t>
            </a:r>
          </a:p>
          <a:p>
            <a:pPr algn="l">
              <a:spcAft>
                <a:spcPts val="1200"/>
              </a:spcAft>
            </a:pPr>
            <a:r>
              <a:rPr sz="1100" b="0">
                <a:solidFill>
                  <a:srgbClr val="475569"/>
                </a:solidFill>
                <a:latin typeface="Calibri"/>
              </a:rPr>
              <a:t>En 2018, l'enveloppe bondit de 47 % et l'exécution tombe à son plus bas niveau, laissant près de 6 milliards de FCFA non consommés. C'est la hausse brutale qui n'a pas été absorbée.</a:t>
            </a:r>
          </a:p>
          <a:p>
            <a:pPr algn="l">
              <a:spcAft>
                <a:spcPts val="600"/>
              </a:spcAft>
            </a:pPr>
            <a:r>
              <a:rPr sz="1400" b="1">
                <a:solidFill>
                  <a:srgbClr val="D03B3B"/>
                </a:solidFill>
                <a:latin typeface="Calibri"/>
              </a:rPr>
              <a:t>Zéro franc au privé</a:t>
            </a:r>
          </a:p>
          <a:p>
            <a:pPr algn="l">
              <a:spcAft>
                <a:spcPts val="0"/>
              </a:spcAft>
            </a:pPr>
            <a:r>
              <a:rPr sz="1100" b="0">
                <a:solidFill>
                  <a:srgbClr val="475569"/>
                </a:solidFill>
                <a:latin typeface="Calibri"/>
              </a:rPr>
              <a:t>La subvention de l'État aux établissements privés du supérieur est nulle sur les six années documentées, alors que le privé porte 92 % du réseau. L'État a de fait sous-traité la massification sans contrepartie.</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7 · Constat 5 — pourquoi le chômage déclaré ne suffit pas</a:t>
            </a:r>
          </a:p>
          <a:p>
            <a:pPr algn="l">
              <a:spcAft>
                <a:spcPts val="0"/>
              </a:spcAft>
            </a:pPr>
            <a:r>
              <a:rPr sz="1300" b="0">
                <a:solidFill>
                  <a:srgbClr val="94A3B8"/>
                </a:solidFill>
                <a:latin typeface="Calibri"/>
              </a:rPr>
              <a:t>Ce que mesure vraiment un taux de chômage dans une économie informelle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463040"/>
            <a:ext cx="2651760" cy="1280160"/>
          </a:xfrm>
          <a:prstGeom prst="rect">
            <a:avLst/>
          </a:prstGeom>
          <a:noFill/>
        </p:spPr>
        <p:txBody>
          <a:bodyPr wrap="square">
            <a:spAutoFit/>
          </a:bodyPr>
          <a:lstStyle/>
          <a:p>
            <a:pPr algn="l">
              <a:spcAft>
                <a:spcPts val="200"/>
              </a:spcAft>
            </a:pPr>
            <a:r>
              <a:rPr sz="1100" b="0">
                <a:solidFill>
                  <a:srgbClr val="94A3B8"/>
                </a:solidFill>
                <a:latin typeface="Calibri"/>
              </a:rPr>
              <a:t>Chômage des diplômés (2022)</a:t>
            </a:r>
          </a:p>
          <a:p>
            <a:pPr algn="l">
              <a:spcAft>
                <a:spcPts val="200"/>
              </a:spcAft>
            </a:pPr>
            <a:r>
              <a:rPr sz="3200" b="1">
                <a:solidFill>
                  <a:srgbClr val="6366F1"/>
                </a:solidFill>
                <a:latin typeface="Calibri"/>
              </a:rPr>
              <a:t>7,1 %</a:t>
            </a:r>
          </a:p>
          <a:p>
            <a:pPr algn="l">
              <a:spcAft>
                <a:spcPts val="0"/>
              </a:spcAft>
            </a:pPr>
            <a:r>
              <a:rPr sz="1000" b="0">
                <a:solidFill>
                  <a:srgbClr val="475569"/>
                </a:solidFill>
                <a:latin typeface="Calibri"/>
              </a:rPr>
              <a:t>série Banque mondiale / OIT</a:t>
            </a:r>
          </a:p>
        </p:txBody>
      </p:sp>
      <p:sp>
        <p:nvSpPr>
          <p:cNvPr id="5" name="TextBox 4"/>
          <p:cNvSpPr txBox="1"/>
          <p:nvPr/>
        </p:nvSpPr>
        <p:spPr>
          <a:xfrm>
            <a:off x="3383280" y="1463040"/>
            <a:ext cx="2651760" cy="1280160"/>
          </a:xfrm>
          <a:prstGeom prst="rect">
            <a:avLst/>
          </a:prstGeom>
          <a:noFill/>
        </p:spPr>
        <p:txBody>
          <a:bodyPr wrap="square">
            <a:spAutoFit/>
          </a:bodyPr>
          <a:lstStyle/>
          <a:p>
            <a:pPr algn="l">
              <a:spcAft>
                <a:spcPts val="200"/>
              </a:spcAft>
            </a:pPr>
            <a:r>
              <a:rPr sz="1100" b="0">
                <a:solidFill>
                  <a:srgbClr val="94A3B8"/>
                </a:solidFill>
                <a:latin typeface="Calibri"/>
              </a:rPr>
              <a:t>Jeunes 18-35 ans sans emploi</a:t>
            </a:r>
          </a:p>
          <a:p>
            <a:pPr algn="l">
              <a:spcAft>
                <a:spcPts val="200"/>
              </a:spcAft>
            </a:pPr>
            <a:r>
              <a:rPr sz="3200" b="1">
                <a:solidFill>
                  <a:srgbClr val="D03B3B"/>
                </a:solidFill>
                <a:latin typeface="Calibri"/>
              </a:rPr>
              <a:t>46 %</a:t>
            </a:r>
          </a:p>
          <a:p>
            <a:pPr algn="l">
              <a:spcAft>
                <a:spcPts val="0"/>
              </a:spcAft>
            </a:pPr>
            <a:r>
              <a:rPr sz="1000" b="0">
                <a:solidFill>
                  <a:srgbClr val="475569"/>
                </a:solidFill>
                <a:latin typeface="Calibri"/>
              </a:rPr>
              <a:t>et en recherche active — Afrobarometer 2025</a:t>
            </a:r>
          </a:p>
        </p:txBody>
      </p:sp>
      <p:sp>
        <p:nvSpPr>
          <p:cNvPr id="6" name="TextBox 5"/>
          <p:cNvSpPr txBox="1"/>
          <p:nvPr/>
        </p:nvSpPr>
        <p:spPr>
          <a:xfrm>
            <a:off x="6217920" y="1463040"/>
            <a:ext cx="2651760" cy="1280160"/>
          </a:xfrm>
          <a:prstGeom prst="rect">
            <a:avLst/>
          </a:prstGeom>
          <a:noFill/>
        </p:spPr>
        <p:txBody>
          <a:bodyPr wrap="square">
            <a:spAutoFit/>
          </a:bodyPr>
          <a:lstStyle/>
          <a:p>
            <a:pPr algn="l">
              <a:spcAft>
                <a:spcPts val="200"/>
              </a:spcAft>
            </a:pPr>
            <a:r>
              <a:rPr sz="1100" b="0">
                <a:solidFill>
                  <a:srgbClr val="94A3B8"/>
                </a:solidFill>
                <a:latin typeface="Calibri"/>
              </a:rPr>
              <a:t>Taux de sous-emploi (2015)</a:t>
            </a:r>
          </a:p>
          <a:p>
            <a:pPr algn="l">
              <a:spcAft>
                <a:spcPts val="200"/>
              </a:spcAft>
            </a:pPr>
            <a:r>
              <a:rPr sz="3200" b="1">
                <a:solidFill>
                  <a:srgbClr val="D03B3B"/>
                </a:solidFill>
                <a:latin typeface="Calibri"/>
              </a:rPr>
              <a:t>24,9 %</a:t>
            </a:r>
          </a:p>
          <a:p>
            <a:pPr algn="l">
              <a:spcAft>
                <a:spcPts val="0"/>
              </a:spcAft>
            </a:pPr>
            <a:r>
              <a:rPr sz="1000" b="0">
                <a:solidFill>
                  <a:srgbClr val="475569"/>
                </a:solidFill>
                <a:latin typeface="Calibri"/>
              </a:rPr>
              <a:t>en hausse depuis 22,8 % en 2011 — INSEED</a:t>
            </a:r>
          </a:p>
        </p:txBody>
      </p:sp>
      <p:sp>
        <p:nvSpPr>
          <p:cNvPr id="7" name="TextBox 6"/>
          <p:cNvSpPr txBox="1"/>
          <p:nvPr/>
        </p:nvSpPr>
        <p:spPr>
          <a:xfrm>
            <a:off x="9052560" y="1463040"/>
            <a:ext cx="2560320" cy="1280160"/>
          </a:xfrm>
          <a:prstGeom prst="rect">
            <a:avLst/>
          </a:prstGeom>
          <a:noFill/>
        </p:spPr>
        <p:txBody>
          <a:bodyPr wrap="square">
            <a:spAutoFit/>
          </a:bodyPr>
          <a:lstStyle/>
          <a:p>
            <a:pPr algn="l">
              <a:spcAft>
                <a:spcPts val="200"/>
              </a:spcAft>
            </a:pPr>
            <a:r>
              <a:rPr sz="1100" b="0">
                <a:solidFill>
                  <a:srgbClr val="94A3B8"/>
                </a:solidFill>
                <a:latin typeface="Calibri"/>
              </a:rPr>
              <a:t>Part de l'emploi informel</a:t>
            </a:r>
          </a:p>
          <a:p>
            <a:pPr algn="l">
              <a:spcAft>
                <a:spcPts val="200"/>
              </a:spcAft>
            </a:pPr>
            <a:r>
              <a:rPr sz="3200" b="1">
                <a:solidFill>
                  <a:srgbClr val="D03B3B"/>
                </a:solidFill>
                <a:latin typeface="Calibri"/>
              </a:rPr>
              <a:t>~87 %</a:t>
            </a:r>
          </a:p>
          <a:p>
            <a:pPr algn="l">
              <a:spcAft>
                <a:spcPts val="0"/>
              </a:spcAft>
            </a:pPr>
            <a:r>
              <a:rPr sz="1000" b="0">
                <a:solidFill>
                  <a:srgbClr val="475569"/>
                </a:solidFill>
                <a:latin typeface="Calibri"/>
              </a:rPr>
              <a:t>INSEED</a:t>
            </a:r>
          </a:p>
        </p:txBody>
      </p:sp>
      <p:sp>
        <p:nvSpPr>
          <p:cNvPr id="8" name="TextBox 7"/>
          <p:cNvSpPr txBox="1"/>
          <p:nvPr/>
        </p:nvSpPr>
        <p:spPr>
          <a:xfrm>
            <a:off x="548640" y="3108960"/>
            <a:ext cx="11064240" cy="2926080"/>
          </a:xfrm>
          <a:prstGeom prst="rect">
            <a:avLst/>
          </a:prstGeom>
          <a:noFill/>
        </p:spPr>
        <p:txBody>
          <a:bodyPr wrap="square">
            <a:spAutoFit/>
          </a:bodyPr>
          <a:lstStyle/>
          <a:p>
            <a:pPr algn="l">
              <a:spcAft>
                <a:spcPts val="600"/>
              </a:spcAft>
            </a:pPr>
            <a:r>
              <a:rPr sz="1500" b="1">
                <a:solidFill>
                  <a:srgbClr val="0F172A"/>
                </a:solidFill>
                <a:latin typeface="Calibri"/>
              </a:rPr>
              <a:t>Le paradoxe apparent</a:t>
            </a:r>
          </a:p>
          <a:p>
            <a:pPr algn="l">
              <a:spcAft>
                <a:spcPts val="1400"/>
              </a:spcAft>
            </a:pPr>
            <a:r>
              <a:rPr sz="1200" b="0">
                <a:solidFill>
                  <a:srgbClr val="475569"/>
                </a:solidFill>
                <a:latin typeface="Calibri"/>
              </a:rPr>
              <a:t>Un chômage de 7,1 % suggérerait une insertion satisfaisante. Trois repères externes disent le contraire, et l'explication est structurelle : dans une économie informelle à près de 90 %, ne pas travailler n'est pas une option finançable. L'ajustement du marché du travail ne passe donc pas par le chômage déclaré mais par le sous-emploi et l'informalité.</a:t>
            </a:r>
          </a:p>
          <a:p>
            <a:pPr algn="l">
              <a:spcAft>
                <a:spcPts val="600"/>
              </a:spcAft>
            </a:pPr>
            <a:r>
              <a:rPr sz="1500" b="1">
                <a:solidFill>
                  <a:srgbClr val="0F172A"/>
                </a:solidFill>
                <a:latin typeface="Calibri"/>
              </a:rPr>
              <a:t>Conséquence pour le pilotage</a:t>
            </a:r>
          </a:p>
          <a:p>
            <a:pPr algn="l">
              <a:spcAft>
                <a:spcPts val="1400"/>
              </a:spcAft>
            </a:pPr>
            <a:r>
              <a:rPr sz="1200" b="0">
                <a:solidFill>
                  <a:srgbClr val="475569"/>
                </a:solidFill>
                <a:latin typeface="Calibri"/>
              </a:rPr>
              <a:t>Le taux de chômage mesure surtout qui peut se permettre de CHERCHER un emploi — pas la qualité de l'insertion. Une politique de formation doit donc suivre le sous-emploi, la formalité de l'emploi et l'adéquation poste/qualification : ce sont les seules variables sur lesquelles elle peut réellement agir.</a:t>
            </a:r>
          </a:p>
          <a:p>
            <a:pPr algn="l">
              <a:spcAft>
                <a:spcPts val="0"/>
              </a:spcAft>
            </a:pPr>
            <a:r>
              <a:rPr sz="1100" b="0">
                <a:solidFill>
                  <a:srgbClr val="94A3B8"/>
                </a:solidFill>
                <a:latin typeface="Calibri"/>
              </a:rPr>
              <a:t>Aucun test statistique ne relie accès et chômage sur ces données (p = 0,77, n = 5) : avec cinq points communs, la puissance est quasi nulle. Le test ne conclut rien — et c'est précisément ce qu'il faut retenir.</a:t>
            </a:r>
          </a:p>
        </p:txBody>
      </p:sp>
      <p:sp>
        <p:nvSpPr>
          <p:cNvPr id="9" name="TextBox 8"/>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8 · Recommandations — 26 leviers, 5 axes</a:t>
            </a:r>
          </a:p>
          <a:p>
            <a:pPr algn="l">
              <a:spcAft>
                <a:spcPts val="0"/>
              </a:spcAft>
            </a:pPr>
            <a:r>
              <a:rPr sz="1300" b="0">
                <a:solidFill>
                  <a:srgbClr val="94A3B8"/>
                </a:solidFill>
                <a:latin typeface="Calibri"/>
              </a:rPr>
              <a:t>Sélection par axe ; chaque levier part d'un constat chiffré et renvoie à la vue qui l'établit</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508760"/>
            <a:ext cx="3657600" cy="2286000"/>
          </a:xfrm>
          <a:prstGeom prst="rect">
            <a:avLst/>
          </a:prstGeom>
          <a:noFill/>
        </p:spPr>
        <p:txBody>
          <a:bodyPr wrap="square">
            <a:spAutoFit/>
          </a:bodyPr>
          <a:lstStyle/>
          <a:p>
            <a:pPr algn="l">
              <a:spcAft>
                <a:spcPts val="500"/>
              </a:spcAft>
            </a:pPr>
            <a:r>
              <a:rPr sz="1200" b="1">
                <a:solidFill>
                  <a:srgbClr val="006A4E"/>
                </a:solidFill>
                <a:latin typeface="Calibri"/>
              </a:rPr>
              <a:t>TERRITOIRE</a:t>
            </a:r>
          </a:p>
          <a:p>
            <a:pPr algn="l">
              <a:spcAft>
                <a:spcPts val="400"/>
              </a:spcAft>
            </a:pPr>
            <a:r>
              <a:rPr sz="1000" b="0">
                <a:solidFill>
                  <a:srgbClr val="475569"/>
                </a:solidFill>
                <a:latin typeface="Calibri"/>
              </a:rPr>
              <a:t>• Conditionner les ouvertures à un critère de couverture préfectorale</a:t>
            </a:r>
          </a:p>
          <a:p>
            <a:pPr algn="l">
              <a:spcAft>
                <a:spcPts val="400"/>
              </a:spcAft>
            </a:pPr>
            <a:r>
              <a:rPr sz="1000" b="0">
                <a:solidFill>
                  <a:srgbClr val="475569"/>
                </a:solidFill>
                <a:latin typeface="Calibri"/>
              </a:rPr>
              <a:t>• Cibler les Savanes : pôle technique public de plein exercice</a:t>
            </a:r>
          </a:p>
          <a:p>
            <a:pPr algn="l">
              <a:spcAft>
                <a:spcPts val="400"/>
              </a:spcAft>
            </a:pPr>
            <a:r>
              <a:rPr sz="1000" b="0">
                <a:solidFill>
                  <a:srgbClr val="475569"/>
                </a:solidFill>
                <a:latin typeface="Calibri"/>
              </a:rPr>
              <a:t>• Consolider l'inflexion 2020-2021 par un objectif chiffré pluriannuel</a:t>
            </a:r>
          </a:p>
          <a:p>
            <a:pPr algn="l">
              <a:spcAft>
                <a:spcPts val="400"/>
              </a:spcAft>
            </a:pPr>
            <a:r>
              <a:rPr sz="1000" b="0">
                <a:solidFill>
                  <a:srgbClr val="475569"/>
                </a:solidFill>
                <a:latin typeface="Calibri"/>
              </a:rPr>
              <a:t>• Raisonner en temps d'accès (bassin) plutôt qu'en nombre par région</a:t>
            </a:r>
          </a:p>
        </p:txBody>
      </p:sp>
      <p:sp>
        <p:nvSpPr>
          <p:cNvPr id="5" name="TextBox 4"/>
          <p:cNvSpPr txBox="1"/>
          <p:nvPr/>
        </p:nvSpPr>
        <p:spPr>
          <a:xfrm>
            <a:off x="4434840" y="1508760"/>
            <a:ext cx="3657600" cy="2286000"/>
          </a:xfrm>
          <a:prstGeom prst="rect">
            <a:avLst/>
          </a:prstGeom>
          <a:noFill/>
        </p:spPr>
        <p:txBody>
          <a:bodyPr wrap="square">
            <a:spAutoFit/>
          </a:bodyPr>
          <a:lstStyle/>
          <a:p>
            <a:pPr algn="l">
              <a:spcAft>
                <a:spcPts val="500"/>
              </a:spcAft>
            </a:pPr>
            <a:r>
              <a:rPr sz="1200" b="1">
                <a:solidFill>
                  <a:srgbClr val="6366F1"/>
                </a:solidFill>
                <a:latin typeface="Calibri"/>
              </a:rPr>
              <a:t>FINANCEMENT</a:t>
            </a:r>
          </a:p>
          <a:p>
            <a:pPr algn="l">
              <a:spcAft>
                <a:spcPts val="400"/>
              </a:spcAft>
            </a:pPr>
            <a:r>
              <a:rPr sz="1000" b="0">
                <a:solidFill>
                  <a:srgbClr val="475569"/>
                </a:solidFill>
                <a:latin typeface="Calibri"/>
              </a:rPr>
              <a:t>• Étaler les hausses de crédits sur deux exercices</a:t>
            </a:r>
          </a:p>
          <a:p>
            <a:pPr algn="l">
              <a:spcAft>
                <a:spcPts val="400"/>
              </a:spcAft>
            </a:pPr>
            <a:r>
              <a:rPr sz="1000" b="0">
                <a:solidFill>
                  <a:srgbClr val="475569"/>
                </a:solidFill>
                <a:latin typeface="Calibri"/>
              </a:rPr>
              <a:t>• Indexer la dépense par étudiant sur les effectifs réels</a:t>
            </a:r>
          </a:p>
          <a:p>
            <a:pPr algn="l">
              <a:spcAft>
                <a:spcPts val="400"/>
              </a:spcAft>
            </a:pPr>
            <a:r>
              <a:rPr sz="1000" b="0">
                <a:solidFill>
                  <a:srgbClr val="475569"/>
                </a:solidFill>
                <a:latin typeface="Calibri"/>
              </a:rPr>
              <a:t>• Trancher la position vis-à-vis du privé : subvention conditionnée ou offre publique</a:t>
            </a:r>
          </a:p>
          <a:p>
            <a:pPr algn="l">
              <a:spcAft>
                <a:spcPts val="400"/>
              </a:spcAft>
            </a:pPr>
            <a:r>
              <a:rPr sz="1000" b="0">
                <a:solidFill>
                  <a:srgbClr val="475569"/>
                </a:solidFill>
                <a:latin typeface="Calibri"/>
              </a:rPr>
              <a:t>• Publier les taux d'exécution par ministère en donnée ouverte</a:t>
            </a:r>
          </a:p>
        </p:txBody>
      </p:sp>
      <p:sp>
        <p:nvSpPr>
          <p:cNvPr id="6" name="TextBox 5"/>
          <p:cNvSpPr txBox="1"/>
          <p:nvPr/>
        </p:nvSpPr>
        <p:spPr>
          <a:xfrm>
            <a:off x="8321040" y="1508760"/>
            <a:ext cx="3657600" cy="2286000"/>
          </a:xfrm>
          <a:prstGeom prst="rect">
            <a:avLst/>
          </a:prstGeom>
          <a:noFill/>
        </p:spPr>
        <p:txBody>
          <a:bodyPr wrap="square">
            <a:spAutoFit/>
          </a:bodyPr>
          <a:lstStyle/>
          <a:p>
            <a:pPr algn="l">
              <a:spcAft>
                <a:spcPts val="500"/>
              </a:spcAft>
            </a:pPr>
            <a:r>
              <a:rPr sz="1200" b="1">
                <a:solidFill>
                  <a:srgbClr val="EB6834"/>
                </a:solidFill>
                <a:latin typeface="Calibri"/>
              </a:rPr>
              <a:t>QUALITÉ DE L'OFFRE</a:t>
            </a:r>
          </a:p>
          <a:p>
            <a:pPr algn="l">
              <a:spcAft>
                <a:spcPts val="400"/>
              </a:spcAft>
            </a:pPr>
            <a:r>
              <a:rPr sz="1000" b="0">
                <a:solidFill>
                  <a:srgbClr val="475569"/>
                </a:solidFill>
                <a:latin typeface="Calibri"/>
              </a:rPr>
              <a:t>• Socle minimal d'équipements opposable au renouvellement d'agrément</a:t>
            </a:r>
          </a:p>
          <a:p>
            <a:pPr algn="l">
              <a:spcAft>
                <a:spcPts val="400"/>
              </a:spcAft>
            </a:pPr>
            <a:r>
              <a:rPr sz="1000" b="0">
                <a:solidFill>
                  <a:srgbClr val="475569"/>
                </a:solidFill>
                <a:latin typeface="Calibri"/>
              </a:rPr>
              <a:t>• Sécuriser le foncier des établissements assurant un service en zone peu couverte</a:t>
            </a:r>
          </a:p>
          <a:p>
            <a:pPr algn="l">
              <a:spcAft>
                <a:spcPts val="400"/>
              </a:spcAft>
            </a:pPr>
            <a:r>
              <a:rPr sz="1000" b="0">
                <a:solidFill>
                  <a:srgbClr val="475569"/>
                </a:solidFill>
                <a:latin typeface="Calibri"/>
              </a:rPr>
              <a:t>• Étendre l'amplitude d'ouverture dans les établissements saturés</a:t>
            </a:r>
          </a:p>
          <a:p>
            <a:pPr algn="l">
              <a:spcAft>
                <a:spcPts val="400"/>
              </a:spcAft>
            </a:pPr>
            <a:r>
              <a:rPr sz="1000" b="0">
                <a:solidFill>
                  <a:srgbClr val="475569"/>
                </a:solidFill>
                <a:latin typeface="Calibri"/>
              </a:rPr>
              <a:t>• Imposer un référentiel national de métiers dans les déclarations</a:t>
            </a:r>
          </a:p>
        </p:txBody>
      </p:sp>
      <p:sp>
        <p:nvSpPr>
          <p:cNvPr id="7" name="TextBox 6"/>
          <p:cNvSpPr txBox="1"/>
          <p:nvPr/>
        </p:nvSpPr>
        <p:spPr>
          <a:xfrm>
            <a:off x="548640" y="3886200"/>
            <a:ext cx="3657600" cy="2286000"/>
          </a:xfrm>
          <a:prstGeom prst="rect">
            <a:avLst/>
          </a:prstGeom>
          <a:noFill/>
        </p:spPr>
        <p:txBody>
          <a:bodyPr wrap="square">
            <a:spAutoFit/>
          </a:bodyPr>
          <a:lstStyle/>
          <a:p>
            <a:pPr algn="l">
              <a:spcAft>
                <a:spcPts val="500"/>
              </a:spcAft>
            </a:pPr>
            <a:r>
              <a:rPr sz="1200" b="1">
                <a:solidFill>
                  <a:srgbClr val="2A78D6"/>
                </a:solidFill>
                <a:latin typeface="Calibri"/>
              </a:rPr>
              <a:t>RÉSEAU DU SUPÉRIEUR</a:t>
            </a:r>
          </a:p>
          <a:p>
            <a:pPr algn="l">
              <a:spcAft>
                <a:spcPts val="400"/>
              </a:spcAft>
            </a:pPr>
            <a:r>
              <a:rPr sz="1000" b="0">
                <a:solidFill>
                  <a:srgbClr val="475569"/>
                </a:solidFill>
                <a:latin typeface="Calibri"/>
              </a:rPr>
              <a:t>• Antennes universitaires adossées aux pôles techniques existants</a:t>
            </a:r>
          </a:p>
          <a:p>
            <a:pPr algn="l">
              <a:spcAft>
                <a:spcPts val="400"/>
              </a:spcAft>
            </a:pPr>
            <a:r>
              <a:rPr sz="1000" b="0">
                <a:solidFill>
                  <a:srgbClr val="475569"/>
                </a:solidFill>
                <a:latin typeface="Calibri"/>
              </a:rPr>
              <a:t>• Au moins un établissement public du supérieur par région</a:t>
            </a:r>
          </a:p>
          <a:p>
            <a:pPr algn="l">
              <a:spcAft>
                <a:spcPts val="400"/>
              </a:spcAft>
            </a:pPr>
            <a:r>
              <a:rPr sz="1000" b="0">
                <a:solidFill>
                  <a:srgbClr val="475569"/>
                </a:solidFill>
                <a:latin typeface="Calibri"/>
              </a:rPr>
              <a:t>• Publier les frais de scolarité moyens par type et par ville</a:t>
            </a:r>
          </a:p>
          <a:p>
            <a:pPr algn="l">
              <a:spcAft>
                <a:spcPts val="400"/>
              </a:spcAft>
            </a:pPr>
            <a:r>
              <a:rPr sz="1000" b="0">
                <a:solidFill>
                  <a:srgbClr val="475569"/>
                </a:solidFill>
                <a:latin typeface="Calibri"/>
              </a:rPr>
              <a:t>• Ouvrir les filières scientifiques aux femmes : 51,5 % du supérieur, 15,6 % du scientifique</a:t>
            </a:r>
          </a:p>
        </p:txBody>
      </p:sp>
      <p:sp>
        <p:nvSpPr>
          <p:cNvPr id="8" name="TextBox 7"/>
          <p:cNvSpPr txBox="1"/>
          <p:nvPr/>
        </p:nvSpPr>
        <p:spPr>
          <a:xfrm>
            <a:off x="4434840" y="3886200"/>
            <a:ext cx="3657600" cy="2286000"/>
          </a:xfrm>
          <a:prstGeom prst="rect">
            <a:avLst/>
          </a:prstGeom>
          <a:noFill/>
        </p:spPr>
        <p:txBody>
          <a:bodyPr wrap="square">
            <a:spAutoFit/>
          </a:bodyPr>
          <a:lstStyle/>
          <a:p>
            <a:pPr algn="l">
              <a:spcAft>
                <a:spcPts val="500"/>
              </a:spcAft>
            </a:pPr>
            <a:r>
              <a:rPr sz="1200" b="1">
                <a:solidFill>
                  <a:srgbClr val="D03B3B"/>
                </a:solidFill>
                <a:latin typeface="Calibri"/>
              </a:rPr>
              <a:t>DONNÉES</a:t>
            </a:r>
          </a:p>
          <a:p>
            <a:pPr algn="l">
              <a:spcAft>
                <a:spcPts val="400"/>
              </a:spcAft>
            </a:pPr>
            <a:r>
              <a:rPr sz="1000" b="0">
                <a:solidFill>
                  <a:srgbClr val="475569"/>
                </a:solidFill>
                <a:latin typeface="Calibri"/>
              </a:rPr>
              <a:t>• Republier les 201 champs déjà collectés du recensement technique</a:t>
            </a:r>
          </a:p>
          <a:p>
            <a:pPr algn="l">
              <a:spcAft>
                <a:spcPts val="400"/>
              </a:spcAft>
            </a:pPr>
            <a:r>
              <a:rPr sz="1000" b="0">
                <a:solidFill>
                  <a:srgbClr val="475569"/>
                </a:solidFill>
                <a:latin typeface="Calibri"/>
              </a:rPr>
              <a:t>• Identifiant établissement unique et pérenne, partagé et publié</a:t>
            </a:r>
          </a:p>
          <a:p>
            <a:pPr algn="l">
              <a:spcAft>
                <a:spcPts val="400"/>
              </a:spcAft>
            </a:pPr>
            <a:r>
              <a:rPr sz="1000" b="0">
                <a:solidFill>
                  <a:srgbClr val="475569"/>
                </a:solidFill>
                <a:latin typeface="Calibri"/>
              </a:rPr>
              <a:t>• Enquête d'insertion par établissement, filière et sexe</a:t>
            </a:r>
          </a:p>
          <a:p>
            <a:pPr algn="l">
              <a:spcAft>
                <a:spcPts val="400"/>
              </a:spcAft>
            </a:pPr>
            <a:r>
              <a:rPr sz="1000" b="0">
                <a:solidFill>
                  <a:srgbClr val="475569"/>
                </a:solidFill>
                <a:latin typeface="Calibri"/>
              </a:rPr>
              <a:t>• Aligner les périodes de collecte et publier les dates de référence</a:t>
            </a:r>
          </a:p>
        </p:txBody>
      </p:sp>
      <p:sp>
        <p:nvSpPr>
          <p:cNvPr id="9" name="TextBox 8"/>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lgn="l">
              <a:spcAft>
                <a:spcPts val="200"/>
              </a:spcAft>
            </a:pPr>
            <a:r>
              <a:rPr sz="2600" b="1">
                <a:solidFill>
                  <a:srgbClr val="0F172A"/>
                </a:solidFill>
                <a:latin typeface="Calibri"/>
              </a:rPr>
              <a:t>9 · Conclusion</a:t>
            </a:r>
          </a:p>
          <a:p>
            <a:pPr algn="l">
              <a:spcAft>
                <a:spcPts val="0"/>
              </a:spcAft>
            </a:pPr>
            <a:r>
              <a:rPr sz="1300" b="0">
                <a:solidFill>
                  <a:srgbClr val="94A3B8"/>
                </a:solidFill>
                <a:latin typeface="Calibri"/>
              </a:rPr>
              <a:t>Réponse à la question posée, et limites de cette réponse</a:t>
            </a:r>
          </a:p>
        </p:txBody>
      </p:sp>
      <p:sp>
        <p:nvSpPr>
          <p:cNvPr id="3" name="TextBox 2"/>
          <p:cNvSpPr txBox="1"/>
          <p:nvPr/>
        </p:nvSpPr>
        <p:spPr>
          <a:xfrm>
            <a:off x="548640" y="1207008"/>
            <a:ext cx="11064240" cy="27432"/>
          </a:xfrm>
          <a:prstGeom prst="rect">
            <a:avLst/>
          </a:prstGeom>
          <a:solidFill>
            <a:srgbClr val="6366F1"/>
          </a:solidFill>
          <a:ln>
            <a:noFill/>
          </a:ln>
        </p:spPr>
        <p:txBody>
          <a:bodyPr wrap="none">
            <a:spAutoFit/>
          </a:bodyPr>
          <a:lstStyle/>
          <a:p/>
        </p:txBody>
      </p:sp>
      <p:sp>
        <p:nvSpPr>
          <p:cNvPr id="4" name="TextBox 3"/>
          <p:cNvSpPr txBox="1"/>
          <p:nvPr/>
        </p:nvSpPr>
        <p:spPr>
          <a:xfrm>
            <a:off x="548640" y="1463040"/>
            <a:ext cx="5486400" cy="4663440"/>
          </a:xfrm>
          <a:prstGeom prst="rect">
            <a:avLst/>
          </a:prstGeom>
          <a:noFill/>
        </p:spPr>
        <p:txBody>
          <a:bodyPr wrap="square">
            <a:spAutoFit/>
          </a:bodyPr>
          <a:lstStyle/>
          <a:p>
            <a:pPr algn="l">
              <a:spcAft>
                <a:spcPts val="1000"/>
              </a:spcAft>
            </a:pPr>
            <a:r>
              <a:rPr sz="1600" b="1">
                <a:solidFill>
                  <a:srgbClr val="0F172A"/>
                </a:solidFill>
                <a:latin typeface="Calibri"/>
              </a:rPr>
              <a:t>L'alignement n'est pas réalisé</a:t>
            </a:r>
          </a:p>
          <a:p>
            <a:pPr algn="l">
              <a:spcAft>
                <a:spcPts val="300"/>
              </a:spcAft>
            </a:pPr>
            <a:r>
              <a:rPr sz="1300" b="1">
                <a:solidFill>
                  <a:srgbClr val="D03B3B"/>
                </a:solidFill>
                <a:latin typeface="Calibri"/>
              </a:rPr>
              <a:t>Territorial</a:t>
            </a:r>
          </a:p>
          <a:p>
            <a:pPr algn="l">
              <a:spcAft>
                <a:spcPts val="1200"/>
              </a:spcAft>
            </a:pPr>
            <a:r>
              <a:rPr sz="1100" b="0">
                <a:solidFill>
                  <a:srgbClr val="475569"/>
                </a:solidFill>
                <a:latin typeface="Calibri"/>
              </a:rPr>
              <a:t>60 % des établissements techniques dans une région, 78 % du supérieur dans une ville. La concentration s'est reproduite à chaque décennie.</a:t>
            </a:r>
          </a:p>
          <a:p>
            <a:pPr algn="l">
              <a:spcAft>
                <a:spcPts val="300"/>
              </a:spcAft>
            </a:pPr>
            <a:r>
              <a:rPr sz="1300" b="1">
                <a:solidFill>
                  <a:srgbClr val="D03B3B"/>
                </a:solidFill>
                <a:latin typeface="Calibri"/>
              </a:rPr>
              <a:t>Financier</a:t>
            </a:r>
          </a:p>
          <a:p>
            <a:pPr algn="l">
              <a:spcAft>
                <a:spcPts val="1200"/>
              </a:spcAft>
            </a:pPr>
            <a:r>
              <a:rPr sz="1100" b="0">
                <a:solidFill>
                  <a:srgbClr val="475569"/>
                </a:solidFill>
                <a:latin typeface="Calibri"/>
              </a:rPr>
              <a:t>Le problème n'est pas l'incapacité à dépenser — le supérieur exécute mieux que l'État — mais le décrochage de la dépense par étudiant, à enveloppe globale quasi constante.</a:t>
            </a:r>
          </a:p>
          <a:p>
            <a:pPr algn="l">
              <a:spcAft>
                <a:spcPts val="300"/>
              </a:spcAft>
            </a:pPr>
            <a:r>
              <a:rPr sz="1300" b="1">
                <a:solidFill>
                  <a:srgbClr val="94A3B8"/>
                </a:solidFill>
                <a:latin typeface="Calibri"/>
              </a:rPr>
              <a:t>Insertion</a:t>
            </a:r>
          </a:p>
          <a:p>
            <a:pPr algn="l">
              <a:spcAft>
                <a:spcPts val="1200"/>
              </a:spcAft>
            </a:pPr>
            <a:r>
              <a:rPr sz="1100" b="0">
                <a:solidFill>
                  <a:srgbClr val="475569"/>
                </a:solidFill>
                <a:latin typeface="Calibri"/>
              </a:rPr>
              <a:t>On ne peut pas conclure. Le seul indicateur est national, sans ventilation par filière ni région, et il mesure mal ce qu'il prétend mesurer dans une économie informelle.</a:t>
            </a:r>
          </a:p>
        </p:txBody>
      </p:sp>
      <p:sp>
        <p:nvSpPr>
          <p:cNvPr id="5" name="TextBox 4"/>
          <p:cNvSpPr txBox="1"/>
          <p:nvPr/>
        </p:nvSpPr>
        <p:spPr>
          <a:xfrm>
            <a:off x="6400800" y="1463040"/>
            <a:ext cx="5212080" cy="4663440"/>
          </a:xfrm>
          <a:prstGeom prst="rect">
            <a:avLst/>
          </a:prstGeom>
          <a:noFill/>
        </p:spPr>
        <p:txBody>
          <a:bodyPr wrap="square">
            <a:spAutoFit/>
          </a:bodyPr>
          <a:lstStyle/>
          <a:p>
            <a:pPr algn="l">
              <a:spcAft>
                <a:spcPts val="800"/>
              </a:spcAft>
            </a:pPr>
            <a:r>
              <a:rPr sz="1600" b="1">
                <a:solidFill>
                  <a:srgbClr val="0F172A"/>
                </a:solidFill>
                <a:latin typeface="Calibri"/>
              </a:rPr>
              <a:t>Ce que ce travail ne peut pas établir</a:t>
            </a:r>
          </a:p>
          <a:p>
            <a:pPr algn="l">
              <a:spcAft>
                <a:spcPts val="600"/>
              </a:spcAft>
            </a:pPr>
            <a:r>
              <a:rPr sz="1100" b="0">
                <a:solidFill>
                  <a:srgbClr val="475569"/>
                </a:solidFill>
                <a:latin typeface="Calibri"/>
              </a:rPr>
              <a:t>• Le taux d'insertion par filière de formation technique</a:t>
            </a:r>
          </a:p>
          <a:p>
            <a:pPr algn="l">
              <a:spcAft>
                <a:spcPts val="600"/>
              </a:spcAft>
            </a:pPr>
            <a:r>
              <a:rPr sz="1100" b="0">
                <a:solidFill>
                  <a:srgbClr val="475569"/>
                </a:solidFill>
                <a:latin typeface="Calibri"/>
              </a:rPr>
              <a:t>• Le chômage par région, seul capable de relier offre locale et emploi local</a:t>
            </a:r>
          </a:p>
          <a:p>
            <a:pPr algn="l">
              <a:spcAft>
                <a:spcPts val="600"/>
              </a:spcAft>
            </a:pPr>
            <a:r>
              <a:rPr sz="1100" b="0">
                <a:solidFill>
                  <a:srgbClr val="475569"/>
                </a:solidFill>
                <a:latin typeface="Calibri"/>
              </a:rPr>
              <a:t>• Le devenir des sortants, faute d'identifiant commun entre les fichiers</a:t>
            </a:r>
          </a:p>
          <a:p>
            <a:pPr algn="l">
              <a:spcAft>
                <a:spcPts val="600"/>
              </a:spcAft>
            </a:pPr>
            <a:r>
              <a:rPr sz="1100" b="0">
                <a:solidFill>
                  <a:srgbClr val="475569"/>
                </a:solidFill>
                <a:latin typeface="Calibri"/>
              </a:rPr>
              <a:t>• Les effectifs et l'encadrement de la formation technique : 201 des 216 champs</a:t>
            </a:r>
          </a:p>
          <a:p>
            <a:pPr algn="l">
              <a:spcAft>
                <a:spcPts val="600"/>
              </a:spcAft>
            </a:pPr>
            <a:r>
              <a:rPr sz="1100" b="0">
                <a:solidFill>
                  <a:srgbClr val="475569"/>
                </a:solidFill>
                <a:latin typeface="Calibri"/>
              </a:rPr>
              <a:t>   décrits au questionnaire ne sont pas publiés</a:t>
            </a:r>
          </a:p>
          <a:p>
            <a:pPr algn="l">
              <a:spcAft>
                <a:spcPts val="800"/>
              </a:spcAft>
            </a:pPr>
            <a:r>
              <a:rPr sz="600" b="0">
                <a:solidFill>
                  <a:srgbClr val="0F172A"/>
                </a:solidFill>
                <a:latin typeface="Calibri"/>
              </a:rPr>
              <a:t/>
            </a:r>
          </a:p>
          <a:p>
            <a:pPr algn="l">
              <a:spcAft>
                <a:spcPts val="800"/>
              </a:spcAft>
            </a:pPr>
            <a:r>
              <a:rPr sz="1600" b="1">
                <a:solidFill>
                  <a:srgbClr val="6366F1"/>
                </a:solidFill>
                <a:latin typeface="Calibri"/>
              </a:rPr>
              <a:t>La première décision est informationnelle</a:t>
            </a:r>
          </a:p>
          <a:p>
            <a:pPr algn="l">
              <a:spcAft>
                <a:spcPts val="0"/>
              </a:spcAft>
            </a:pPr>
            <a:r>
              <a:rPr sz="1200" b="0">
                <a:solidFill>
                  <a:srgbClr val="475569"/>
                </a:solidFill>
                <a:latin typeface="Calibri"/>
              </a:rPr>
              <a:t>Sans identifiant établissement commun aux référentiels et sans enquête d'insertion par filière, aucune politique d'adéquation formation-emploi ne peut être ni ciblée ni évaluée. Tout le reste en découle — c'est la recommandation la plus structurante de ce travail.</a:t>
            </a:r>
          </a:p>
        </p:txBody>
      </p:sp>
      <p:sp>
        <p:nvSpPr>
          <p:cNvPr id="6" name="TextBox 5"/>
          <p:cNvSpPr txBox="1"/>
          <p:nvPr/>
        </p:nvSpPr>
        <p:spPr>
          <a:xfrm>
            <a:off x="548640" y="6355080"/>
            <a:ext cx="11064240" cy="320040"/>
          </a:xfrm>
          <a:prstGeom prst="rect">
            <a:avLst/>
          </a:prstGeom>
          <a:noFill/>
        </p:spPr>
        <p:txBody>
          <a:bodyPr wrap="none">
            <a:spAutoFit/>
          </a:bodyPr>
          <a:lstStyle/>
          <a:p>
            <a:r>
              <a:rPr sz="900">
                <a:solidFill>
                  <a:srgbClr val="94A3B8"/>
                </a:solidFill>
                <a:latin typeface="Calibri"/>
              </a:rPr>
              <a:t>Formation &amp; Emploi · Togo   |   Data AI Lab   |   Réalisé par Kokou PIPI   |   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