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Part de la population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 de la population (%)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moins d'1 km</c:v>
                </c:pt>
                <c:pt idx="1">
                  <c:v>moins de 2,5 km</c:v>
                </c:pt>
                <c:pt idx="2">
                  <c:v>moins de 5 km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</c:v>
                </c:pt>
                <c:pt idx="1">
                  <c:v>18.3</c:v>
                </c:pt>
                <c:pt idx="2">
                  <c:v>32.3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Ouvrages dotés d'un plan de maintenance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Ouvrages dotés d'un plan de maintenance (%)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Kara</c:v>
                </c:pt>
                <c:pt idx="1">
                  <c:v>Centrale</c:v>
                </c:pt>
                <c:pt idx="2">
                  <c:v>Savanes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46.2</c:v>
                </c:pt>
                <c:pt idx="2">
                  <c:v>13.5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Habitants par ouvrage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Habitants par ouvrage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Savanes</c:v>
                </c:pt>
                <c:pt idx="1">
                  <c:v>Maritime</c:v>
                </c:pt>
                <c:pt idx="2">
                  <c:v>Centrale</c:v>
                </c:pt>
                <c:pt idx="3">
                  <c:v>Kara</c:v>
                </c:pt>
                <c:pt idx="4">
                  <c:v>Plateaux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6819.0</c:v>
                </c:pt>
                <c:pt idx="1">
                  <c:v>55229.0</c:v>
                </c:pt>
                <c:pt idx="2">
                  <c:v>56629.0</c:v>
                </c:pt>
                <c:pt idx="3">
                  <c:v>75843.0</c:v>
                </c:pt>
                <c:pt idx="4">
                  <c:v>1669612.0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Habitants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Habitants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Très faible</c:v>
                </c:pt>
                <c:pt idx="1">
                  <c:v>Faible</c:v>
                </c:pt>
                <c:pt idx="2">
                  <c:v>Moyen</c:v>
                </c:pt>
                <c:pt idx="3">
                  <c:v>Élevé</c:v>
                </c:pt>
                <c:pt idx="4">
                  <c:v>Très élevé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2617158.795981</c:v>
                </c:pt>
                <c:pt idx="1">
                  <c:v>1407393.465593</c:v>
                </c:pt>
                <c:pt idx="2">
                  <c:v>1261759.334223</c:v>
                </c:pt>
                <c:pt idx="3">
                  <c:v>1261054.122871</c:v>
                </c:pt>
                <c:pt idx="4">
                  <c:v>1621781.918737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FCFA par bénéficiaire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FCFA par bénéficiaire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Q1 — moins desservis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 — plus desservis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63056.0</c:v>
                </c:pt>
                <c:pt idx="1">
                  <c:v>31215.0</c:v>
                </c:pt>
                <c:pt idx="2">
                  <c:v>22195.0</c:v>
                </c:pt>
                <c:pt idx="3">
                  <c:v>13130.0</c:v>
                </c:pt>
                <c:pt idx="4">
                  <c:v>7072.0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Ouvrages à construire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Ouvrages à construire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1 pour 300 hab.</c:v>
                </c:pt>
                <c:pt idx="1">
                  <c:v>1 pour 1 000 hab.</c:v>
                </c:pt>
                <c:pt idx="2">
                  <c:v>1 pour 5 000 hab.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26949</c:v>
                </c:pt>
                <c:pt idx="1">
                  <c:v>7886</c:v>
                </c:pt>
                <c:pt idx="2">
                  <c:v>1350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Milliards de FCFA par an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Milliards de FCFA par an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2027</c:v>
                </c:pt>
                <c:pt idx="1">
                  <c:v>2028</c:v>
                </c:pt>
                <c:pt idx="2">
                  <c:v>2029</c:v>
                </c:pt>
                <c:pt idx="3">
                  <c:v>2030</c:v>
                </c:pt>
                <c:pt idx="4">
                  <c:v>2031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5.46</c:v>
                </c:pt>
                <c:pt idx="1">
                  <c:v>5.53</c:v>
                </c:pt>
                <c:pt idx="2">
                  <c:v>5.49</c:v>
                </c:pt>
                <c:pt idx="3">
                  <c:v>5.54</c:v>
                </c:pt>
                <c:pt idx="4">
                  <c:v>5.54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475569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0F172A"/>
                </a:solidFill>
                <a:latin typeface="Calibri"/>
              </a:rPr>
              <a:t>L'eau que le Togo ne compte pas</a:t>
            </a:r>
          </a:p>
          <a:p>
            <a:pPr algn="l">
              <a:spcAft>
                <a:spcPts val="22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Accès à l'eau potable, risque d'inondation et allocation des ouvrages · Data Challenge Environnement</a:t>
            </a:r>
          </a:p>
          <a:p>
            <a:pPr algn="l">
              <a:spcAft>
                <a:spcPts val="2600"/>
              </a:spcAft>
            </a:pPr>
            <a:r>
              <a:rPr sz="1300" b="0">
                <a:solidFill>
                  <a:srgbClr val="0F172A"/>
                </a:solidFill>
                <a:latin typeface="Calibri"/>
              </a:rPr>
              <a:t>388 cantons cartographiés, et 26 kilomètres en médiane jusqu'à l'ouvrage recensé le plus proche. Quatre pour cent des cantons abritent 35 % de la population exposée, et l'inventaire national ne les couvre pas.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Calibri"/>
              </a:rPr>
              <a:t>Réalisé par Kokou PIPI · Données ouvertes du Togo — opendata.gouv.tg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2 · Données, nettoyage, démarche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Sept ressources exploitées, une clé de jointure, et ce qu'on a refusé de faire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Jeux chargés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6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six jeux nettoyés, à partir de sept ressources chargées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6916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Cantons du référentiel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388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la seule maille exhaustive du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Ouvrages recensés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285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deux inventaires disjoints, jamais additionnés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1691640"/>
            <a:ext cx="2651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Champs TdE publiés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7 / 33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sur ceux que son dictionnaire décrit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La clé de jointure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Sur quoi relier trois producteurs différents 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Le nom de canton, normalisé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Aucun identifiant commun n'existe entre les jeux. Le nom normalisé rattache 67 ouvrages TdE sur 67 et 191 microprojets COSO sur 218 — les 27 restants sont conservés et comptés, jamais rattachés au hasard.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20040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Les zéros sont la donnée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Que faire des cantons sans ouvrage 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Jointure gauche, systématiquement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Une jointure interne les ferait disparaître, et le tableau de bord montrerait un pays entièrement équipé. C'est l'absence qui porte le constat.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20040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Ce qu'on n'a pas fait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Quelles tentations écartées 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Aucun total national d'ouvrages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Les deux parcs couvrent des territoires disjoints — 97 % des TdE en Maritime, les COSO au Nord. Les additionner fabriquerait un inventaire qui n'existe pas.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Accès à l'eau potable au Togo ·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3 · Où est l'eau, et à quelle distance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Population atteinte selon la distance à l'ouvrage recensé le plus proche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8288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Distance médiane à l'eau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26 km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d'un canton à l'ouvrage recensé le plus proche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2004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Cantons à plus de 10 km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288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53 % de la population du pays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5720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Ce que la distance mesure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Pays mal couvert, ou mal recensé 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R = 0,41 — les ouvrages sont agglomérés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L'indice de Clark-Evans vaut 1 quand des points sont répartis au hasard ; sous 0,5, ils sont massés. Cette distance mesure donc autant l'inventaire que le service : un canton sans ouvrage recensé n'est pas un canton sans eau, c'est un canton dont personne ne publie l'eau.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Accès à l'eau potable au Togo · 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4 · L'état des ouvrages : le champ qui manque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Aucun état de fonctionnement dans le corpus — deux substituts, et ce qu'ils ne remplacent 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8288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Champs décrits, non diffusés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26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sur 33 que le dictionnaire TdE décrit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2004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Ouvrages réceptionnés, jamais remis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74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délai médian de remise : 398 jours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5720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Le taux de fonctionnalité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Peut-on le calculer 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Non — aucun champ ne le porte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Le sujet demande des taux de panne par région ; le corpus n'en donne pas les moyens : ni état, ni date de panne, ni abandon. Le plan de maintenance et la remise à l'exploitant sont des indices d'entretien, pas des mesures de service — un ouvrage doté d'un plan peut être à l'arrêt, et rien ici ne le dirait.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Accès à l'eau potable au Togo · 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5 · La pression démographique face à l'inventaire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Habitants par ouvrage recensé, région par région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828800"/>
            <a:ext cx="3931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Plateaux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1,7 M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habitants pour un seul ouvrage recensé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29184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Ce que la moyenne cache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Une moyenne nationale suffit-elle 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31,5 k habitants par ouvrage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Elle recouvre un rapport de 1 à 245 entre les Savanes, où un programme a concentré ses microprojets, et les Plateaux, que l'inventaire ignore presque entièrement.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Accès à l'eau potable au Togo · 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6 · Le risque est concentré ; la dotation ne l'est pas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Population par classe officielle de risque, et ce qui explique l'implantation des ouvrages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7373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Cantons à risque élevé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17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4 % du maillage, 2,9 M habitants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06324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Ce qui explique la dotation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Le besoin, ou le périmètre du programme 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7 % par le besoin, 27 % avec la région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Population, risque et richesse expliquent peu ; ajouter la région quadruple le pouvoir explicatif. 12 cantons exposés — 1,7 M habitants — n'ont aucun ouvrage recensé.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57200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L'objection attendue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L'indice ne classe-t-il que les cantons peuplés 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Non — ρ = 0,94 sans la population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En retirant la composante démographique et en recalculant l'indice, les cantons se déplacent de 3 places en médiane, sur les 42 où la formule officielle se reproduit. Le classement tient sans la population : il ne range pas les gens, il range un terrain.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Accès à l'eau potable au Togo · 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7 · Le coût d'un forage ne dépend pas de ceux qu'il sert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Coût par bénéficiaire, par quintile de population desservie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7373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Coût médian d'un ouvrage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16,8 M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quel que soit le nombre de bénéficiaires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06324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Élasticité à la population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0,55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sur 35 cantons dotés · Gini de 0,39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38912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Une variable de décision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D'où vient l'écart de coût par habitant 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9 fois, du premier au dernier quintile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L'élasticité du coût au nombre de bénéficiaires est statistiquement nulle : le coût par habitant se décide donc en choisissant OÙ implanter, pas en négociant le prix. La mise en concurrence a par ailleurs dégagé 17 % sous l'estimation initiale, pour 3,5 Md FCFA décaissés — une marge déjà disponible.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Accès à l'eau potable au Togo · 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8 · Combien d'ouvrages manquent, et à quel prix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Trois seuils de desserte, trois programmes — le seuil est un choix politique, pas un résultat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7373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Ouvrages pour aligner les régions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34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sur la médiane nationale — 567,9 M FCFA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06324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Scénario 1 pour 1 000 habitants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131,7 Md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7 886 ouvrages à construire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38912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Le prix unitaire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D'où vient-il 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16,7 M FCFA, médiane observée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Médiane des montants réellement payés sur 215 ouvrages du COSO, et non un barème. Elle porte donc les conditions de ce programme-là — main-d'œuvre du Nord, profondeur des forages, année des marchés — et se transpose mal telle quelle à une autre région.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Accès à l'eau potable au Togo · 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9 · Deux programmes datés, canton par canton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Ce que le tableau de bord place sur la carte : un chantier, une année, un montant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645920"/>
          <a:ext cx="66751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73736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Programme d'ouvrages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6366F1"/>
                </a:solidFill>
                <a:latin typeface="Calibri"/>
              </a:rPr>
              <a:t>27,6 Md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1 651 ouvrages en 5 ans, 1 pour 5 000 habitants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3063240"/>
            <a:ext cx="3931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Calibri"/>
              </a:rPr>
              <a:t>Programme inondations</a:t>
            </a:r>
          </a:p>
          <a:p>
            <a:pPr algn="l">
              <a:spcAft>
                <a:spcPts val="200"/>
              </a:spcAft>
            </a:pPr>
            <a:r>
              <a:rPr sz="3200" b="1">
                <a:solidFill>
                  <a:srgbClr val="D03B3B"/>
                </a:solidFill>
                <a:latin typeface="Calibri"/>
              </a:rPr>
              <a:t>4,2 Md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17 cantons en 3 ans · 250,0 M FCFA l'aménagement, coût POSÉ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4389120"/>
            <a:ext cx="3931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L'entretien, qu'on oublie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Que coûte le parc une fois livré 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11 % de l'investissement, au taux observé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Le COSO provisionne 1,35 % du montant d'un ouvrage pour son entretien. Aux taux usuels de trois à huit pour cent, la charge cumulée atteindrait 64 % de l'investissement à l'horizon. Un parc construit sans être doté s'arrête — et c'est précisément l'arrêt que le corpus ne permet pas de constater.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Accès à l'eau potable au Togo · 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F172A"/>
                </a:solidFill>
                <a:latin typeface="Calibri"/>
              </a:rPr>
              <a:t>10 · Ce que ce corpus établit, et ce qu'il refuse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94A3B8"/>
                </a:solidFill>
                <a:latin typeface="Calibri"/>
              </a:rPr>
              <a:t>Deux conclusions, trois limites assumées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07008"/>
            <a:ext cx="1106424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Ce qui est établi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Que peut-on affirmer sans réserve 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Le risque est concentré, la dotation ne le suit pas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Dix-sept cantons abritent un tiers du pays. L'implantation des ouvrages s'explique mieux par le périmètre des programmes que par le besoin, et la distance médiane à l'eau dit la même chose autrement. Le rattrapage est chiffré, daté et posé canton par canton.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59" y="1737360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Ce qui reste impossible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94A3B8"/>
                </a:solidFill>
                <a:latin typeface="Calibri"/>
              </a:rPr>
              <a:t>Quel objectif de l'énoncé n'est pas atteignable ?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Calibri"/>
              </a:rPr>
              <a:t>Les taux de fonctionnalité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475569"/>
                </a:solidFill>
                <a:latin typeface="Calibri"/>
              </a:rPr>
              <a:t>Aucun champ de panne, d'abandon ou de mise en service ne figure dans le corpus publié. Ce n'est pas une donnée jamais collectée : le dictionnaire du producteur la décrit. C'est une donnée collectée et non diffusée.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Trois limites que ce rapport assume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Les estimations n'identifient aucun effet causal — ni assignation aléatoire, ni discontinuité, ni instrument. Ce sont des associations conditionnelles, et leur intérêt tient à ce qu'elles survivent, ou non, aux effets fixes de région.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Le parc COSO couvre trois régions du Nord et le parc TdE la seule Maritime : aucune inférence nationale ne peut être tirée de leur exécution.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Calibri"/>
              </a:rPr>
              <a:t>Les deux sources de population — recensement 2010 et estimation satellitaire 2022 — ne sont pas comparables terme à terme ; leur écart mesure autant la méthode que la démographie.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Calibri"/>
              </a:rPr>
              <a:t>Accès à l'eau potable au Togo · page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