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Habitants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Habitants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Très faible</c:v>
                </c:pt>
                <c:pt idx="1">
                  <c:v>Faible</c:v>
                </c:pt>
                <c:pt idx="2">
                  <c:v>Moyen</c:v>
                </c:pt>
                <c:pt idx="3">
                  <c:v>Élevé</c:v>
                </c:pt>
                <c:pt idx="4">
                  <c:v>Très élevé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2617158.795981</c:v>
                </c:pt>
                <c:pt idx="1">
                  <c:v>1407393.465593</c:v>
                </c:pt>
                <c:pt idx="2">
                  <c:v>1261759.334223</c:v>
                </c:pt>
                <c:pt idx="3">
                  <c:v>1261054.122871</c:v>
                </c:pt>
                <c:pt idx="4">
                  <c:v>1621781.918737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Habitants par ouvrage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Habitants par ouvrage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Savanes</c:v>
                </c:pt>
                <c:pt idx="1">
                  <c:v>Maritime</c:v>
                </c:pt>
                <c:pt idx="2">
                  <c:v>Centrale</c:v>
                </c:pt>
                <c:pt idx="3">
                  <c:v>Kara</c:v>
                </c:pt>
                <c:pt idx="4">
                  <c:v>Plateaux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6819.0</c:v>
                </c:pt>
                <c:pt idx="1">
                  <c:v>55229.0</c:v>
                </c:pt>
                <c:pt idx="2">
                  <c:v>56629.0</c:v>
                </c:pt>
                <c:pt idx="3">
                  <c:v>75843.0</c:v>
                </c:pt>
                <c:pt idx="4">
                  <c:v>1669612.0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Part équipée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Part équipée (%)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Très faible</c:v>
                </c:pt>
                <c:pt idx="1">
                  <c:v>Faible</c:v>
                </c:pt>
                <c:pt idx="2">
                  <c:v>Moyen</c:v>
                </c:pt>
                <c:pt idx="3">
                  <c:v>Élevé</c:v>
                </c:pt>
                <c:pt idx="4">
                  <c:v>Très élevé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13.2</c:v>
                </c:pt>
                <c:pt idx="1">
                  <c:v>13.8</c:v>
                </c:pt>
                <c:pt idx="2">
                  <c:v>24.2</c:v>
                </c:pt>
                <c:pt idx="3">
                  <c:v>20.0</c:v>
                </c:pt>
                <c:pt idx="4">
                  <c:v>42.9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FCFA par bénéficiaire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FCFA par bénéficiaire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Q1 — moins desservis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 — plus desservis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63056.0</c:v>
                </c:pt>
                <c:pt idx="1">
                  <c:v>31215.0</c:v>
                </c:pt>
                <c:pt idx="2">
                  <c:v>22195.0</c:v>
                </c:pt>
                <c:pt idx="3">
                  <c:v>13130.0</c:v>
                </c:pt>
                <c:pt idx="4">
                  <c:v>7072.0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0F172A"/>
                </a:solidFill>
                <a:latin typeface="Calibri"/>
              </a:rPr>
              <a:t>L'eau que le Togo ne compte pas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Accès à l'eau potable, risque d'inondation et allocation des ouvrages · Data Challenge Environnement</a:t>
            </a:r>
          </a:p>
          <a:p>
            <a:pPr algn="l">
              <a:spcAft>
                <a:spcPts val="2600"/>
              </a:spcAft>
            </a:pPr>
            <a:r>
              <a:rPr sz="1300" b="0">
                <a:solidFill>
                  <a:srgbClr val="0F172A"/>
                </a:solidFill>
                <a:latin typeface="Calibri"/>
              </a:rPr>
              <a:t>388 cantons cartographiés. Quatre pour cent d'entre eux abritent 35 % de la population, et l'inventaire national ne les couvre pas.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Réalisé par Kokou PIPI · Données ouvertes du Togo — opendata.gouv.tg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2 · Données, nettoyage, démarche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Sept ressources exploitées, une clé de jointure, et ce qu'on a refusé de faire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Jeux chargés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cinq tabulaires, deux couches géographiques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du référentiel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la seule maille exhaustive du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Ouvrages recensés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285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deux inventaires disjoints, jamais additionnés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Champs TdE publiés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7 / 33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ceux que son dictionnaire décrit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La clé de jointure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Sur quoi relier trois producteurs différents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 nom de canton, normalisé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Aucun identifiant commun n'existe entre les jeux. Le nom normalisé rattache 67 ouvrages TdE sur 67 et 191 microprojets COSO sur 218 — les 27 restants sont conservés et comptés, jamais rattachés au hasard.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Les zéros sont la donnée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faire des cantons sans ouvrage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Jointure gauche, systématiquement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Une jointure interne les ferait disparaître, et le tableau de bord montrerait un pays entièrement équipé. C'est l'absence qui porte le constat.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qu'on n'a pas fait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Quelles tentations écartées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Aucun total national d'ouvrages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Les deux parcs couvrent des territoires disjoints — 97 % des TdE en Maritime, les COSO au Nord. Les additionner fabriquerait un inventaire qui n'existe pas.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3 · Quatre pour cent des cantons, un tiers du pays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par classe officielle de risque d'inondation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à risque élevé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4 % du maillage national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Habitants exposés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2,9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35 % de la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que ce graphe interdit de dire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« Le risque est marginal »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Non — il est concentré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Compter les cantons donnerait 17 sur 388 et ferait passer le sujet pour anecdotique. Compter les habitants dit l'inverse.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4 · Ce que le corpus ne dit pas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Deux informations manquantes, toutes deux méthodologiques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Les seuils de classification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Où passent les classes de la carte officielle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Sur une planche PDF sans texte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Les bornes 0,01 · 0,10 · 0,17 · 0,29 · 0,44 · 0,65 ne figurent dans aucun fichier du corpus. Elles ont été relevées en rendant l'image. Sans elles, notre carte serait juste et incomparable à celle du ministère.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79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La formule de l'indice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Le FRI publié est-il reproductible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Oui, là où il est défini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La moyenne géométrique annoncée restitue l'indice sur les cantons dont les sept composantes sont non nulles. Sur les autres, un zéro annule le produit — et l'indice y est pourtant publié. Le traitement des zéros n'est écrit nulle 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où la formule tient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42 / 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les autres portent au moins un zéro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3832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Champs décrits, non diffusés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33 que le dictionnaire décrit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5 · La pression démographique face à l'inventaire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Habitants par ouvrage recensé, région par région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Plateaux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1,7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habitants pour un seul ouvrage recensé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que la moyenne cache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Une moyenne nationale suffit-elle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31,5 k habitants par ouvrage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Elle recouvre un rapport de 1 à 245 entre les Savanes, où un programme a concentré ses microprojets, et les Plateaux, que l'inventaire ignore presque entièrement.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6 · Le risque est-il couvert par les ouvrages ?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Part des cantons équipés, par classe de risque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explique la dotation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Le besoin ou le périmètre du programme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7 % expliqués par le besoin, 27 % avec la région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Population, risque et richesse expliquent peu. Ajouter la région quadruple le pouvoir explicatif sans que le risque devienne significatif : la dotation suit le découpage des programmes, non l'exposition qu'ils invoquent.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411480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prioritaires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12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exposés et sans ouvrage — 1,7 M habitants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7 · Le coût d'un forage ne dépend pas de ceux qu'il sert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Coût par bénéficiaire, par quintile de population desservie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Coût médian d'un ouvrage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16,8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quel que soit le nombre de bénéficiaires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Une variable de décision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D'où vient l'écart de coût par habitant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9 fois, du premier au dernier quintile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L'élasticité du coût au nombre de bénéficiaires est statistiquement nulle : le coût par habitant ne dépend que du lieu choisi. C'est une contrainte qu'on subit, ou un levier qu'on actionne.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8 · L'argent suit-il les habitants ?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Ce que la répartition observée dit d'elle-même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Élasticité à la population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0,55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estimée sur 35 cantons dotés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73736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Gini par habitant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0,39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rapport interdécile de 6,3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7373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Montant décaissé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3,5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17 % sous l'estimation initiale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Une dotation régressive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Un canton deux fois plus peuplé reçoit-il deux fois plus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Non : 46 % de plus, pas le double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Combiné au coût plat de la page précédente, cet écart coûte des bénéficiaires sans économiser un franc. La clé démographique n'est pas une recommandation — c'est l'étalon le plus neutre disponible.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3383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Une marge déjà dégagée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dit l'écart entre estimation et contrats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La mise en concurrence a tenu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L'estimation portait 4,2 milliards, les contrats signés 3,5. Cet écart est une marge dégagée à l'appel d'offres, pas une économie de réalisation : le montant payé colle aux contrats.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9 · Trois leviers, par coût croissant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Chacun découle d'un chiffre de ce rapport, aucun d'une opinion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1 · Republier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coûte la donnée manquante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26 champs décrits et non diffusés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L'état de fonctionnement, le débit, la profondeur et la société de maintenance figurent au dictionnaire du producteur : ils sont collectés. Le coût est celui d'une exportation, pas d'une enquête.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2 · Étendre l'inventaire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Où recenser en priorité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12 cantons exposés et non couverts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Recenser l'existant précède toute construction : on ne peut pas décider d'un forage là où l'on ignore ce qui existe déjà. Le coût est celui d'une campagne de terrain.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3 · Construire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À quel ordre de grandeur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21 202 FCFA par bénéficiaire direct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Médiane observée sur le parc COSO. Puisque le coût d'un ouvrage ne dépend pas de sa population desservie, siter en zone dense divise mécaniquement ce ratio.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10 · Ce que ce corpus établit, et ce qu'il refuse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Deux conclusions, trois limites assumées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est établi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peut-on affirmer sans réserve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 risque est concentré, la dotation ne l'est pas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Dix-sept cantons abritent un tiers du pays ; le risque n'explique pas qui reçoit un ouvrage ; et le coût d'un forage est indépendant du nombre de personnes qu'il dessert. Ces trois résultats tiennent sur les données publiées.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59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reste impossible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Quel objectif de l'énoncé n'est pas atteignable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Les taux de fonctionnalité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Aucun champ de panne, d'abandon ou de mise en service ne figure dans le corpus publié. Ce n'est pas une donnée jamais collectée : le dictionnaire du producteur la décrit. C'est une donnée collectée et non diffusée.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Trois limites que ce rapport assume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Les estimations n'identifient aucun effet causal — ni assignation aléatoire, ni discontinuité, ni instrument. Ce sont des associations conditionnelles, et leur intérêt tient à ce qu'elles survivent, ou non, aux effets fixes de région.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 parc COSO couvre trois régions du Nord et le parc TdE la seule Maritime : aucune inférence nationale ne peut être tirée de leur exécution.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Les deux sources de population — recensement 2010 et estimation satellitaire 2022 — ne sont pas comparables terme à terme ; leur écart mesure autant la méthode que la démographie.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