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Very low</c:v>
                </c:pt>
                <c:pt idx="1">
                  <c:v>Low</c:v>
                </c:pt>
                <c:pt idx="2">
                  <c:v>Medium</c:v>
                </c:pt>
                <c:pt idx="3">
                  <c:v>High</c:v>
                </c:pt>
                <c:pt idx="4">
                  <c:v>Very high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2617158.795981</c:v>
                </c:pt>
                <c:pt idx="1">
                  <c:v>1407393.465593</c:v>
                </c:pt>
                <c:pt idx="2">
                  <c:v>1261759.334223</c:v>
                </c:pt>
                <c:pt idx="3">
                  <c:v>1261054.122871</c:v>
                </c:pt>
                <c:pt idx="4">
                  <c:v>1621781.918737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Inhabitants per facility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Inhabitants per facility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Savanes</c:v>
                </c:pt>
                <c:pt idx="1">
                  <c:v>Maritime</c:v>
                </c:pt>
                <c:pt idx="2">
                  <c:v>Centrale</c:v>
                </c:pt>
                <c:pt idx="3">
                  <c:v>Kara</c:v>
                </c:pt>
                <c:pt idx="4">
                  <c:v>Plateaux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6819.0</c:v>
                </c:pt>
                <c:pt idx="1">
                  <c:v>55229.0</c:v>
                </c:pt>
                <c:pt idx="2">
                  <c:v>56629.0</c:v>
                </c:pt>
                <c:pt idx="3">
                  <c:v>75843.0</c:v>
                </c:pt>
                <c:pt idx="4">
                  <c:v>1669612.0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Equipped share (%)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Equipped share (%)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Very low</c:v>
                </c:pt>
                <c:pt idx="1">
                  <c:v>Low</c:v>
                </c:pt>
                <c:pt idx="2">
                  <c:v>Medium</c:v>
                </c:pt>
                <c:pt idx="3">
                  <c:v>High</c:v>
                </c:pt>
                <c:pt idx="4">
                  <c:v>Very high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13.2</c:v>
                </c:pt>
                <c:pt idx="1">
                  <c:v>13.8</c:v>
                </c:pt>
                <c:pt idx="2">
                  <c:v>24.2</c:v>
                </c:pt>
                <c:pt idx="3">
                  <c:v>20.0</c:v>
                </c:pt>
                <c:pt idx="4">
                  <c:v>42.9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CFA per beneficiary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CFA per beneficiary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Q1 — least served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  <c:pt idx="4">
                  <c:v>Q5 — most served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63056.0</c:v>
                </c:pt>
                <c:pt idx="1">
                  <c:v>31215.0</c:v>
                </c:pt>
                <c:pt idx="2">
                  <c:v>22195.0</c:v>
                </c:pt>
                <c:pt idx="3">
                  <c:v>13130.0</c:v>
                </c:pt>
                <c:pt idx="4">
                  <c:v>7072.0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475569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0F172A"/>
                </a:solidFill>
                <a:latin typeface="Calibri"/>
              </a:rPr>
              <a:t>The water Togo does not count</a:t>
            </a:r>
          </a:p>
          <a:p>
            <a:pPr algn="l">
              <a:spcAft>
                <a:spcPts val="2200"/>
              </a:spcAft>
            </a:pPr>
            <a:r>
              <a:rPr sz="1600" b="0">
                <a:solidFill>
                  <a:srgbClr val="475569"/>
                </a:solidFill>
                <a:latin typeface="Calibri"/>
              </a:rPr>
              <a:t>Drinking water access, flood risk and facility allocation · Environment Data Challenge</a:t>
            </a:r>
          </a:p>
          <a:p>
            <a:pPr algn="l">
              <a:spcAft>
                <a:spcPts val="2600"/>
              </a:spcAft>
            </a:pPr>
            <a:r>
              <a:rPr sz="1300" b="0">
                <a:solidFill>
                  <a:srgbClr val="0F172A"/>
                </a:solidFill>
                <a:latin typeface="Calibri"/>
              </a:rPr>
              <a:t>388 cantons mapped. Four percent of them hold 35 % of the population, and the national inventory does not cover them.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4A3B8"/>
                </a:solidFill>
                <a:latin typeface="Calibri"/>
              </a:rPr>
              <a:t>Built by Kokou PIPI · Togo open data — opendata.gouv.tg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2 · Data, cleaning, approach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Seven resources used, one join key, and what we refused to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Datasets loaded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five tabular, two geographic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in the reference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corpus's only exhaustive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Recorded facilities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285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two disjoint inventories, never summed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1691640"/>
            <a:ext cx="26517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TdE fields published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7 / 33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those its dictionary describes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join key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links three different producers?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The canton name, normalised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shared identifier exists across the datasets. The normalised name matches 67 of 67 TdE facilities and 191 of 218 COSO micro-projects — the remaining 27 are kept and counted, never matched at random.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Zeros are the data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about cantons with no facility?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Left join, systematically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An inner join would erase them, and the dashboard would show a fully equipped country. It is the absence that carries the finding.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3200400"/>
            <a:ext cx="3566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we did not do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temptations set aside?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national facility total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two stocks cover disjoint territories — 97 % of TdE in Maritime, COSO in the North. Adding them would fabricate an inventory that does not exist.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3 · Four percent of cantons, a third of the country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Population by official flood-risk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High-risk cantons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17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4 % of the national grid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004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Exposed inhabitants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2.9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35 % of the population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4572000"/>
            <a:ext cx="3931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this chart forbids saying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« The risk is marginal » 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 — it is concentrated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Counting cantons would give 17 of 388 and make this look anecdotal. Counting people says the opposite.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4 · What the corpus does not say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Two missing pieces, both methodological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classification breaks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 the official map's classes fall?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On a PDF plate with no text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breaks 0.01 · 0.10 · 0.17 · 0.29 · 0.44 · 0.65 appear in no file of the corpus. They were read by rendering the image. Without them our map would be correct and incomparable with the ministry's.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79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The index formula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Is the published FRI reproducible?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Yes, where it is defined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announced geometric mean reproduces the index on cantons whose seven components are non-zero. On the others, a zero cancels the product — yet the index is published there. The handling of zeros is written nowhere.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0" y="182880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Cantons where the formula holds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42 / 388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others carry at least one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3832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Fields described, not released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26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of 33 the dictionary describes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5 · Demographic pressure against the inventory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Inhabitants per recorded facility, region by region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Plateaux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1.7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inhabitants for a single recorded facility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the average hides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Is a national average enough?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31.5 k inhabitants per facility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It covers a 1-to-245 ratio between Savanes, where a programme concentrated its micro-projects, and Plateaux, which the inventory almost entirely ignores.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6 · Is the risk covered by facilities?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Share of equipped cantons, by risk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explains the allocation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Need, or the programme perimeter?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7 % explained by need, 27 % with region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Population, risk and wealth explain little. Adding region quadruples explanatory power without risk becoming significant: allocation follows programme boundaries, not the exposure they invoke.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4114800"/>
            <a:ext cx="39319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Priority cantons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12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exposed and unequipped — 1.7 M inhabitants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7 · A borehole's cost does not depend on whom it serves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Cost per beneficiary, by quintile of population served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645920"/>
          <a:ext cx="667512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589520" y="1828800"/>
            <a:ext cx="3931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Median facility cost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16.8 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whatever the number of beneficiaries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3291840"/>
            <a:ext cx="39319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A decision variable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does the per-head cost gap come from?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9-fold, from first to last quintile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elasticity of cost to beneficiaries is statistically nil: cost per head depends only on the site chosen. That is either a constraint endured, or a lever pulled.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8 · Does the money follow the people?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What the observed allocation says about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Elasticity to population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D03B3B"/>
                </a:solidFill>
                <a:latin typeface="Calibri"/>
              </a:rPr>
              <a:t>0.55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estimated on 35 funded cantons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73736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Gini per inhabitant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0.39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interdecile ratio of 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173736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Amount disbursed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6366F1"/>
                </a:solidFill>
                <a:latin typeface="Calibri"/>
              </a:rPr>
              <a:t>3.5 Md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17 % below the initial estimate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383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A regressive allocation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Does a canton twice as populated get twice as much?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No: 46 % more, not double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Combined with the flat cost on the previous page, this gap costs beneficiaries without saving a franc. The demographic key is not a recommendation — it is the most neutral yardstick available.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33832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A margin already released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does the estimate-to-contract gap say?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Competitive tendering held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The estimate stood at 4.2 billion, signed contracts at 3.5. That gap is a margin released at tender, not a delivery saving: the amount paid tracks the contracts.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9 · Three levers, in increasing cost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Each follows from a figure in this report, none from an opinion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1 · Republish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does the missing data cost?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26 fields described and not released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Operating condition, flow rate, depth and maintenance company appear in the producer's dictionary: they are collected. The cost is that of an export, not a survey.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2 · Extend the inventory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Where to record first?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12 exposed and uncovered cantons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Recording what exists precedes any construction: no borehole can be decided where existing works are unknown. The cost is that of a field campaign.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70916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3 · Build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At what order of magnitude?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21,202 CFA per direct beneficiary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Median observed across the COSO stock. Since a facility's cost does not depend on the population it serves, siting in a dense area mechanically divides this ratio.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172A"/>
                </a:solidFill>
                <a:latin typeface="Calibri"/>
              </a:rPr>
              <a:t>10 · What this corpus establishes, and what it refuses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94A3B8"/>
                </a:solidFill>
                <a:latin typeface="Calibri"/>
              </a:rPr>
              <a:t>Two conclusions, three acknowledged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07008"/>
            <a:ext cx="11064240" cy="27432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is established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What can be stated without reservation?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Risk is concentrated, funding is not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Seventeen cantons hold a third of the country; risk does not explain who receives a facility; and a borehole's cost is independent of how many it serves. These three results hold on the published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59" y="1737360"/>
            <a:ext cx="5486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What remains impossible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Which stated objective is unreachable?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Functionality rates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475569"/>
                </a:solidFill>
                <a:latin typeface="Calibri"/>
              </a:rPr>
              <a:t>No breakdown, abandonment or commissioning field appears in the published corpus. This is not data that was never collected: the producer's dictionary describes it. It is data collected and not released.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366F1"/>
                </a:solidFill>
                <a:latin typeface="Calibri"/>
              </a:rPr>
              <a:t>Three limits this report accepts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estimates identify no causal effect — no random assignment, no discontinuity, no instrument. They are conditional associations, and their value lies in whether they survive region fixed effects.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COSO stock covers three northern regions and the TdE stock Maritime alone: no national inference can be drawn from their execution.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569"/>
                </a:solidFill>
                <a:latin typeface="Calibri"/>
              </a:rPr>
              <a:t>The two population sources — 2010 census and 2022 satellite estimate — are not comparable term by term; their gap measures method as much as demography.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Calibri"/>
              </a:rPr>
              <a:t>Access to drinking water in Togo · page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