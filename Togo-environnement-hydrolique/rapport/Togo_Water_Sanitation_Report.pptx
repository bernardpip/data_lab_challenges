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Share of population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population (%)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under 1 km</c:v>
                </c:pt>
                <c:pt idx="1">
                  <c:v>under 2.5 km</c:v>
                </c:pt>
                <c:pt idx="2">
                  <c:v>under 5 km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5.4</c:v>
                </c:pt>
                <c:pt idx="1">
                  <c:v>18.3</c:v>
                </c:pt>
                <c:pt idx="2">
                  <c:v>32.3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Facilities with a maintenance plan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Facilities with a maintenance plan (%)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Kara</c:v>
                </c:pt>
                <c:pt idx="1">
                  <c:v>Centrale</c:v>
                </c:pt>
                <c:pt idx="2">
                  <c:v>Savanes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100.0</c:v>
                </c:pt>
                <c:pt idx="1">
                  <c:v>46.2</c:v>
                </c:pt>
                <c:pt idx="2">
                  <c:v>13.5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Inhabitants per facility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Inhabitants per facility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Savanes</c:v>
                </c:pt>
                <c:pt idx="1">
                  <c:v>Maritime</c:v>
                </c:pt>
                <c:pt idx="2">
                  <c:v>Centrale</c:v>
                </c:pt>
                <c:pt idx="3">
                  <c:v>Kara</c:v>
                </c:pt>
                <c:pt idx="4">
                  <c:v>Plateaux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6819.0</c:v>
                </c:pt>
                <c:pt idx="1">
                  <c:v>55229.0</c:v>
                </c:pt>
                <c:pt idx="2">
                  <c:v>56629.0</c:v>
                </c:pt>
                <c:pt idx="3">
                  <c:v>75843.0</c:v>
                </c:pt>
                <c:pt idx="4">
                  <c:v>1669612.0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Inhabitants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Inhabitants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Very low</c:v>
                </c:pt>
                <c:pt idx="1">
                  <c:v>Low</c:v>
                </c:pt>
                <c:pt idx="2">
                  <c:v>Medium</c:v>
                </c:pt>
                <c:pt idx="3">
                  <c:v>High</c:v>
                </c:pt>
                <c:pt idx="4">
                  <c:v>Very high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2617158.795981</c:v>
                </c:pt>
                <c:pt idx="1">
                  <c:v>1407393.465593</c:v>
                </c:pt>
                <c:pt idx="2">
                  <c:v>1261759.334223</c:v>
                </c:pt>
                <c:pt idx="3">
                  <c:v>1261054.122871</c:v>
                </c:pt>
                <c:pt idx="4">
                  <c:v>1621781.918737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CFA per beneficiary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CFA per beneficiary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Q1 — least served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 — most served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63056.0</c:v>
                </c:pt>
                <c:pt idx="1">
                  <c:v>31215.0</c:v>
                </c:pt>
                <c:pt idx="2">
                  <c:v>22195.0</c:v>
                </c:pt>
                <c:pt idx="3">
                  <c:v>13130.0</c:v>
                </c:pt>
                <c:pt idx="4">
                  <c:v>7072.0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Facilities to build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Facilities to build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1 per 300 people</c:v>
                </c:pt>
                <c:pt idx="1">
                  <c:v>1 per 1,000 people</c:v>
                </c:pt>
                <c:pt idx="2">
                  <c:v>1 per 5,000 people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26949</c:v>
                </c:pt>
                <c:pt idx="1">
                  <c:v>7886</c:v>
                </c:pt>
                <c:pt idx="2">
                  <c:v>1350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Billion FCFA per year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Billion FCFA per year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5.46</c:v>
                </c:pt>
                <c:pt idx="1">
                  <c:v>5.53</c:v>
                </c:pt>
                <c:pt idx="2">
                  <c:v>5.49</c:v>
                </c:pt>
                <c:pt idx="3">
                  <c:v>5.54</c:v>
                </c:pt>
                <c:pt idx="4">
                  <c:v>5.54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0F172A"/>
                </a:solidFill>
                <a:latin typeface="Calibri"/>
              </a:rPr>
              <a:t>The water Togo does not count</a:t>
            </a:r>
          </a:p>
          <a:p>
            <a:pPr algn="l">
              <a:spcAft>
                <a:spcPts val="22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Drinking water access, flood risk and facility allocation · Environment Data Challenge</a:t>
            </a:r>
          </a:p>
          <a:p>
            <a:pPr algn="l">
              <a:spcAft>
                <a:spcPts val="26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388 cantons mapped, and a median 26 kilometres to the nearest recorded facility. Four percent of cantons hold 35% of the exposed population, and the national inventory does not cover them.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Built by Kokou PIPI · Togo open data — opendata.gouv.tg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2 · Data, cleaning, approach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Seven resources used, one join key, and what we refused to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Datasets loaded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6366F1"/>
                </a:solidFill>
                <a:latin typeface="Calibri"/>
              </a:rPr>
              <a:t>6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six cleaned datasets, from seven loaded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69164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Cantons in the reference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6366F1"/>
                </a:solidFill>
                <a:latin typeface="Calibri"/>
              </a:rPr>
              <a:t>388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the corpus's only exhaustive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9164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Recorded facilities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6366F1"/>
                </a:solidFill>
                <a:latin typeface="Calibri"/>
              </a:rPr>
              <a:t>285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two disjoint inventories, never summed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169164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TdE fields published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6366F1"/>
                </a:solidFill>
                <a:latin typeface="Calibri"/>
              </a:rPr>
              <a:t>7 / 33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of those its dictionary describes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3566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The join key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What links three different producers?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The canton name, normalised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No shared identifier exists across the datasets. The normalised name matches 67 of 67 TdE facilities and 191 of 218 COSO micro-projects — the remaining 27 are kept and counted, never matched at random.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3200400"/>
            <a:ext cx="3566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Zeros are the data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What about cantons with no facility?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Left join, systematically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An inner join would erase them, and the dashboard would show a fully equipped country. It is the absence that carries the finding.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200400"/>
            <a:ext cx="3566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What we did not do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Which temptations set aside?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No national facility total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The two stocks cover disjoint territories — 97 % of TdE in Maritime, COSO in the North. Adding them would fabricate an inventory that does not exist.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Access to drinking water in Togo ·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3 · Where the water is, and how far away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Population reached, by distance to the nearest recorded facility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66751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82880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Median distance to water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D03B3B"/>
                </a:solidFill>
                <a:latin typeface="Calibri"/>
              </a:rPr>
              <a:t>26 km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from a canton to the nearest recorded facility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320040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Cantons beyond 10 km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D03B3B"/>
                </a:solidFill>
                <a:latin typeface="Calibri"/>
              </a:rPr>
              <a:t>288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53% of the country's population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457200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What the distance measures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Poorly served, or poorly recorded?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R = 0.41 — facilities are clustered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The Clark-Evans index is 1 when points fall at random; below 0.5 they are clustered. So this distance measures the inventory as much as the service: a canton with no recorded facility is not a canton without water, it is a canton whose water nobody publishes.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Access to drinking water in Togo · 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4 · Facility condition: the missing field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No operating status in the corpus — two proxies, and what they cannot replace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66751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82880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Fields described, not published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D03B3B"/>
                </a:solidFill>
                <a:latin typeface="Calibri"/>
              </a:rPr>
              <a:t>26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of 33 described by the TdE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320040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Works accepted, never handed over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D03B3B"/>
                </a:solidFill>
                <a:latin typeface="Calibri"/>
              </a:rPr>
              <a:t>74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median handover delay: 398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457200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The functionality rate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Can it be computed?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No — no field carries it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The brief asks for breakdown rates by region; the corpus cannot deliver them: no status, no failure date, no abandonment. A maintenance plan and a handover are upkeep signals, not service measures — a facility with a plan may well be down, and nothing here would say 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Access to drinking water in Togo · 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5 · Demographic pressure against the inventory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Inhabitants per recorded facility, region by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66751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82880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Plateaux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D03B3B"/>
                </a:solidFill>
                <a:latin typeface="Calibri"/>
              </a:rPr>
              <a:t>1.7 M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inhabitants for a single recorded facility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3291840"/>
            <a:ext cx="3931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What the average hides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Is a national average enough?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31.5 k inhabitants per facility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It covers a 1-to-245 ratio between Savanes, where a programme concentrated its micro-projects, and Plateaux, which the inventory almost entirely ignores.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Access to drinking water in Togo · 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6 · Risk is concentrated; equipment is not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Population by official risk class, and what explains where facilities are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66751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7373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High-risk cantons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D03B3B"/>
                </a:solidFill>
                <a:latin typeface="Calibri"/>
              </a:rPr>
              <a:t>17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4% of the grid, 2.9 M inhabitants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306324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What explains the allocation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Need, or the programme's footprint?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7% from need, 27% adding the region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Population, risk and wealth explain little; adding the region quadruples the explanatory power. 12 exposed cantons — 1.7 M inhabitants — have no recorded facility.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457200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The expected objection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Does the index just rank populous cantons?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No — ρ = 0.94 without population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Dropping the demographic component and recomputing the index moves cantons by 3 places at the median, across the 42 where the official formula reproduces. The ranking holds without population: it does not rank people, it ranks ground.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Access to drinking water in Togo · 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7 · A borehole's cost does not depend on whom it serves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Cost per beneficiary, by quintile of population served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66751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7373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Median facility cost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6366F1"/>
                </a:solidFill>
                <a:latin typeface="Calibri"/>
              </a:rPr>
              <a:t>16.8 M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whatever the number of beneficiaries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306324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Elasticity to population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D03B3B"/>
                </a:solidFill>
                <a:latin typeface="Calibri"/>
              </a:rPr>
              <a:t>0.55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over 35 equipped cantons · Gini of 0.39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438912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A decision variable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Where does the per-head cost gap come from?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9-fold, from first to last quintile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The elasticity of cost to beneficiaries is statistically nil: cost per inhabitant is therefore decided by choosing WHERE to build, not by negotiating price. Competitive tendering also came in 17% below the initial estimate, for 3.5 bn FCFA disbursed — headroom already freed.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Access to drinking water in Togo · 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8 · How many facilities are missing, and at what price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Three service thresholds, three programmes — the threshold is a policy choice, not a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66751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7373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Facilities to level the regions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6366F1"/>
                </a:solidFill>
                <a:latin typeface="Calibri"/>
              </a:rPr>
              <a:t>34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onto the national median — 567.9 M FCFA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306324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Scenario: 1 per 1,000 people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D03B3B"/>
                </a:solidFill>
                <a:latin typeface="Calibri"/>
              </a:rPr>
              <a:t>131.7 bn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7,886 facilities to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438912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The unit price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Where does it come from?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16.7 M FCFA, observed median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Median of amounts actually paid on 215 COSO facilities, not a price list. It therefore carries that programme's conditions — northern labour, borehole depth, contract year — and does not transpose as-is to another region.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Access to drinking water in Togo · page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9 · Two dated programmes, canton by canton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What the dashboard puts on the map: a site, a year, an amount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66751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7373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Facilities programme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6366F1"/>
                </a:solidFill>
                <a:latin typeface="Calibri"/>
              </a:rPr>
              <a:t>27.6 bn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1,651 facilities over 5 years, 1 per 5,000 people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306324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Flood programme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D03B3B"/>
                </a:solidFill>
                <a:latin typeface="Calibri"/>
              </a:rPr>
              <a:t>4.2 bn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17 cantons over 3 years · 250.0 M FCFA per works, an ASSUMED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438912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Upkeep, the forgotten line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What does the stock cost once delivered?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11% of investment, at the observed rate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COSO sets aside 1.35% of a facility's cost for upkeep. At the usual three to eight percent, the cumulative charge would reach 64% of the investment by the horizon. A stock built without upkeep stops working — and stopping is exactly what the corpus cannot show.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Access to drinking water in Togo · page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10 · What this corpus establishes, and what it refuses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Two conclusions, three acknowledged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What is established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What can be stated without reservation?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Risk is concentrated, allocation does not follow it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Seventeen cantons hold a third of the country. Where facilities stand is better explained by programme footprints than by need, and the median distance to water says the same thing differently. The catch-up is costed, dated and placed canton by canton.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59" y="173736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What remains impossible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Which stated objective is unreachable?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Functionality rates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No breakdown, abandonment or commissioning field appears in the published corpus. This is not data that was never collected: the producer's dictionary describes it. It is data collected and not released.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Three limits this report accepts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The estimates identify no causal effect — no random assignment, no discontinuity, no instrument. They are conditional associations, and their value lies in whether they survive region fixed effects.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The COSO stock covers three northern regions and the TdE stock Maritime alone: no national inference can be drawn from their execution.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The two population sources — 2010 census and 2022 satellite estimate — are not comparable term by term; their gap measures method as much as demography.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Access to drinking water in Togo · page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