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00"/>
              <a:t>Share of population (%)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Share of population (%)</c:v>
                </c:pt>
              </c:strCache>
            </c:strRef>
          </c:tx>
          <c:cat>
            <c:strRef>
              <c:f>Sheet1!$A$2:$A$4</c:f>
              <c:strCache>
                <c:ptCount val="3"/>
                <c:pt idx="0">
                  <c:v>under 1 km</c:v>
                </c:pt>
                <c:pt idx="1">
                  <c:v>under 2.5 km</c:v>
                </c:pt>
                <c:pt idx="2">
                  <c:v>under 5 km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5.4</c:v>
                </c:pt>
                <c:pt idx="1">
                  <c:v>18.3</c:v>
                </c:pt>
                <c:pt idx="2">
                  <c:v>32.3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000">
          <a:solidFill>
            <a:srgbClr val="475569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00"/>
              <a:t>Facilities with a maintenance plan (%)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Facilities with a maintenance plan (%)</c:v>
                </c:pt>
              </c:strCache>
            </c:strRef>
          </c:tx>
          <c:cat>
            <c:strRef>
              <c:f>Sheet1!$A$2:$A$4</c:f>
              <c:strCache>
                <c:ptCount val="3"/>
                <c:pt idx="0">
                  <c:v>Kara</c:v>
                </c:pt>
                <c:pt idx="1">
                  <c:v>Centrale</c:v>
                </c:pt>
                <c:pt idx="2">
                  <c:v>Savanes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100.0</c:v>
                </c:pt>
                <c:pt idx="1">
                  <c:v>46.2</c:v>
                </c:pt>
                <c:pt idx="2">
                  <c:v>13.5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000">
          <a:solidFill>
            <a:srgbClr val="475569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00"/>
              <a:t>Inhabitants per facility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Inhabitants per facility</c:v>
                </c:pt>
              </c:strCache>
            </c:strRef>
          </c:tx>
          <c:cat>
            <c:strRef>
              <c:f>Sheet1!$A$2:$A$6</c:f>
              <c:strCache>
                <c:ptCount val="5"/>
                <c:pt idx="0">
                  <c:v>Savanes</c:v>
                </c:pt>
                <c:pt idx="1">
                  <c:v>Maritime</c:v>
                </c:pt>
                <c:pt idx="2">
                  <c:v>Centrale</c:v>
                </c:pt>
                <c:pt idx="3">
                  <c:v>Kara</c:v>
                </c:pt>
                <c:pt idx="4">
                  <c:v>Plateaux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6819.0</c:v>
                </c:pt>
                <c:pt idx="1">
                  <c:v>55229.0</c:v>
                </c:pt>
                <c:pt idx="2">
                  <c:v>56629.0</c:v>
                </c:pt>
                <c:pt idx="3">
                  <c:v>75843.0</c:v>
                </c:pt>
                <c:pt idx="4">
                  <c:v>1669612.0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000">
          <a:solidFill>
            <a:srgbClr val="475569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00"/>
              <a:t>Inhabitants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Inhabitants</c:v>
                </c:pt>
              </c:strCache>
            </c:strRef>
          </c:tx>
          <c:cat>
            <c:strRef>
              <c:f>Sheet1!$A$2:$A$6</c:f>
              <c:strCache>
                <c:ptCount val="5"/>
                <c:pt idx="0">
                  <c:v>Very low</c:v>
                </c:pt>
                <c:pt idx="1">
                  <c:v>Low</c:v>
                </c:pt>
                <c:pt idx="2">
                  <c:v>Medium</c:v>
                </c:pt>
                <c:pt idx="3">
                  <c:v>High</c:v>
                </c:pt>
                <c:pt idx="4">
                  <c:v>Very high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2617158.795981</c:v>
                </c:pt>
                <c:pt idx="1">
                  <c:v>1407393.465593</c:v>
                </c:pt>
                <c:pt idx="2">
                  <c:v>1261759.334223</c:v>
                </c:pt>
                <c:pt idx="3">
                  <c:v>1261054.122871</c:v>
                </c:pt>
                <c:pt idx="4">
                  <c:v>1621781.918737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000">
          <a:solidFill>
            <a:srgbClr val="475569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00"/>
              <a:t>CFA per beneficiary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CFA per beneficiary</c:v>
                </c:pt>
              </c:strCache>
            </c:strRef>
          </c:tx>
          <c:cat>
            <c:strRef>
              <c:f>Sheet1!$A$2:$A$6</c:f>
              <c:strCache>
                <c:ptCount val="5"/>
                <c:pt idx="0">
                  <c:v>Q1 — least served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  <c:pt idx="4">
                  <c:v>Q5 — most served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63056.0</c:v>
                </c:pt>
                <c:pt idx="1">
                  <c:v>31215.0</c:v>
                </c:pt>
                <c:pt idx="2">
                  <c:v>22195.0</c:v>
                </c:pt>
                <c:pt idx="3">
                  <c:v>13130.0</c:v>
                </c:pt>
                <c:pt idx="4">
                  <c:v>7072.0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000">
          <a:solidFill>
            <a:srgbClr val="475569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00"/>
              <a:t>Facilities to build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Facilities to build</c:v>
                </c:pt>
              </c:strCache>
            </c:strRef>
          </c:tx>
          <c:cat>
            <c:strRef>
              <c:f>Sheet1!$A$2:$A$4</c:f>
              <c:strCache>
                <c:ptCount val="3"/>
                <c:pt idx="0">
                  <c:v>1 per 300 people</c:v>
                </c:pt>
                <c:pt idx="1">
                  <c:v>1 per 1,000 people</c:v>
                </c:pt>
                <c:pt idx="2">
                  <c:v>1 per 5,000 people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26949</c:v>
                </c:pt>
                <c:pt idx="1">
                  <c:v>7886</c:v>
                </c:pt>
                <c:pt idx="2">
                  <c:v>1350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000">
          <a:solidFill>
            <a:srgbClr val="475569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00"/>
              <a:t>Billion FCFA per year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Billion FCFA per year</c:v>
                </c:pt>
              </c:strCache>
            </c:strRef>
          </c:tx>
          <c:cat>
            <c:strRef>
              <c:f>Sheet1!$A$2:$A$6</c:f>
              <c:strCache>
                <c:ptCount val="5"/>
                <c:pt idx="0">
                  <c:v>2027</c:v>
                </c:pt>
                <c:pt idx="1">
                  <c:v>2028</c:v>
                </c:pt>
                <c:pt idx="2">
                  <c:v>2029</c:v>
                </c:pt>
                <c:pt idx="3">
                  <c:v>2030</c:v>
                </c:pt>
                <c:pt idx="4">
                  <c:v>2031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5.46</c:v>
                </c:pt>
                <c:pt idx="1">
                  <c:v>5.53</c:v>
                </c:pt>
                <c:pt idx="2">
                  <c:v>5.49</c:v>
                </c:pt>
                <c:pt idx="3">
                  <c:v>5.54</c:v>
                </c:pt>
                <c:pt idx="4">
                  <c:v>5.54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000">
          <a:solidFill>
            <a:srgbClr val="475569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15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4000" b="1">
                <a:solidFill>
                  <a:srgbClr val="0F172A"/>
                </a:solidFill>
                <a:latin typeface="Calibri"/>
              </a:rPr>
              <a:t>The water Togo does not count</a:t>
            </a:r>
          </a:p>
          <a:p>
            <a:pPr algn="l">
              <a:spcAft>
                <a:spcPts val="2200"/>
              </a:spcAft>
            </a:pPr>
            <a:r>
              <a:rPr sz="1600" b="0">
                <a:solidFill>
                  <a:srgbClr val="475569"/>
                </a:solidFill>
                <a:latin typeface="Calibri"/>
              </a:rPr>
              <a:t>Drinking water access, flood risk and facility allocation · Environment Data Challenge</a:t>
            </a:r>
          </a:p>
          <a:p>
            <a:pPr algn="l">
              <a:spcAft>
                <a:spcPts val="2600"/>
              </a:spcAft>
            </a:pPr>
            <a:r>
              <a:rPr sz="1300" b="0">
                <a:solidFill>
                  <a:srgbClr val="0F172A"/>
                </a:solidFill>
                <a:latin typeface="Calibri"/>
              </a:rPr>
              <a:t>388 cantons mapped, and a median 26 kilometres to the nearest recorded facility. Four percent of cantons hold 35% of the exposed population, and the national inventory does not cover them.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94A3B8"/>
                </a:solidFill>
                <a:latin typeface="Calibri"/>
              </a:rPr>
              <a:t>Built by Kokou PIPI · Togo open data — opendata.gouv.tg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600" b="1">
                <a:solidFill>
                  <a:srgbClr val="0F172A"/>
                </a:solidFill>
                <a:latin typeface="Calibri"/>
              </a:rPr>
              <a:t>2 · Data, cleaning, approach</a:t>
            </a:r>
          </a:p>
          <a:p>
            <a:pPr algn="l">
              <a:spcAft>
                <a:spcPts val="0"/>
              </a:spcAft>
            </a:pPr>
            <a:r>
              <a:rPr sz="1300" b="0">
                <a:solidFill>
                  <a:srgbClr val="94A3B8"/>
                </a:solidFill>
                <a:latin typeface="Calibri"/>
              </a:rPr>
              <a:t>Seven resources used, one join key, and what we refused to 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07008"/>
            <a:ext cx="11064240" cy="27432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691640"/>
            <a:ext cx="26517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94A3B8"/>
                </a:solidFill>
                <a:latin typeface="Calibri"/>
              </a:rPr>
              <a:t>Datasets loaded</a:t>
            </a:r>
          </a:p>
          <a:p>
            <a:pPr algn="l">
              <a:spcAft>
                <a:spcPts val="200"/>
              </a:spcAft>
            </a:pPr>
            <a:r>
              <a:rPr sz="3200" b="1">
                <a:solidFill>
                  <a:srgbClr val="6366F1"/>
                </a:solidFill>
                <a:latin typeface="Calibri"/>
              </a:rPr>
              <a:t>6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475569"/>
                </a:solidFill>
                <a:latin typeface="Calibri"/>
              </a:rPr>
              <a:t>six cleaned datasets, from seven loaded resources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383280" y="1691640"/>
            <a:ext cx="26517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94A3B8"/>
                </a:solidFill>
                <a:latin typeface="Calibri"/>
              </a:rPr>
              <a:t>Cantons in the reference</a:t>
            </a:r>
          </a:p>
          <a:p>
            <a:pPr algn="l">
              <a:spcAft>
                <a:spcPts val="200"/>
              </a:spcAft>
            </a:pPr>
            <a:r>
              <a:rPr sz="3200" b="1">
                <a:solidFill>
                  <a:srgbClr val="6366F1"/>
                </a:solidFill>
                <a:latin typeface="Calibri"/>
              </a:rPr>
              <a:t>388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475569"/>
                </a:solidFill>
                <a:latin typeface="Calibri"/>
              </a:rPr>
              <a:t>the corpus's only exhaustive grid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0" y="1691640"/>
            <a:ext cx="26517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94A3B8"/>
                </a:solidFill>
                <a:latin typeface="Calibri"/>
              </a:rPr>
              <a:t>Recorded facilities</a:t>
            </a:r>
          </a:p>
          <a:p>
            <a:pPr algn="l">
              <a:spcAft>
                <a:spcPts val="200"/>
              </a:spcAft>
            </a:pPr>
            <a:r>
              <a:rPr sz="3200" b="1">
                <a:solidFill>
                  <a:srgbClr val="6366F1"/>
                </a:solidFill>
                <a:latin typeface="Calibri"/>
              </a:rPr>
              <a:t>285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475569"/>
                </a:solidFill>
                <a:latin typeface="Calibri"/>
              </a:rPr>
              <a:t>two disjoint inventories, never summed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52560" y="1691640"/>
            <a:ext cx="26517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94A3B8"/>
                </a:solidFill>
                <a:latin typeface="Calibri"/>
              </a:rPr>
              <a:t>TdE fields published</a:t>
            </a:r>
          </a:p>
          <a:p>
            <a:pPr algn="l">
              <a:spcAft>
                <a:spcPts val="200"/>
              </a:spcAft>
            </a:pPr>
            <a:r>
              <a:rPr sz="3200" b="1">
                <a:solidFill>
                  <a:srgbClr val="6366F1"/>
                </a:solidFill>
                <a:latin typeface="Calibri"/>
              </a:rPr>
              <a:t>7 / 33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475569"/>
                </a:solidFill>
                <a:latin typeface="Calibri"/>
              </a:rPr>
              <a:t>of those its dictionary describes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200400"/>
            <a:ext cx="356616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6366F1"/>
                </a:solidFill>
                <a:latin typeface="Calibri"/>
              </a:rPr>
              <a:t>The join key</a:t>
            </a:r>
          </a:p>
          <a:p>
            <a:pPr algn="l">
              <a:spcAft>
                <a:spcPts val="500"/>
              </a:spcAft>
            </a:pPr>
            <a:r>
              <a:rPr sz="1000" b="0">
                <a:solidFill>
                  <a:srgbClr val="94A3B8"/>
                </a:solidFill>
                <a:latin typeface="Calibri"/>
              </a:rPr>
              <a:t>What links three different producers?</a:t>
            </a:r>
          </a:p>
          <a:p>
            <a:pPr algn="l">
              <a:spcAft>
                <a:spcPts val="400"/>
              </a:spcAft>
            </a:pPr>
            <a:r>
              <a:rPr sz="1300" b="1">
                <a:solidFill>
                  <a:srgbClr val="0F172A"/>
                </a:solidFill>
                <a:latin typeface="Calibri"/>
              </a:rPr>
              <a:t>The canton name, normalised</a:t>
            </a:r>
          </a:p>
          <a:p>
            <a:pPr algn="l">
              <a:spcAft>
                <a:spcPts val="0"/>
              </a:spcAft>
            </a:pPr>
            <a:r>
              <a:rPr sz="950" b="0">
                <a:solidFill>
                  <a:srgbClr val="475569"/>
                </a:solidFill>
                <a:latin typeface="Calibri"/>
              </a:rPr>
              <a:t>No shared identifier exists across the datasets. The normalised name matches 67 of 67 TdE facilities and 191 of 218 COSO micro-projects — the remaining 27 are kept and counted, never matched at random.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43400" y="3200400"/>
            <a:ext cx="356616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6366F1"/>
                </a:solidFill>
                <a:latin typeface="Calibri"/>
              </a:rPr>
              <a:t>Zeros are the data</a:t>
            </a:r>
          </a:p>
          <a:p>
            <a:pPr algn="l">
              <a:spcAft>
                <a:spcPts val="500"/>
              </a:spcAft>
            </a:pPr>
            <a:r>
              <a:rPr sz="1000" b="0">
                <a:solidFill>
                  <a:srgbClr val="94A3B8"/>
                </a:solidFill>
                <a:latin typeface="Calibri"/>
              </a:rPr>
              <a:t>What about cantons with no facility?</a:t>
            </a:r>
          </a:p>
          <a:p>
            <a:pPr algn="l">
              <a:spcAft>
                <a:spcPts val="400"/>
              </a:spcAft>
            </a:pPr>
            <a:r>
              <a:rPr sz="1300" b="1">
                <a:solidFill>
                  <a:srgbClr val="0F172A"/>
                </a:solidFill>
                <a:latin typeface="Calibri"/>
              </a:rPr>
              <a:t>Left join, systematically</a:t>
            </a:r>
          </a:p>
          <a:p>
            <a:pPr algn="l">
              <a:spcAft>
                <a:spcPts val="0"/>
              </a:spcAft>
            </a:pPr>
            <a:r>
              <a:rPr sz="950" b="0">
                <a:solidFill>
                  <a:srgbClr val="475569"/>
                </a:solidFill>
                <a:latin typeface="Calibri"/>
              </a:rPr>
              <a:t>An inner join would erase them, and the dashboard would show a fully equipped country. It is the absence that carries the finding.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38160" y="3200400"/>
            <a:ext cx="356616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6366F1"/>
                </a:solidFill>
                <a:latin typeface="Calibri"/>
              </a:rPr>
              <a:t>What we did not do</a:t>
            </a:r>
          </a:p>
          <a:p>
            <a:pPr algn="l">
              <a:spcAft>
                <a:spcPts val="500"/>
              </a:spcAft>
            </a:pPr>
            <a:r>
              <a:rPr sz="1000" b="0">
                <a:solidFill>
                  <a:srgbClr val="94A3B8"/>
                </a:solidFill>
                <a:latin typeface="Calibri"/>
              </a:rPr>
              <a:t>Which temptations set aside?</a:t>
            </a:r>
          </a:p>
          <a:p>
            <a:pPr algn="l">
              <a:spcAft>
                <a:spcPts val="400"/>
              </a:spcAft>
            </a:pPr>
            <a:r>
              <a:rPr sz="1300" b="1">
                <a:solidFill>
                  <a:srgbClr val="0F172A"/>
                </a:solidFill>
                <a:latin typeface="Calibri"/>
              </a:rPr>
              <a:t>No national facility total</a:t>
            </a:r>
          </a:p>
          <a:p>
            <a:pPr algn="l">
              <a:spcAft>
                <a:spcPts val="0"/>
              </a:spcAft>
            </a:pPr>
            <a:r>
              <a:rPr sz="950" b="0">
                <a:solidFill>
                  <a:srgbClr val="475569"/>
                </a:solidFill>
                <a:latin typeface="Calibri"/>
              </a:rPr>
              <a:t>The two stocks cover disjoint territories — 97 % of TdE in Maritime, COSO in the North. Adding them would fabricate an inventory that does not exist.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94A3B8"/>
                </a:solidFill>
                <a:latin typeface="Calibri"/>
              </a:rPr>
              <a:t>Access to drinking water in Togo · page 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600" b="1">
                <a:solidFill>
                  <a:srgbClr val="0F172A"/>
                </a:solidFill>
                <a:latin typeface="Calibri"/>
              </a:rPr>
              <a:t>3 · Where the water is, and how far away</a:t>
            </a:r>
          </a:p>
          <a:p>
            <a:pPr algn="l">
              <a:spcAft>
                <a:spcPts val="0"/>
              </a:spcAft>
            </a:pPr>
            <a:r>
              <a:rPr sz="1300" b="0">
                <a:solidFill>
                  <a:srgbClr val="94A3B8"/>
                </a:solidFill>
                <a:latin typeface="Calibri"/>
              </a:rPr>
              <a:t>Population reached, by distance to the nearest recorded facility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07008"/>
            <a:ext cx="11064240" cy="27432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548640" y="1645920"/>
          <a:ext cx="6675120" cy="42062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589520" y="1828800"/>
            <a:ext cx="39319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94A3B8"/>
                </a:solidFill>
                <a:latin typeface="Calibri"/>
              </a:rPr>
              <a:t>Median distance to water</a:t>
            </a:r>
          </a:p>
          <a:p>
            <a:pPr algn="l">
              <a:spcAft>
                <a:spcPts val="200"/>
              </a:spcAft>
            </a:pPr>
            <a:r>
              <a:rPr sz="3200" b="1">
                <a:solidFill>
                  <a:srgbClr val="D03B3B"/>
                </a:solidFill>
                <a:latin typeface="Calibri"/>
              </a:rPr>
              <a:t>26 km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475569"/>
                </a:solidFill>
                <a:latin typeface="Calibri"/>
              </a:rPr>
              <a:t>from a canton to the nearest recorded facility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589520" y="3200400"/>
            <a:ext cx="39319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94A3B8"/>
                </a:solidFill>
                <a:latin typeface="Calibri"/>
              </a:rPr>
              <a:t>Cantons beyond 10 km</a:t>
            </a:r>
          </a:p>
          <a:p>
            <a:pPr algn="l">
              <a:spcAft>
                <a:spcPts val="200"/>
              </a:spcAft>
            </a:pPr>
            <a:r>
              <a:rPr sz="3200" b="1">
                <a:solidFill>
                  <a:srgbClr val="D03B3B"/>
                </a:solidFill>
                <a:latin typeface="Calibri"/>
              </a:rPr>
              <a:t>288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475569"/>
                </a:solidFill>
                <a:latin typeface="Calibri"/>
              </a:rPr>
              <a:t>53% of the country's population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589520" y="4572000"/>
            <a:ext cx="39319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6366F1"/>
                </a:solidFill>
                <a:latin typeface="Calibri"/>
              </a:rPr>
              <a:t>What the distance measures</a:t>
            </a:r>
          </a:p>
          <a:p>
            <a:pPr algn="l">
              <a:spcAft>
                <a:spcPts val="500"/>
              </a:spcAft>
            </a:pPr>
            <a:r>
              <a:rPr sz="1000" b="0">
                <a:solidFill>
                  <a:srgbClr val="94A3B8"/>
                </a:solidFill>
                <a:latin typeface="Calibri"/>
              </a:rPr>
              <a:t>Poorly served, or poorly recorded?</a:t>
            </a:r>
          </a:p>
          <a:p>
            <a:pPr algn="l">
              <a:spcAft>
                <a:spcPts val="400"/>
              </a:spcAft>
            </a:pPr>
            <a:r>
              <a:rPr sz="1300" b="1">
                <a:solidFill>
                  <a:srgbClr val="0F172A"/>
                </a:solidFill>
                <a:latin typeface="Calibri"/>
              </a:rPr>
              <a:t>R = 0.41 — facilities are clustered</a:t>
            </a:r>
          </a:p>
          <a:p>
            <a:pPr algn="l">
              <a:spcAft>
                <a:spcPts val="0"/>
              </a:spcAft>
            </a:pPr>
            <a:r>
              <a:rPr sz="950" b="0">
                <a:solidFill>
                  <a:srgbClr val="475569"/>
                </a:solidFill>
                <a:latin typeface="Calibri"/>
              </a:rPr>
              <a:t>The Clark-Evans index is 1 when points fall at random; below 0.5 they are clustered. So this distance measures the inventory as much as the service: a canton with no recorded facility is not a canton without water, it is a canton whose water nobody publishes.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94A3B8"/>
                </a:solidFill>
                <a:latin typeface="Calibri"/>
              </a:rPr>
              <a:t>Access to drinking water in Togo · page 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600" b="1">
                <a:solidFill>
                  <a:srgbClr val="0F172A"/>
                </a:solidFill>
                <a:latin typeface="Calibri"/>
              </a:rPr>
              <a:t>4 · Facility condition: the missing field</a:t>
            </a:r>
          </a:p>
          <a:p>
            <a:pPr algn="l">
              <a:spcAft>
                <a:spcPts val="0"/>
              </a:spcAft>
            </a:pPr>
            <a:r>
              <a:rPr sz="1300" b="0">
                <a:solidFill>
                  <a:srgbClr val="94A3B8"/>
                </a:solidFill>
                <a:latin typeface="Calibri"/>
              </a:rPr>
              <a:t>No operating status in the corpus — two proxies, and what they cannot replace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07008"/>
            <a:ext cx="11064240" cy="27432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548640" y="1645920"/>
          <a:ext cx="6675120" cy="42062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589520" y="1828800"/>
            <a:ext cx="39319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94A3B8"/>
                </a:solidFill>
                <a:latin typeface="Calibri"/>
              </a:rPr>
              <a:t>Fields described, not published</a:t>
            </a:r>
          </a:p>
          <a:p>
            <a:pPr algn="l">
              <a:spcAft>
                <a:spcPts val="200"/>
              </a:spcAft>
            </a:pPr>
            <a:r>
              <a:rPr sz="3200" b="1">
                <a:solidFill>
                  <a:srgbClr val="D03B3B"/>
                </a:solidFill>
                <a:latin typeface="Calibri"/>
              </a:rPr>
              <a:t>26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475569"/>
                </a:solidFill>
                <a:latin typeface="Calibri"/>
              </a:rPr>
              <a:t>of 33 described by the TdE dictionary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589520" y="3200400"/>
            <a:ext cx="39319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94A3B8"/>
                </a:solidFill>
                <a:latin typeface="Calibri"/>
              </a:rPr>
              <a:t>Works accepted, never handed over</a:t>
            </a:r>
          </a:p>
          <a:p>
            <a:pPr algn="l">
              <a:spcAft>
                <a:spcPts val="200"/>
              </a:spcAft>
            </a:pPr>
            <a:r>
              <a:rPr sz="3200" b="1">
                <a:solidFill>
                  <a:srgbClr val="D03B3B"/>
                </a:solidFill>
                <a:latin typeface="Calibri"/>
              </a:rPr>
              <a:t>74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475569"/>
                </a:solidFill>
                <a:latin typeface="Calibri"/>
              </a:rPr>
              <a:t>median handover delay: 398 days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589520" y="4572000"/>
            <a:ext cx="39319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6366F1"/>
                </a:solidFill>
                <a:latin typeface="Calibri"/>
              </a:rPr>
              <a:t>The functionality rate</a:t>
            </a:r>
          </a:p>
          <a:p>
            <a:pPr algn="l">
              <a:spcAft>
                <a:spcPts val="500"/>
              </a:spcAft>
            </a:pPr>
            <a:r>
              <a:rPr sz="1000" b="0">
                <a:solidFill>
                  <a:srgbClr val="94A3B8"/>
                </a:solidFill>
                <a:latin typeface="Calibri"/>
              </a:rPr>
              <a:t>Can it be computed?</a:t>
            </a:r>
          </a:p>
          <a:p>
            <a:pPr algn="l">
              <a:spcAft>
                <a:spcPts val="400"/>
              </a:spcAft>
            </a:pPr>
            <a:r>
              <a:rPr sz="1300" b="1">
                <a:solidFill>
                  <a:srgbClr val="0F172A"/>
                </a:solidFill>
                <a:latin typeface="Calibri"/>
              </a:rPr>
              <a:t>No — no field carries it</a:t>
            </a:r>
          </a:p>
          <a:p>
            <a:pPr algn="l">
              <a:spcAft>
                <a:spcPts val="0"/>
              </a:spcAft>
            </a:pPr>
            <a:r>
              <a:rPr sz="950" b="0">
                <a:solidFill>
                  <a:srgbClr val="475569"/>
                </a:solidFill>
                <a:latin typeface="Calibri"/>
              </a:rPr>
              <a:t>The brief asks for breakdown rates by region; the corpus cannot deliver them: no status, no failure date, no abandonment. A maintenance plan and a handover are upkeep signals, not service measures — a facility with a plan may well be down, and nothing here would say so.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94A3B8"/>
                </a:solidFill>
                <a:latin typeface="Calibri"/>
              </a:rPr>
              <a:t>Access to drinking water in Togo · page 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600" b="1">
                <a:solidFill>
                  <a:srgbClr val="0F172A"/>
                </a:solidFill>
                <a:latin typeface="Calibri"/>
              </a:rPr>
              <a:t>5 · Demographic pressure against the inventory</a:t>
            </a:r>
          </a:p>
          <a:p>
            <a:pPr algn="l">
              <a:spcAft>
                <a:spcPts val="0"/>
              </a:spcAft>
            </a:pPr>
            <a:r>
              <a:rPr sz="1300" b="0">
                <a:solidFill>
                  <a:srgbClr val="94A3B8"/>
                </a:solidFill>
                <a:latin typeface="Calibri"/>
              </a:rPr>
              <a:t>Inhabitants per recorded facility, region by region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07008"/>
            <a:ext cx="11064240" cy="27432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548640" y="1645920"/>
          <a:ext cx="6675120" cy="42062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589520" y="1828800"/>
            <a:ext cx="39319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94A3B8"/>
                </a:solidFill>
                <a:latin typeface="Calibri"/>
              </a:rPr>
              <a:t>Plateaux</a:t>
            </a:r>
          </a:p>
          <a:p>
            <a:pPr algn="l">
              <a:spcAft>
                <a:spcPts val="200"/>
              </a:spcAft>
            </a:pPr>
            <a:r>
              <a:rPr sz="3200" b="1">
                <a:solidFill>
                  <a:srgbClr val="D03B3B"/>
                </a:solidFill>
                <a:latin typeface="Calibri"/>
              </a:rPr>
              <a:t>1.7 M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475569"/>
                </a:solidFill>
                <a:latin typeface="Calibri"/>
              </a:rPr>
              <a:t>inhabitants for a single recorded facility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589520" y="3291840"/>
            <a:ext cx="393192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6366F1"/>
                </a:solidFill>
                <a:latin typeface="Calibri"/>
              </a:rPr>
              <a:t>What the average hides</a:t>
            </a:r>
          </a:p>
          <a:p>
            <a:pPr algn="l">
              <a:spcAft>
                <a:spcPts val="500"/>
              </a:spcAft>
            </a:pPr>
            <a:r>
              <a:rPr sz="1000" b="0">
                <a:solidFill>
                  <a:srgbClr val="94A3B8"/>
                </a:solidFill>
                <a:latin typeface="Calibri"/>
              </a:rPr>
              <a:t>Is a national average enough?</a:t>
            </a:r>
          </a:p>
          <a:p>
            <a:pPr algn="l">
              <a:spcAft>
                <a:spcPts val="400"/>
              </a:spcAft>
            </a:pPr>
            <a:r>
              <a:rPr sz="1300" b="1">
                <a:solidFill>
                  <a:srgbClr val="0F172A"/>
                </a:solidFill>
                <a:latin typeface="Calibri"/>
              </a:rPr>
              <a:t>31.5 k inhabitants per facility</a:t>
            </a:r>
          </a:p>
          <a:p>
            <a:pPr algn="l">
              <a:spcAft>
                <a:spcPts val="0"/>
              </a:spcAft>
            </a:pPr>
            <a:r>
              <a:rPr sz="950" b="0">
                <a:solidFill>
                  <a:srgbClr val="475569"/>
                </a:solidFill>
                <a:latin typeface="Calibri"/>
              </a:rPr>
              <a:t>It covers a 1-to-245 ratio between Savanes, where a programme concentrated its micro-projects, and Plateaux, which the inventory almost entirely ignores.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94A3B8"/>
                </a:solidFill>
                <a:latin typeface="Calibri"/>
              </a:rPr>
              <a:t>Access to drinking water in Togo · page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600" b="1">
                <a:solidFill>
                  <a:srgbClr val="0F172A"/>
                </a:solidFill>
                <a:latin typeface="Calibri"/>
              </a:rPr>
              <a:t>6 · Risk is concentrated; equipment is not</a:t>
            </a:r>
          </a:p>
          <a:p>
            <a:pPr algn="l">
              <a:spcAft>
                <a:spcPts val="0"/>
              </a:spcAft>
            </a:pPr>
            <a:r>
              <a:rPr sz="1300" b="0">
                <a:solidFill>
                  <a:srgbClr val="94A3B8"/>
                </a:solidFill>
                <a:latin typeface="Calibri"/>
              </a:rPr>
              <a:t>Population by official risk class, and what explains where facilities are built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07008"/>
            <a:ext cx="11064240" cy="27432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548640" y="1645920"/>
          <a:ext cx="6675120" cy="42062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589520" y="1737360"/>
            <a:ext cx="39319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94A3B8"/>
                </a:solidFill>
                <a:latin typeface="Calibri"/>
              </a:rPr>
              <a:t>High-risk cantons</a:t>
            </a:r>
          </a:p>
          <a:p>
            <a:pPr algn="l">
              <a:spcAft>
                <a:spcPts val="200"/>
              </a:spcAft>
            </a:pPr>
            <a:r>
              <a:rPr sz="3200" b="1">
                <a:solidFill>
                  <a:srgbClr val="D03B3B"/>
                </a:solidFill>
                <a:latin typeface="Calibri"/>
              </a:rPr>
              <a:t>17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475569"/>
                </a:solidFill>
                <a:latin typeface="Calibri"/>
              </a:rPr>
              <a:t>4% of the grid, 2.9 M inhabitants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589520" y="3063240"/>
            <a:ext cx="39319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6366F1"/>
                </a:solidFill>
                <a:latin typeface="Calibri"/>
              </a:rPr>
              <a:t>What explains the allocation</a:t>
            </a:r>
          </a:p>
          <a:p>
            <a:pPr algn="l">
              <a:spcAft>
                <a:spcPts val="500"/>
              </a:spcAft>
            </a:pPr>
            <a:r>
              <a:rPr sz="1000" b="0">
                <a:solidFill>
                  <a:srgbClr val="94A3B8"/>
                </a:solidFill>
                <a:latin typeface="Calibri"/>
              </a:rPr>
              <a:t>Need, or the programme's footprint?</a:t>
            </a:r>
          </a:p>
          <a:p>
            <a:pPr algn="l">
              <a:spcAft>
                <a:spcPts val="400"/>
              </a:spcAft>
            </a:pPr>
            <a:r>
              <a:rPr sz="1300" b="1">
                <a:solidFill>
                  <a:srgbClr val="0F172A"/>
                </a:solidFill>
                <a:latin typeface="Calibri"/>
              </a:rPr>
              <a:t>7% from need, 27% adding the region</a:t>
            </a:r>
          </a:p>
          <a:p>
            <a:pPr algn="l">
              <a:spcAft>
                <a:spcPts val="0"/>
              </a:spcAft>
            </a:pPr>
            <a:r>
              <a:rPr sz="950" b="0">
                <a:solidFill>
                  <a:srgbClr val="475569"/>
                </a:solidFill>
                <a:latin typeface="Calibri"/>
              </a:rPr>
              <a:t>Population, risk and wealth explain little; adding the region quadruples the explanatory power. 12 exposed cantons — 1.7 M inhabitants — have no recorded facility.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589520" y="4572000"/>
            <a:ext cx="39319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6366F1"/>
                </a:solidFill>
                <a:latin typeface="Calibri"/>
              </a:rPr>
              <a:t>The expected objection</a:t>
            </a:r>
          </a:p>
          <a:p>
            <a:pPr algn="l">
              <a:spcAft>
                <a:spcPts val="500"/>
              </a:spcAft>
            </a:pPr>
            <a:r>
              <a:rPr sz="1000" b="0">
                <a:solidFill>
                  <a:srgbClr val="94A3B8"/>
                </a:solidFill>
                <a:latin typeface="Calibri"/>
              </a:rPr>
              <a:t>Does the index just rank populous cantons?</a:t>
            </a:r>
          </a:p>
          <a:p>
            <a:pPr algn="l">
              <a:spcAft>
                <a:spcPts val="400"/>
              </a:spcAft>
            </a:pPr>
            <a:r>
              <a:rPr sz="1300" b="1">
                <a:solidFill>
                  <a:srgbClr val="0F172A"/>
                </a:solidFill>
                <a:latin typeface="Calibri"/>
              </a:rPr>
              <a:t>No — ρ = 0.94 without population</a:t>
            </a:r>
          </a:p>
          <a:p>
            <a:pPr algn="l">
              <a:spcAft>
                <a:spcPts val="0"/>
              </a:spcAft>
            </a:pPr>
            <a:r>
              <a:rPr sz="950" b="0">
                <a:solidFill>
                  <a:srgbClr val="475569"/>
                </a:solidFill>
                <a:latin typeface="Calibri"/>
              </a:rPr>
              <a:t>Dropping the demographic component and recomputing the index moves cantons by 3 places at the median, across the 42 where the official formula reproduces. The ranking holds without population: it does not rank people, it ranks ground.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94A3B8"/>
                </a:solidFill>
                <a:latin typeface="Calibri"/>
              </a:rPr>
              <a:t>Access to drinking water in Togo · page 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600" b="1">
                <a:solidFill>
                  <a:srgbClr val="0F172A"/>
                </a:solidFill>
                <a:latin typeface="Calibri"/>
              </a:rPr>
              <a:t>7 · A borehole's cost does not depend on whom it serves</a:t>
            </a:r>
          </a:p>
          <a:p>
            <a:pPr algn="l">
              <a:spcAft>
                <a:spcPts val="0"/>
              </a:spcAft>
            </a:pPr>
            <a:r>
              <a:rPr sz="1300" b="0">
                <a:solidFill>
                  <a:srgbClr val="94A3B8"/>
                </a:solidFill>
                <a:latin typeface="Calibri"/>
              </a:rPr>
              <a:t>Cost per beneficiary, by quintile of population served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07008"/>
            <a:ext cx="11064240" cy="27432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548640" y="1645920"/>
          <a:ext cx="6675120" cy="42062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589520" y="1737360"/>
            <a:ext cx="39319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94A3B8"/>
                </a:solidFill>
                <a:latin typeface="Calibri"/>
              </a:rPr>
              <a:t>Median facility cost</a:t>
            </a:r>
          </a:p>
          <a:p>
            <a:pPr algn="l">
              <a:spcAft>
                <a:spcPts val="200"/>
              </a:spcAft>
            </a:pPr>
            <a:r>
              <a:rPr sz="3200" b="1">
                <a:solidFill>
                  <a:srgbClr val="6366F1"/>
                </a:solidFill>
                <a:latin typeface="Calibri"/>
              </a:rPr>
              <a:t>16.8 M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475569"/>
                </a:solidFill>
                <a:latin typeface="Calibri"/>
              </a:rPr>
              <a:t>whatever the number of beneficiaries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589520" y="3063240"/>
            <a:ext cx="39319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94A3B8"/>
                </a:solidFill>
                <a:latin typeface="Calibri"/>
              </a:rPr>
              <a:t>Elasticity to population</a:t>
            </a:r>
          </a:p>
          <a:p>
            <a:pPr algn="l">
              <a:spcAft>
                <a:spcPts val="200"/>
              </a:spcAft>
            </a:pPr>
            <a:r>
              <a:rPr sz="3200" b="1">
                <a:solidFill>
                  <a:srgbClr val="D03B3B"/>
                </a:solidFill>
                <a:latin typeface="Calibri"/>
              </a:rPr>
              <a:t>0.55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475569"/>
                </a:solidFill>
                <a:latin typeface="Calibri"/>
              </a:rPr>
              <a:t>over 35 equipped cantons · Gini of 0.39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589520" y="4389120"/>
            <a:ext cx="39319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6366F1"/>
                </a:solidFill>
                <a:latin typeface="Calibri"/>
              </a:rPr>
              <a:t>A decision variable</a:t>
            </a:r>
          </a:p>
          <a:p>
            <a:pPr algn="l">
              <a:spcAft>
                <a:spcPts val="500"/>
              </a:spcAft>
            </a:pPr>
            <a:r>
              <a:rPr sz="1000" b="0">
                <a:solidFill>
                  <a:srgbClr val="94A3B8"/>
                </a:solidFill>
                <a:latin typeface="Calibri"/>
              </a:rPr>
              <a:t>Where does the per-head cost gap come from?</a:t>
            </a:r>
          </a:p>
          <a:p>
            <a:pPr algn="l">
              <a:spcAft>
                <a:spcPts val="400"/>
              </a:spcAft>
            </a:pPr>
            <a:r>
              <a:rPr sz="1300" b="1">
                <a:solidFill>
                  <a:srgbClr val="0F172A"/>
                </a:solidFill>
                <a:latin typeface="Calibri"/>
              </a:rPr>
              <a:t>9-fold, from first to last quintile</a:t>
            </a:r>
          </a:p>
          <a:p>
            <a:pPr algn="l">
              <a:spcAft>
                <a:spcPts val="0"/>
              </a:spcAft>
            </a:pPr>
            <a:r>
              <a:rPr sz="950" b="0">
                <a:solidFill>
                  <a:srgbClr val="475569"/>
                </a:solidFill>
                <a:latin typeface="Calibri"/>
              </a:rPr>
              <a:t>The elasticity of cost to beneficiaries is statistically nil: cost per inhabitant is therefore decided by choosing WHERE to build, not by negotiating price. Competitive tendering also came in 17% below the initial estimate, for 3.5 bn FCFA disbursed — headroom already freed.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94A3B8"/>
                </a:solidFill>
                <a:latin typeface="Calibri"/>
              </a:rPr>
              <a:t>Access to drinking water in Togo · page 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600" b="1">
                <a:solidFill>
                  <a:srgbClr val="0F172A"/>
                </a:solidFill>
                <a:latin typeface="Calibri"/>
              </a:rPr>
              <a:t>8 · How many facilities are missing, and at what price</a:t>
            </a:r>
          </a:p>
          <a:p>
            <a:pPr algn="l">
              <a:spcAft>
                <a:spcPts val="0"/>
              </a:spcAft>
            </a:pPr>
            <a:r>
              <a:rPr sz="1300" b="0">
                <a:solidFill>
                  <a:srgbClr val="94A3B8"/>
                </a:solidFill>
                <a:latin typeface="Calibri"/>
              </a:rPr>
              <a:t>Three service thresholds, three programmes — the threshold is a policy choice, not a finding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07008"/>
            <a:ext cx="11064240" cy="27432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548640" y="1645920"/>
          <a:ext cx="6675120" cy="42062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589520" y="1737360"/>
            <a:ext cx="39319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94A3B8"/>
                </a:solidFill>
                <a:latin typeface="Calibri"/>
              </a:rPr>
              <a:t>Facilities to level the regions</a:t>
            </a:r>
          </a:p>
          <a:p>
            <a:pPr algn="l">
              <a:spcAft>
                <a:spcPts val="200"/>
              </a:spcAft>
            </a:pPr>
            <a:r>
              <a:rPr sz="3200" b="1">
                <a:solidFill>
                  <a:srgbClr val="6366F1"/>
                </a:solidFill>
                <a:latin typeface="Calibri"/>
              </a:rPr>
              <a:t>34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475569"/>
                </a:solidFill>
                <a:latin typeface="Calibri"/>
              </a:rPr>
              <a:t>onto the national median — 567.9 M FCFA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589520" y="3063240"/>
            <a:ext cx="39319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94A3B8"/>
                </a:solidFill>
                <a:latin typeface="Calibri"/>
              </a:rPr>
              <a:t>Scenario: 1 per 1,000 people</a:t>
            </a:r>
          </a:p>
          <a:p>
            <a:pPr algn="l">
              <a:spcAft>
                <a:spcPts val="200"/>
              </a:spcAft>
            </a:pPr>
            <a:r>
              <a:rPr sz="3200" b="1">
                <a:solidFill>
                  <a:srgbClr val="D03B3B"/>
                </a:solidFill>
                <a:latin typeface="Calibri"/>
              </a:rPr>
              <a:t>131.7 bn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475569"/>
                </a:solidFill>
                <a:latin typeface="Calibri"/>
              </a:rPr>
              <a:t>7,886 facilities to build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589520" y="4389120"/>
            <a:ext cx="39319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6366F1"/>
                </a:solidFill>
                <a:latin typeface="Calibri"/>
              </a:rPr>
              <a:t>The unit price</a:t>
            </a:r>
          </a:p>
          <a:p>
            <a:pPr algn="l">
              <a:spcAft>
                <a:spcPts val="500"/>
              </a:spcAft>
            </a:pPr>
            <a:r>
              <a:rPr sz="1000" b="0">
                <a:solidFill>
                  <a:srgbClr val="94A3B8"/>
                </a:solidFill>
                <a:latin typeface="Calibri"/>
              </a:rPr>
              <a:t>Where does it come from?</a:t>
            </a:r>
          </a:p>
          <a:p>
            <a:pPr algn="l">
              <a:spcAft>
                <a:spcPts val="400"/>
              </a:spcAft>
            </a:pPr>
            <a:r>
              <a:rPr sz="1300" b="1">
                <a:solidFill>
                  <a:srgbClr val="0F172A"/>
                </a:solidFill>
                <a:latin typeface="Calibri"/>
              </a:rPr>
              <a:t>16.7 M FCFA, observed median</a:t>
            </a:r>
          </a:p>
          <a:p>
            <a:pPr algn="l">
              <a:spcAft>
                <a:spcPts val="0"/>
              </a:spcAft>
            </a:pPr>
            <a:r>
              <a:rPr sz="950" b="0">
                <a:solidFill>
                  <a:srgbClr val="475569"/>
                </a:solidFill>
                <a:latin typeface="Calibri"/>
              </a:rPr>
              <a:t>Median of amounts actually paid on 215 COSO facilities, not a price list. It therefore carries that programme's conditions — northern labour, borehole depth, contract year — and does not transpose as-is to another region.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94A3B8"/>
                </a:solidFill>
                <a:latin typeface="Calibri"/>
              </a:rPr>
              <a:t>Access to drinking water in Togo · page 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600" b="1">
                <a:solidFill>
                  <a:srgbClr val="0F172A"/>
                </a:solidFill>
                <a:latin typeface="Calibri"/>
              </a:rPr>
              <a:t>9 · Two dated programmes, canton by canton</a:t>
            </a:r>
          </a:p>
          <a:p>
            <a:pPr algn="l">
              <a:spcAft>
                <a:spcPts val="0"/>
              </a:spcAft>
            </a:pPr>
            <a:r>
              <a:rPr sz="1300" b="0">
                <a:solidFill>
                  <a:srgbClr val="94A3B8"/>
                </a:solidFill>
                <a:latin typeface="Calibri"/>
              </a:rPr>
              <a:t>What the dashboard puts on the map: a site, a year, an amount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07008"/>
            <a:ext cx="11064240" cy="27432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548640" y="1645920"/>
          <a:ext cx="6675120" cy="42062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589520" y="1737360"/>
            <a:ext cx="39319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94A3B8"/>
                </a:solidFill>
                <a:latin typeface="Calibri"/>
              </a:rPr>
              <a:t>Facilities programme</a:t>
            </a:r>
          </a:p>
          <a:p>
            <a:pPr algn="l">
              <a:spcAft>
                <a:spcPts val="200"/>
              </a:spcAft>
            </a:pPr>
            <a:r>
              <a:rPr sz="3200" b="1">
                <a:solidFill>
                  <a:srgbClr val="6366F1"/>
                </a:solidFill>
                <a:latin typeface="Calibri"/>
              </a:rPr>
              <a:t>27.6 bn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475569"/>
                </a:solidFill>
                <a:latin typeface="Calibri"/>
              </a:rPr>
              <a:t>1,651 facilities over 5 years, 1 per 5,000 people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589520" y="3063240"/>
            <a:ext cx="39319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94A3B8"/>
                </a:solidFill>
                <a:latin typeface="Calibri"/>
              </a:rPr>
              <a:t>Flood programme</a:t>
            </a:r>
          </a:p>
          <a:p>
            <a:pPr algn="l">
              <a:spcAft>
                <a:spcPts val="200"/>
              </a:spcAft>
            </a:pPr>
            <a:r>
              <a:rPr sz="3200" b="1">
                <a:solidFill>
                  <a:srgbClr val="D03B3B"/>
                </a:solidFill>
                <a:latin typeface="Calibri"/>
              </a:rPr>
              <a:t>4.2 bn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475569"/>
                </a:solidFill>
                <a:latin typeface="Calibri"/>
              </a:rPr>
              <a:t>17 cantons over 3 years · 250.0 M FCFA per works, an ASSUMED cost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589520" y="4389120"/>
            <a:ext cx="39319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6366F1"/>
                </a:solidFill>
                <a:latin typeface="Calibri"/>
              </a:rPr>
              <a:t>Upkeep, the forgotten line</a:t>
            </a:r>
          </a:p>
          <a:p>
            <a:pPr algn="l">
              <a:spcAft>
                <a:spcPts val="500"/>
              </a:spcAft>
            </a:pPr>
            <a:r>
              <a:rPr sz="1000" b="0">
                <a:solidFill>
                  <a:srgbClr val="94A3B8"/>
                </a:solidFill>
                <a:latin typeface="Calibri"/>
              </a:rPr>
              <a:t>What does the stock cost once delivered?</a:t>
            </a:r>
          </a:p>
          <a:p>
            <a:pPr algn="l">
              <a:spcAft>
                <a:spcPts val="400"/>
              </a:spcAft>
            </a:pPr>
            <a:r>
              <a:rPr sz="1300" b="1">
                <a:solidFill>
                  <a:srgbClr val="0F172A"/>
                </a:solidFill>
                <a:latin typeface="Calibri"/>
              </a:rPr>
              <a:t>11% of investment, at the observed rate</a:t>
            </a:r>
          </a:p>
          <a:p>
            <a:pPr algn="l">
              <a:spcAft>
                <a:spcPts val="0"/>
              </a:spcAft>
            </a:pPr>
            <a:r>
              <a:rPr sz="950" b="0">
                <a:solidFill>
                  <a:srgbClr val="475569"/>
                </a:solidFill>
                <a:latin typeface="Calibri"/>
              </a:rPr>
              <a:t>COSO sets aside 1.35% of a facility's cost for upkeep. At the usual three to eight percent, the cumulative charge would reach 64% of the investment by the horizon. A stock built without upkeep stops working — and stopping is exactly what the corpus cannot show.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94A3B8"/>
                </a:solidFill>
                <a:latin typeface="Calibri"/>
              </a:rPr>
              <a:t>Access to drinking water in Togo · page 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600" b="1">
                <a:solidFill>
                  <a:srgbClr val="0F172A"/>
                </a:solidFill>
                <a:latin typeface="Calibri"/>
              </a:rPr>
              <a:t>10 · What this corpus establishes, and what it refuses</a:t>
            </a:r>
          </a:p>
          <a:p>
            <a:pPr algn="l">
              <a:spcAft>
                <a:spcPts val="0"/>
              </a:spcAft>
            </a:pPr>
            <a:r>
              <a:rPr sz="1300" b="0">
                <a:solidFill>
                  <a:srgbClr val="94A3B8"/>
                </a:solidFill>
                <a:latin typeface="Calibri"/>
              </a:rPr>
              <a:t>Two conclusions, three acknowledged limits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07008"/>
            <a:ext cx="11064240" cy="27432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737360"/>
            <a:ext cx="54864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6366F1"/>
                </a:solidFill>
                <a:latin typeface="Calibri"/>
              </a:rPr>
              <a:t>What is established</a:t>
            </a:r>
          </a:p>
          <a:p>
            <a:pPr algn="l">
              <a:spcAft>
                <a:spcPts val="500"/>
              </a:spcAft>
            </a:pPr>
            <a:r>
              <a:rPr sz="1000" b="0">
                <a:solidFill>
                  <a:srgbClr val="94A3B8"/>
                </a:solidFill>
                <a:latin typeface="Calibri"/>
              </a:rPr>
              <a:t>What can be stated without reservation?</a:t>
            </a:r>
          </a:p>
          <a:p>
            <a:pPr algn="l">
              <a:spcAft>
                <a:spcPts val="400"/>
              </a:spcAft>
            </a:pPr>
            <a:r>
              <a:rPr sz="1300" b="1">
                <a:solidFill>
                  <a:srgbClr val="0F172A"/>
                </a:solidFill>
                <a:latin typeface="Calibri"/>
              </a:rPr>
              <a:t>Risk is concentrated, allocation does not follow it</a:t>
            </a:r>
          </a:p>
          <a:p>
            <a:pPr algn="l">
              <a:spcAft>
                <a:spcPts val="0"/>
              </a:spcAft>
            </a:pPr>
            <a:r>
              <a:rPr sz="950" b="0">
                <a:solidFill>
                  <a:srgbClr val="475569"/>
                </a:solidFill>
                <a:latin typeface="Calibri"/>
              </a:rPr>
              <a:t>Seventeen cantons hold a third of the country. Where facilities stand is better explained by programme footprints than by need, and the median distance to water says the same thing differently. The catch-up is costed, dated and placed canton by canton.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09359" y="1737360"/>
            <a:ext cx="54864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6366F1"/>
                </a:solidFill>
                <a:latin typeface="Calibri"/>
              </a:rPr>
              <a:t>What remains impossible</a:t>
            </a:r>
          </a:p>
          <a:p>
            <a:pPr algn="l">
              <a:spcAft>
                <a:spcPts val="500"/>
              </a:spcAft>
            </a:pPr>
            <a:r>
              <a:rPr sz="1000" b="0">
                <a:solidFill>
                  <a:srgbClr val="94A3B8"/>
                </a:solidFill>
                <a:latin typeface="Calibri"/>
              </a:rPr>
              <a:t>Which stated objective is unreachable?</a:t>
            </a:r>
          </a:p>
          <a:p>
            <a:pPr algn="l">
              <a:spcAft>
                <a:spcPts val="400"/>
              </a:spcAft>
            </a:pPr>
            <a:r>
              <a:rPr sz="1300" b="1">
                <a:solidFill>
                  <a:srgbClr val="0F172A"/>
                </a:solidFill>
                <a:latin typeface="Calibri"/>
              </a:rPr>
              <a:t>Functionality rates</a:t>
            </a:r>
          </a:p>
          <a:p>
            <a:pPr algn="l">
              <a:spcAft>
                <a:spcPts val="0"/>
              </a:spcAft>
            </a:pPr>
            <a:r>
              <a:rPr sz="950" b="0">
                <a:solidFill>
                  <a:srgbClr val="475569"/>
                </a:solidFill>
                <a:latin typeface="Calibri"/>
              </a:rPr>
              <a:t>No breakdown, abandonment or commissioning field appears in the published corpus. This is not data that was never collected: the producer's dictionary describes it. It is data collected and not released.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206240"/>
            <a:ext cx="110642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Calibri"/>
              </a:rPr>
              <a:t>Three limits this report accepts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475569"/>
                </a:solidFill>
                <a:latin typeface="Calibri"/>
              </a:rPr>
              <a:t>The estimates identify no causal effect — no random assignment, no discontinuity, no instrument. They are conditional associations, and their value lies in whether they survive region fixed effects.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475569"/>
                </a:solidFill>
                <a:latin typeface="Calibri"/>
              </a:rPr>
              <a:t>The COSO stock covers three northern regions and the TdE stock Maritime alone: no national inference can be drawn from their execution.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475569"/>
                </a:solidFill>
                <a:latin typeface="Calibri"/>
              </a:rPr>
              <a:t>The two population sources — 2010 census and 2022 satellite estimate — are not comparable term by term; their gap measures method as much as demography.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94A3B8"/>
                </a:solidFill>
                <a:latin typeface="Calibri"/>
              </a:rPr>
              <a:t>Access to drinking water in Togo · page 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